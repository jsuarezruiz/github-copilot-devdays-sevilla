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media/image1.jpeg" ContentType="image/jpeg"/>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0141F"/>
        </a:solidFill>
        <a:effectLst/>
        <a:uFillTx/>
        <a:latin typeface="+mj-lt"/>
        <a:ea typeface="+mj-ea"/>
        <a:cs typeface="+mj-cs"/>
        <a:sym typeface="IBM Plex Sans"/>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0141F"/>
        </a:solidFill>
        <a:effectLst/>
        <a:uFillTx/>
        <a:latin typeface="+mj-lt"/>
        <a:ea typeface="+mj-ea"/>
        <a:cs typeface="+mj-cs"/>
        <a:sym typeface="IBM Plex Sans"/>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0141F"/>
        </a:solidFill>
        <a:effectLst/>
        <a:uFillTx/>
        <a:latin typeface="+mj-lt"/>
        <a:ea typeface="+mj-ea"/>
        <a:cs typeface="+mj-cs"/>
        <a:sym typeface="IBM Plex Sans"/>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0141F"/>
        </a:solidFill>
        <a:effectLst/>
        <a:uFillTx/>
        <a:latin typeface="+mj-lt"/>
        <a:ea typeface="+mj-ea"/>
        <a:cs typeface="+mj-cs"/>
        <a:sym typeface="IBM Plex Sans"/>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0141F"/>
        </a:solidFill>
        <a:effectLst/>
        <a:uFillTx/>
        <a:latin typeface="+mj-lt"/>
        <a:ea typeface="+mj-ea"/>
        <a:cs typeface="+mj-cs"/>
        <a:sym typeface="IBM Plex Sans"/>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0141F"/>
        </a:solidFill>
        <a:effectLst/>
        <a:uFillTx/>
        <a:latin typeface="+mj-lt"/>
        <a:ea typeface="+mj-ea"/>
        <a:cs typeface="+mj-cs"/>
        <a:sym typeface="IBM Plex Sans"/>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0141F"/>
        </a:solidFill>
        <a:effectLst/>
        <a:uFillTx/>
        <a:latin typeface="+mj-lt"/>
        <a:ea typeface="+mj-ea"/>
        <a:cs typeface="+mj-cs"/>
        <a:sym typeface="IBM Plex Sans"/>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0141F"/>
        </a:solidFill>
        <a:effectLst/>
        <a:uFillTx/>
        <a:latin typeface="+mj-lt"/>
        <a:ea typeface="+mj-ea"/>
        <a:cs typeface="+mj-cs"/>
        <a:sym typeface="IBM Plex Sans"/>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0141F"/>
        </a:solidFill>
        <a:effectLst/>
        <a:uFillTx/>
        <a:latin typeface="+mj-lt"/>
        <a:ea typeface="+mj-ea"/>
        <a:cs typeface="+mj-cs"/>
        <a:sym typeface="IBM Plex San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10141F"/>
        </a:fontRef>
        <a:srgbClr val="10141F"/>
      </a:tcTxStyle>
      <a:tcStyle>
        <a:tcBdr>
          <a:left>
            <a:ln w="12700" cap="flat">
              <a:solidFill>
                <a:srgbClr val="EEF0F4"/>
              </a:solidFill>
              <a:prstDash val="solid"/>
              <a:round/>
            </a:ln>
          </a:left>
          <a:right>
            <a:ln w="12700" cap="flat">
              <a:solidFill>
                <a:srgbClr val="EEF0F4"/>
              </a:solidFill>
              <a:prstDash val="solid"/>
              <a:round/>
            </a:ln>
          </a:right>
          <a:top>
            <a:ln w="12700" cap="flat">
              <a:solidFill>
                <a:srgbClr val="EEF0F4"/>
              </a:solidFill>
              <a:prstDash val="solid"/>
              <a:round/>
            </a:ln>
          </a:top>
          <a:bottom>
            <a:ln w="12700" cap="flat">
              <a:solidFill>
                <a:srgbClr val="EEF0F4"/>
              </a:solidFill>
              <a:prstDash val="solid"/>
              <a:round/>
            </a:ln>
          </a:bottom>
          <a:insideH>
            <a:ln w="12700" cap="flat">
              <a:solidFill>
                <a:srgbClr val="EEF0F4"/>
              </a:solidFill>
              <a:prstDash val="solid"/>
              <a:round/>
            </a:ln>
          </a:insideH>
          <a:insideV>
            <a:ln w="12700" cap="flat">
              <a:solidFill>
                <a:srgbClr val="EEF0F4"/>
              </a:solidFill>
              <a:prstDash val="solid"/>
              <a:round/>
            </a:ln>
          </a:insideV>
        </a:tcBdr>
        <a:fill>
          <a:solidFill>
            <a:srgbClr val="FAE6CE"/>
          </a:solidFill>
        </a:fill>
      </a:tcStyle>
    </a:wholeTbl>
    <a:band2H>
      <a:tcTxStyle b="def" i="def"/>
      <a:tcStyle>
        <a:tcBdr/>
        <a:fill>
          <a:solidFill>
            <a:srgbClr val="FCF3E8"/>
          </a:solidFill>
        </a:fill>
      </a:tcStyle>
    </a:band2H>
    <a:firstCol>
      <a:tcTxStyle b="on" i="off">
        <a:fontRef idx="major">
          <a:srgbClr val="EEF0F4"/>
        </a:fontRef>
        <a:srgbClr val="EEF0F4"/>
      </a:tcTxStyle>
      <a:tcStyle>
        <a:tcBdr>
          <a:left>
            <a:ln w="12700" cap="flat">
              <a:solidFill>
                <a:srgbClr val="EEF0F4"/>
              </a:solidFill>
              <a:prstDash val="solid"/>
              <a:round/>
            </a:ln>
          </a:left>
          <a:right>
            <a:ln w="12700" cap="flat">
              <a:solidFill>
                <a:srgbClr val="EEF0F4"/>
              </a:solidFill>
              <a:prstDash val="solid"/>
              <a:round/>
            </a:ln>
          </a:right>
          <a:top>
            <a:ln w="12700" cap="flat">
              <a:solidFill>
                <a:srgbClr val="EEF0F4"/>
              </a:solidFill>
              <a:prstDash val="solid"/>
              <a:round/>
            </a:ln>
          </a:top>
          <a:bottom>
            <a:ln w="12700" cap="flat">
              <a:solidFill>
                <a:srgbClr val="EEF0F4"/>
              </a:solidFill>
              <a:prstDash val="solid"/>
              <a:round/>
            </a:ln>
          </a:bottom>
          <a:insideH>
            <a:ln w="12700" cap="flat">
              <a:solidFill>
                <a:srgbClr val="EEF0F4"/>
              </a:solidFill>
              <a:prstDash val="solid"/>
              <a:round/>
            </a:ln>
          </a:insideH>
          <a:insideV>
            <a:ln w="12700" cap="flat">
              <a:solidFill>
                <a:srgbClr val="EEF0F4"/>
              </a:solidFill>
              <a:prstDash val="solid"/>
              <a:round/>
            </a:ln>
          </a:insideV>
        </a:tcBdr>
        <a:fill>
          <a:solidFill>
            <a:schemeClr val="accent1"/>
          </a:solidFill>
        </a:fill>
      </a:tcStyle>
    </a:firstCol>
    <a:lastRow>
      <a:tcTxStyle b="on" i="off">
        <a:fontRef idx="major">
          <a:srgbClr val="EEF0F4"/>
        </a:fontRef>
        <a:srgbClr val="EEF0F4"/>
      </a:tcTxStyle>
      <a:tcStyle>
        <a:tcBdr>
          <a:left>
            <a:ln w="12700" cap="flat">
              <a:solidFill>
                <a:srgbClr val="EEF0F4"/>
              </a:solidFill>
              <a:prstDash val="solid"/>
              <a:round/>
            </a:ln>
          </a:left>
          <a:right>
            <a:ln w="12700" cap="flat">
              <a:solidFill>
                <a:srgbClr val="EEF0F4"/>
              </a:solidFill>
              <a:prstDash val="solid"/>
              <a:round/>
            </a:ln>
          </a:right>
          <a:top>
            <a:ln w="38100" cap="flat">
              <a:solidFill>
                <a:srgbClr val="EEF0F4"/>
              </a:solidFill>
              <a:prstDash val="solid"/>
              <a:round/>
            </a:ln>
          </a:top>
          <a:bottom>
            <a:ln w="12700" cap="flat">
              <a:solidFill>
                <a:srgbClr val="EEF0F4"/>
              </a:solidFill>
              <a:prstDash val="solid"/>
              <a:round/>
            </a:ln>
          </a:bottom>
          <a:insideH>
            <a:ln w="12700" cap="flat">
              <a:solidFill>
                <a:srgbClr val="EEF0F4"/>
              </a:solidFill>
              <a:prstDash val="solid"/>
              <a:round/>
            </a:ln>
          </a:insideH>
          <a:insideV>
            <a:ln w="12700" cap="flat">
              <a:solidFill>
                <a:srgbClr val="EEF0F4"/>
              </a:solidFill>
              <a:prstDash val="solid"/>
              <a:round/>
            </a:ln>
          </a:insideV>
        </a:tcBdr>
        <a:fill>
          <a:solidFill>
            <a:schemeClr val="accent1"/>
          </a:solidFill>
        </a:fill>
      </a:tcStyle>
    </a:lastRow>
    <a:firstRow>
      <a:tcTxStyle b="on" i="off">
        <a:fontRef idx="major">
          <a:srgbClr val="EEF0F4"/>
        </a:fontRef>
        <a:srgbClr val="EEF0F4"/>
      </a:tcTxStyle>
      <a:tcStyle>
        <a:tcBdr>
          <a:left>
            <a:ln w="12700" cap="flat">
              <a:solidFill>
                <a:srgbClr val="EEF0F4"/>
              </a:solidFill>
              <a:prstDash val="solid"/>
              <a:round/>
            </a:ln>
          </a:left>
          <a:right>
            <a:ln w="12700" cap="flat">
              <a:solidFill>
                <a:srgbClr val="EEF0F4"/>
              </a:solidFill>
              <a:prstDash val="solid"/>
              <a:round/>
            </a:ln>
          </a:right>
          <a:top>
            <a:ln w="12700" cap="flat">
              <a:solidFill>
                <a:srgbClr val="EEF0F4"/>
              </a:solidFill>
              <a:prstDash val="solid"/>
              <a:round/>
            </a:ln>
          </a:top>
          <a:bottom>
            <a:ln w="38100" cap="flat">
              <a:solidFill>
                <a:srgbClr val="EEF0F4"/>
              </a:solidFill>
              <a:prstDash val="solid"/>
              <a:round/>
            </a:ln>
          </a:bottom>
          <a:insideH>
            <a:ln w="12700" cap="flat">
              <a:solidFill>
                <a:srgbClr val="EEF0F4"/>
              </a:solidFill>
              <a:prstDash val="solid"/>
              <a:round/>
            </a:ln>
          </a:insideH>
          <a:insideV>
            <a:ln w="12700" cap="flat">
              <a:solidFill>
                <a:srgbClr val="EEF0F4"/>
              </a:solidFill>
              <a:prstDash val="solid"/>
              <a:round/>
            </a:ln>
          </a:insideV>
        </a:tcBdr>
        <a:fill>
          <a:solidFill>
            <a:schemeClr val="accent1"/>
          </a:solidFill>
        </a:fill>
      </a:tcStyle>
    </a:firstRow>
  </a:tblStyle>
  <a:tblStyle styleId="{C7B018BB-80A7-4F77-B60F-C8B233D01FF8}" styleName="">
    <a:tblBg/>
    <a:wholeTbl>
      <a:tcTxStyle b="off" i="off">
        <a:fontRef idx="major">
          <a:srgbClr val="10141F"/>
        </a:fontRef>
        <a:srgbClr val="10141F"/>
      </a:tcTxStyle>
      <a:tcStyle>
        <a:tcBdr>
          <a:left>
            <a:ln w="12700" cap="flat">
              <a:solidFill>
                <a:srgbClr val="EEF0F4"/>
              </a:solidFill>
              <a:prstDash val="solid"/>
              <a:round/>
            </a:ln>
          </a:left>
          <a:right>
            <a:ln w="12700" cap="flat">
              <a:solidFill>
                <a:srgbClr val="EEF0F4"/>
              </a:solidFill>
              <a:prstDash val="solid"/>
              <a:round/>
            </a:ln>
          </a:right>
          <a:top>
            <a:ln w="12700" cap="flat">
              <a:solidFill>
                <a:srgbClr val="EEF0F4"/>
              </a:solidFill>
              <a:prstDash val="solid"/>
              <a:round/>
            </a:ln>
          </a:top>
          <a:bottom>
            <a:ln w="12700" cap="flat">
              <a:solidFill>
                <a:srgbClr val="EEF0F4"/>
              </a:solidFill>
              <a:prstDash val="solid"/>
              <a:round/>
            </a:ln>
          </a:bottom>
          <a:insideH>
            <a:ln w="12700" cap="flat">
              <a:solidFill>
                <a:srgbClr val="EEF0F4"/>
              </a:solidFill>
              <a:prstDash val="solid"/>
              <a:round/>
            </a:ln>
          </a:insideH>
          <a:insideV>
            <a:ln w="12700" cap="flat">
              <a:solidFill>
                <a:srgbClr val="EEF0F4"/>
              </a:solidFill>
              <a:prstDash val="solid"/>
              <a:round/>
            </a:ln>
          </a:insideV>
        </a:tcBdr>
        <a:fill>
          <a:solidFill>
            <a:srgbClr val="F2F0FF"/>
          </a:solidFill>
        </a:fill>
      </a:tcStyle>
    </a:wholeTbl>
    <a:band2H>
      <a:tcTxStyle b="def" i="def"/>
      <a:tcStyle>
        <a:tcBdr/>
        <a:fill>
          <a:solidFill>
            <a:srgbClr val="F8F7FF"/>
          </a:solidFill>
        </a:fill>
      </a:tcStyle>
    </a:band2H>
    <a:firstCol>
      <a:tcTxStyle b="on" i="off">
        <a:fontRef idx="major">
          <a:srgbClr val="EEF0F4"/>
        </a:fontRef>
        <a:srgbClr val="EEF0F4"/>
      </a:tcTxStyle>
      <a:tcStyle>
        <a:tcBdr>
          <a:left>
            <a:ln w="12700" cap="flat">
              <a:solidFill>
                <a:srgbClr val="EEF0F4"/>
              </a:solidFill>
              <a:prstDash val="solid"/>
              <a:round/>
            </a:ln>
          </a:left>
          <a:right>
            <a:ln w="12700" cap="flat">
              <a:solidFill>
                <a:srgbClr val="EEF0F4"/>
              </a:solidFill>
              <a:prstDash val="solid"/>
              <a:round/>
            </a:ln>
          </a:right>
          <a:top>
            <a:ln w="12700" cap="flat">
              <a:solidFill>
                <a:srgbClr val="EEF0F4"/>
              </a:solidFill>
              <a:prstDash val="solid"/>
              <a:round/>
            </a:ln>
          </a:top>
          <a:bottom>
            <a:ln w="12700" cap="flat">
              <a:solidFill>
                <a:srgbClr val="EEF0F4"/>
              </a:solidFill>
              <a:prstDash val="solid"/>
              <a:round/>
            </a:ln>
          </a:bottom>
          <a:insideH>
            <a:ln w="12700" cap="flat">
              <a:solidFill>
                <a:srgbClr val="EEF0F4"/>
              </a:solidFill>
              <a:prstDash val="solid"/>
              <a:round/>
            </a:ln>
          </a:insideH>
          <a:insideV>
            <a:ln w="12700" cap="flat">
              <a:solidFill>
                <a:srgbClr val="EEF0F4"/>
              </a:solidFill>
              <a:prstDash val="solid"/>
              <a:round/>
            </a:ln>
          </a:insideV>
        </a:tcBdr>
        <a:fill>
          <a:solidFill>
            <a:schemeClr val="accent3"/>
          </a:solidFill>
        </a:fill>
      </a:tcStyle>
    </a:firstCol>
    <a:lastRow>
      <a:tcTxStyle b="on" i="off">
        <a:fontRef idx="major">
          <a:srgbClr val="EEF0F4"/>
        </a:fontRef>
        <a:srgbClr val="EEF0F4"/>
      </a:tcTxStyle>
      <a:tcStyle>
        <a:tcBdr>
          <a:left>
            <a:ln w="12700" cap="flat">
              <a:solidFill>
                <a:srgbClr val="EEF0F4"/>
              </a:solidFill>
              <a:prstDash val="solid"/>
              <a:round/>
            </a:ln>
          </a:left>
          <a:right>
            <a:ln w="12700" cap="flat">
              <a:solidFill>
                <a:srgbClr val="EEF0F4"/>
              </a:solidFill>
              <a:prstDash val="solid"/>
              <a:round/>
            </a:ln>
          </a:right>
          <a:top>
            <a:ln w="38100" cap="flat">
              <a:solidFill>
                <a:srgbClr val="EEF0F4"/>
              </a:solidFill>
              <a:prstDash val="solid"/>
              <a:round/>
            </a:ln>
          </a:top>
          <a:bottom>
            <a:ln w="12700" cap="flat">
              <a:solidFill>
                <a:srgbClr val="EEF0F4"/>
              </a:solidFill>
              <a:prstDash val="solid"/>
              <a:round/>
            </a:ln>
          </a:bottom>
          <a:insideH>
            <a:ln w="12700" cap="flat">
              <a:solidFill>
                <a:srgbClr val="EEF0F4"/>
              </a:solidFill>
              <a:prstDash val="solid"/>
              <a:round/>
            </a:ln>
          </a:insideH>
          <a:insideV>
            <a:ln w="12700" cap="flat">
              <a:solidFill>
                <a:srgbClr val="EEF0F4"/>
              </a:solidFill>
              <a:prstDash val="solid"/>
              <a:round/>
            </a:ln>
          </a:insideV>
        </a:tcBdr>
        <a:fill>
          <a:solidFill>
            <a:schemeClr val="accent3"/>
          </a:solidFill>
        </a:fill>
      </a:tcStyle>
    </a:lastRow>
    <a:firstRow>
      <a:tcTxStyle b="on" i="off">
        <a:fontRef idx="major">
          <a:srgbClr val="EEF0F4"/>
        </a:fontRef>
        <a:srgbClr val="EEF0F4"/>
      </a:tcTxStyle>
      <a:tcStyle>
        <a:tcBdr>
          <a:left>
            <a:ln w="12700" cap="flat">
              <a:solidFill>
                <a:srgbClr val="EEF0F4"/>
              </a:solidFill>
              <a:prstDash val="solid"/>
              <a:round/>
            </a:ln>
          </a:left>
          <a:right>
            <a:ln w="12700" cap="flat">
              <a:solidFill>
                <a:srgbClr val="EEF0F4"/>
              </a:solidFill>
              <a:prstDash val="solid"/>
              <a:round/>
            </a:ln>
          </a:right>
          <a:top>
            <a:ln w="12700" cap="flat">
              <a:solidFill>
                <a:srgbClr val="EEF0F4"/>
              </a:solidFill>
              <a:prstDash val="solid"/>
              <a:round/>
            </a:ln>
          </a:top>
          <a:bottom>
            <a:ln w="38100" cap="flat">
              <a:solidFill>
                <a:srgbClr val="EEF0F4"/>
              </a:solidFill>
              <a:prstDash val="solid"/>
              <a:round/>
            </a:ln>
          </a:bottom>
          <a:insideH>
            <a:ln w="12700" cap="flat">
              <a:solidFill>
                <a:srgbClr val="EEF0F4"/>
              </a:solidFill>
              <a:prstDash val="solid"/>
              <a:round/>
            </a:ln>
          </a:insideH>
          <a:insideV>
            <a:ln w="12700" cap="flat">
              <a:solidFill>
                <a:srgbClr val="EEF0F4"/>
              </a:solidFill>
              <a:prstDash val="solid"/>
              <a:round/>
            </a:ln>
          </a:insideV>
        </a:tcBdr>
        <a:fill>
          <a:solidFill>
            <a:schemeClr val="accent3"/>
          </a:solidFill>
        </a:fill>
      </a:tcStyle>
    </a:firstRow>
  </a:tblStyle>
  <a:tblStyle styleId="{EEE7283C-3CF3-47DC-8721-378D4A62B228}" styleName="">
    <a:tblBg/>
    <a:wholeTbl>
      <a:tcTxStyle b="off" i="off">
        <a:fontRef idx="major">
          <a:srgbClr val="10141F"/>
        </a:fontRef>
        <a:srgbClr val="10141F"/>
      </a:tcTxStyle>
      <a:tcStyle>
        <a:tcBdr>
          <a:left>
            <a:ln w="12700" cap="flat">
              <a:solidFill>
                <a:srgbClr val="EEF0F4"/>
              </a:solidFill>
              <a:prstDash val="solid"/>
              <a:round/>
            </a:ln>
          </a:left>
          <a:right>
            <a:ln w="12700" cap="flat">
              <a:solidFill>
                <a:srgbClr val="EEF0F4"/>
              </a:solidFill>
              <a:prstDash val="solid"/>
              <a:round/>
            </a:ln>
          </a:right>
          <a:top>
            <a:ln w="12700" cap="flat">
              <a:solidFill>
                <a:srgbClr val="EEF0F4"/>
              </a:solidFill>
              <a:prstDash val="solid"/>
              <a:round/>
            </a:ln>
          </a:top>
          <a:bottom>
            <a:ln w="12700" cap="flat">
              <a:solidFill>
                <a:srgbClr val="EEF0F4"/>
              </a:solidFill>
              <a:prstDash val="solid"/>
              <a:round/>
            </a:ln>
          </a:bottom>
          <a:insideH>
            <a:ln w="12700" cap="flat">
              <a:solidFill>
                <a:srgbClr val="EEF0F4"/>
              </a:solidFill>
              <a:prstDash val="solid"/>
              <a:round/>
            </a:ln>
          </a:insideH>
          <a:insideV>
            <a:ln w="12700" cap="flat">
              <a:solidFill>
                <a:srgbClr val="EEF0F4"/>
              </a:solidFill>
              <a:prstDash val="solid"/>
              <a:round/>
            </a:ln>
          </a:insideV>
        </a:tcBdr>
        <a:fill>
          <a:solidFill>
            <a:srgbClr val="D7DAE0"/>
          </a:solidFill>
        </a:fill>
      </a:tcStyle>
    </a:wholeTbl>
    <a:band2H>
      <a:tcTxStyle b="def" i="def"/>
      <a:tcStyle>
        <a:tcBdr/>
        <a:fill>
          <a:solidFill>
            <a:srgbClr val="ECEDF0"/>
          </a:solidFill>
        </a:fill>
      </a:tcStyle>
    </a:band2H>
    <a:firstCol>
      <a:tcTxStyle b="on" i="off">
        <a:fontRef idx="major">
          <a:srgbClr val="EEF0F4"/>
        </a:fontRef>
        <a:srgbClr val="EEF0F4"/>
      </a:tcTxStyle>
      <a:tcStyle>
        <a:tcBdr>
          <a:left>
            <a:ln w="12700" cap="flat">
              <a:solidFill>
                <a:srgbClr val="EEF0F4"/>
              </a:solidFill>
              <a:prstDash val="solid"/>
              <a:round/>
            </a:ln>
          </a:left>
          <a:right>
            <a:ln w="12700" cap="flat">
              <a:solidFill>
                <a:srgbClr val="EEF0F4"/>
              </a:solidFill>
              <a:prstDash val="solid"/>
              <a:round/>
            </a:ln>
          </a:right>
          <a:top>
            <a:ln w="12700" cap="flat">
              <a:solidFill>
                <a:srgbClr val="EEF0F4"/>
              </a:solidFill>
              <a:prstDash val="solid"/>
              <a:round/>
            </a:ln>
          </a:top>
          <a:bottom>
            <a:ln w="12700" cap="flat">
              <a:solidFill>
                <a:srgbClr val="EEF0F4"/>
              </a:solidFill>
              <a:prstDash val="solid"/>
              <a:round/>
            </a:ln>
          </a:bottom>
          <a:insideH>
            <a:ln w="12700" cap="flat">
              <a:solidFill>
                <a:srgbClr val="EEF0F4"/>
              </a:solidFill>
              <a:prstDash val="solid"/>
              <a:round/>
            </a:ln>
          </a:insideH>
          <a:insideV>
            <a:ln w="12700" cap="flat">
              <a:solidFill>
                <a:srgbClr val="EEF0F4"/>
              </a:solidFill>
              <a:prstDash val="solid"/>
              <a:round/>
            </a:ln>
          </a:insideV>
        </a:tcBdr>
        <a:fill>
          <a:solidFill>
            <a:schemeClr val="accent6"/>
          </a:solidFill>
        </a:fill>
      </a:tcStyle>
    </a:firstCol>
    <a:lastRow>
      <a:tcTxStyle b="on" i="off">
        <a:fontRef idx="major">
          <a:srgbClr val="EEF0F4"/>
        </a:fontRef>
        <a:srgbClr val="EEF0F4"/>
      </a:tcTxStyle>
      <a:tcStyle>
        <a:tcBdr>
          <a:left>
            <a:ln w="12700" cap="flat">
              <a:solidFill>
                <a:srgbClr val="EEF0F4"/>
              </a:solidFill>
              <a:prstDash val="solid"/>
              <a:round/>
            </a:ln>
          </a:left>
          <a:right>
            <a:ln w="12700" cap="flat">
              <a:solidFill>
                <a:srgbClr val="EEF0F4"/>
              </a:solidFill>
              <a:prstDash val="solid"/>
              <a:round/>
            </a:ln>
          </a:right>
          <a:top>
            <a:ln w="38100" cap="flat">
              <a:solidFill>
                <a:srgbClr val="EEF0F4"/>
              </a:solidFill>
              <a:prstDash val="solid"/>
              <a:round/>
            </a:ln>
          </a:top>
          <a:bottom>
            <a:ln w="12700" cap="flat">
              <a:solidFill>
                <a:srgbClr val="EEF0F4"/>
              </a:solidFill>
              <a:prstDash val="solid"/>
              <a:round/>
            </a:ln>
          </a:bottom>
          <a:insideH>
            <a:ln w="12700" cap="flat">
              <a:solidFill>
                <a:srgbClr val="EEF0F4"/>
              </a:solidFill>
              <a:prstDash val="solid"/>
              <a:round/>
            </a:ln>
          </a:insideH>
          <a:insideV>
            <a:ln w="12700" cap="flat">
              <a:solidFill>
                <a:srgbClr val="EEF0F4"/>
              </a:solidFill>
              <a:prstDash val="solid"/>
              <a:round/>
            </a:ln>
          </a:insideV>
        </a:tcBdr>
        <a:fill>
          <a:solidFill>
            <a:schemeClr val="accent6"/>
          </a:solidFill>
        </a:fill>
      </a:tcStyle>
    </a:lastRow>
    <a:firstRow>
      <a:tcTxStyle b="on" i="off">
        <a:fontRef idx="major">
          <a:srgbClr val="EEF0F4"/>
        </a:fontRef>
        <a:srgbClr val="EEF0F4"/>
      </a:tcTxStyle>
      <a:tcStyle>
        <a:tcBdr>
          <a:left>
            <a:ln w="12700" cap="flat">
              <a:solidFill>
                <a:srgbClr val="EEF0F4"/>
              </a:solidFill>
              <a:prstDash val="solid"/>
              <a:round/>
            </a:ln>
          </a:left>
          <a:right>
            <a:ln w="12700" cap="flat">
              <a:solidFill>
                <a:srgbClr val="EEF0F4"/>
              </a:solidFill>
              <a:prstDash val="solid"/>
              <a:round/>
            </a:ln>
          </a:right>
          <a:top>
            <a:ln w="12700" cap="flat">
              <a:solidFill>
                <a:srgbClr val="EEF0F4"/>
              </a:solidFill>
              <a:prstDash val="solid"/>
              <a:round/>
            </a:ln>
          </a:top>
          <a:bottom>
            <a:ln w="38100" cap="flat">
              <a:solidFill>
                <a:srgbClr val="EEF0F4"/>
              </a:solidFill>
              <a:prstDash val="solid"/>
              <a:round/>
            </a:ln>
          </a:bottom>
          <a:insideH>
            <a:ln w="12700" cap="flat">
              <a:solidFill>
                <a:srgbClr val="EEF0F4"/>
              </a:solidFill>
              <a:prstDash val="solid"/>
              <a:round/>
            </a:ln>
          </a:insideH>
          <a:insideV>
            <a:ln w="12700" cap="flat">
              <a:solidFill>
                <a:srgbClr val="EEF0F4"/>
              </a:solidFill>
              <a:prstDash val="solid"/>
              <a:round/>
            </a:ln>
          </a:insideV>
        </a:tcBdr>
        <a:fill>
          <a:solidFill>
            <a:schemeClr val="accent6"/>
          </a:solidFill>
        </a:fill>
      </a:tcStyle>
    </a:firstRow>
  </a:tblStyle>
  <a:tblStyle styleId="{CF821DB8-F4EB-4A41-A1BA-3FCAFE7338EE}" styleName="">
    <a:tblBg/>
    <a:wholeTbl>
      <a:tcTxStyle b="off" i="off">
        <a:fontRef idx="major">
          <a:srgbClr val="10141F"/>
        </a:fontRef>
        <a:srgbClr val="10141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7E7"/>
          </a:solidFill>
        </a:fill>
      </a:tcStyle>
    </a:wholeTbl>
    <a:band2H>
      <a:tcTxStyle b="def" i="def"/>
      <a:tcStyle>
        <a:tcBdr/>
        <a:fill>
          <a:solidFill>
            <a:srgbClr val="EEF0F4"/>
          </a:solidFill>
        </a:fill>
      </a:tcStyle>
    </a:band2H>
    <a:firstCol>
      <a:tcTxStyle b="on" i="off">
        <a:fontRef idx="major">
          <a:srgbClr val="EEF0F4"/>
        </a:fontRef>
        <a:srgbClr val="EEF0F4"/>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10141F"/>
        </a:fontRef>
        <a:srgbClr val="10141F"/>
      </a:tcTxStyle>
      <a:tcStyle>
        <a:tcBdr>
          <a:left>
            <a:ln w="12700" cap="flat">
              <a:noFill/>
              <a:miter lim="400000"/>
            </a:ln>
          </a:left>
          <a:right>
            <a:ln w="12700" cap="flat">
              <a:noFill/>
              <a:miter lim="400000"/>
            </a:ln>
          </a:right>
          <a:top>
            <a:ln w="50800" cap="flat">
              <a:solidFill>
                <a:srgbClr val="10141F"/>
              </a:solidFill>
              <a:prstDash val="solid"/>
              <a:round/>
            </a:ln>
          </a:top>
          <a:bottom>
            <a:ln w="25400" cap="flat">
              <a:solidFill>
                <a:srgbClr val="10141F"/>
              </a:solidFill>
              <a:prstDash val="solid"/>
              <a:round/>
            </a:ln>
          </a:bottom>
          <a:insideH>
            <a:ln w="12700" cap="flat">
              <a:noFill/>
              <a:miter lim="400000"/>
            </a:ln>
          </a:insideH>
          <a:insideV>
            <a:ln w="12700" cap="flat">
              <a:noFill/>
              <a:miter lim="400000"/>
            </a:ln>
          </a:insideV>
        </a:tcBdr>
        <a:fill>
          <a:solidFill>
            <a:srgbClr val="EEF0F4"/>
          </a:solidFill>
        </a:fill>
      </a:tcStyle>
    </a:lastRow>
    <a:firstRow>
      <a:tcTxStyle b="on" i="off">
        <a:fontRef idx="major">
          <a:srgbClr val="EEF0F4"/>
        </a:fontRef>
        <a:srgbClr val="EEF0F4"/>
      </a:tcTxStyle>
      <a:tcStyle>
        <a:tcBdr>
          <a:left>
            <a:ln w="12700" cap="flat">
              <a:noFill/>
              <a:miter lim="400000"/>
            </a:ln>
          </a:left>
          <a:right>
            <a:ln w="12700" cap="flat">
              <a:noFill/>
              <a:miter lim="400000"/>
            </a:ln>
          </a:right>
          <a:top>
            <a:ln w="25400" cap="flat">
              <a:solidFill>
                <a:srgbClr val="10141F"/>
              </a:solidFill>
              <a:prstDash val="solid"/>
              <a:round/>
            </a:ln>
          </a:top>
          <a:bottom>
            <a:ln w="25400" cap="flat">
              <a:solidFill>
                <a:srgbClr val="10141F"/>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10141F"/>
        </a:fontRef>
        <a:srgbClr val="10141F"/>
      </a:tcTxStyle>
      <a:tcStyle>
        <a:tcBdr>
          <a:left>
            <a:ln w="12700" cap="flat">
              <a:solidFill>
                <a:srgbClr val="EEF0F4"/>
              </a:solidFill>
              <a:prstDash val="solid"/>
              <a:round/>
            </a:ln>
          </a:left>
          <a:right>
            <a:ln w="12700" cap="flat">
              <a:solidFill>
                <a:srgbClr val="EEF0F4"/>
              </a:solidFill>
              <a:prstDash val="solid"/>
              <a:round/>
            </a:ln>
          </a:right>
          <a:top>
            <a:ln w="12700" cap="flat">
              <a:solidFill>
                <a:srgbClr val="EEF0F4"/>
              </a:solidFill>
              <a:prstDash val="solid"/>
              <a:round/>
            </a:ln>
          </a:top>
          <a:bottom>
            <a:ln w="12700" cap="flat">
              <a:solidFill>
                <a:srgbClr val="EEF0F4"/>
              </a:solidFill>
              <a:prstDash val="solid"/>
              <a:round/>
            </a:ln>
          </a:bottom>
          <a:insideH>
            <a:ln w="12700" cap="flat">
              <a:solidFill>
                <a:srgbClr val="EEF0F4"/>
              </a:solidFill>
              <a:prstDash val="solid"/>
              <a:round/>
            </a:ln>
          </a:insideH>
          <a:insideV>
            <a:ln w="12700" cap="flat">
              <a:solidFill>
                <a:srgbClr val="EEF0F4"/>
              </a:solidFill>
              <a:prstDash val="solid"/>
              <a:round/>
            </a:ln>
          </a:insideV>
        </a:tcBdr>
        <a:fill>
          <a:solidFill>
            <a:srgbClr val="CACACB"/>
          </a:solidFill>
        </a:fill>
      </a:tcStyle>
    </a:wholeTbl>
    <a:band2H>
      <a:tcTxStyle b="def" i="def"/>
      <a:tcStyle>
        <a:tcBdr/>
        <a:fill>
          <a:solidFill>
            <a:srgbClr val="E6E7E7"/>
          </a:solidFill>
        </a:fill>
      </a:tcStyle>
    </a:band2H>
    <a:firstCol>
      <a:tcTxStyle b="on" i="off">
        <a:fontRef idx="major">
          <a:srgbClr val="EEF0F4"/>
        </a:fontRef>
        <a:srgbClr val="EEF0F4"/>
      </a:tcTxStyle>
      <a:tcStyle>
        <a:tcBdr>
          <a:left>
            <a:ln w="12700" cap="flat">
              <a:solidFill>
                <a:srgbClr val="EEF0F4"/>
              </a:solidFill>
              <a:prstDash val="solid"/>
              <a:round/>
            </a:ln>
          </a:left>
          <a:right>
            <a:ln w="12700" cap="flat">
              <a:solidFill>
                <a:srgbClr val="EEF0F4"/>
              </a:solidFill>
              <a:prstDash val="solid"/>
              <a:round/>
            </a:ln>
          </a:right>
          <a:top>
            <a:ln w="12700" cap="flat">
              <a:solidFill>
                <a:srgbClr val="EEF0F4"/>
              </a:solidFill>
              <a:prstDash val="solid"/>
              <a:round/>
            </a:ln>
          </a:top>
          <a:bottom>
            <a:ln w="12700" cap="flat">
              <a:solidFill>
                <a:srgbClr val="EEF0F4"/>
              </a:solidFill>
              <a:prstDash val="solid"/>
              <a:round/>
            </a:ln>
          </a:bottom>
          <a:insideH>
            <a:ln w="12700" cap="flat">
              <a:solidFill>
                <a:srgbClr val="EEF0F4"/>
              </a:solidFill>
              <a:prstDash val="solid"/>
              <a:round/>
            </a:ln>
          </a:insideH>
          <a:insideV>
            <a:ln w="12700" cap="flat">
              <a:solidFill>
                <a:srgbClr val="EEF0F4"/>
              </a:solidFill>
              <a:prstDash val="solid"/>
              <a:round/>
            </a:ln>
          </a:insideV>
        </a:tcBdr>
        <a:fill>
          <a:solidFill>
            <a:srgbClr val="10141F"/>
          </a:solidFill>
        </a:fill>
      </a:tcStyle>
    </a:firstCol>
    <a:lastRow>
      <a:tcTxStyle b="on" i="off">
        <a:fontRef idx="major">
          <a:srgbClr val="EEF0F4"/>
        </a:fontRef>
        <a:srgbClr val="EEF0F4"/>
      </a:tcTxStyle>
      <a:tcStyle>
        <a:tcBdr>
          <a:left>
            <a:ln w="12700" cap="flat">
              <a:solidFill>
                <a:srgbClr val="EEF0F4"/>
              </a:solidFill>
              <a:prstDash val="solid"/>
              <a:round/>
            </a:ln>
          </a:left>
          <a:right>
            <a:ln w="12700" cap="flat">
              <a:solidFill>
                <a:srgbClr val="EEF0F4"/>
              </a:solidFill>
              <a:prstDash val="solid"/>
              <a:round/>
            </a:ln>
          </a:right>
          <a:top>
            <a:ln w="38100" cap="flat">
              <a:solidFill>
                <a:srgbClr val="EEF0F4"/>
              </a:solidFill>
              <a:prstDash val="solid"/>
              <a:round/>
            </a:ln>
          </a:top>
          <a:bottom>
            <a:ln w="12700" cap="flat">
              <a:solidFill>
                <a:srgbClr val="EEF0F4"/>
              </a:solidFill>
              <a:prstDash val="solid"/>
              <a:round/>
            </a:ln>
          </a:bottom>
          <a:insideH>
            <a:ln w="12700" cap="flat">
              <a:solidFill>
                <a:srgbClr val="EEF0F4"/>
              </a:solidFill>
              <a:prstDash val="solid"/>
              <a:round/>
            </a:ln>
          </a:insideH>
          <a:insideV>
            <a:ln w="12700" cap="flat">
              <a:solidFill>
                <a:srgbClr val="EEF0F4"/>
              </a:solidFill>
              <a:prstDash val="solid"/>
              <a:round/>
            </a:ln>
          </a:insideV>
        </a:tcBdr>
        <a:fill>
          <a:solidFill>
            <a:srgbClr val="10141F"/>
          </a:solidFill>
        </a:fill>
      </a:tcStyle>
    </a:lastRow>
    <a:firstRow>
      <a:tcTxStyle b="on" i="off">
        <a:fontRef idx="major">
          <a:srgbClr val="EEF0F4"/>
        </a:fontRef>
        <a:srgbClr val="EEF0F4"/>
      </a:tcTxStyle>
      <a:tcStyle>
        <a:tcBdr>
          <a:left>
            <a:ln w="12700" cap="flat">
              <a:solidFill>
                <a:srgbClr val="EEF0F4"/>
              </a:solidFill>
              <a:prstDash val="solid"/>
              <a:round/>
            </a:ln>
          </a:left>
          <a:right>
            <a:ln w="12700" cap="flat">
              <a:solidFill>
                <a:srgbClr val="EEF0F4"/>
              </a:solidFill>
              <a:prstDash val="solid"/>
              <a:round/>
            </a:ln>
          </a:right>
          <a:top>
            <a:ln w="12700" cap="flat">
              <a:solidFill>
                <a:srgbClr val="EEF0F4"/>
              </a:solidFill>
              <a:prstDash val="solid"/>
              <a:round/>
            </a:ln>
          </a:top>
          <a:bottom>
            <a:ln w="38100" cap="flat">
              <a:solidFill>
                <a:srgbClr val="EEF0F4"/>
              </a:solidFill>
              <a:prstDash val="solid"/>
              <a:round/>
            </a:ln>
          </a:bottom>
          <a:insideH>
            <a:ln w="12700" cap="flat">
              <a:solidFill>
                <a:srgbClr val="EEF0F4"/>
              </a:solidFill>
              <a:prstDash val="solid"/>
              <a:round/>
            </a:ln>
          </a:insideH>
          <a:insideV>
            <a:ln w="12700" cap="flat">
              <a:solidFill>
                <a:srgbClr val="EEF0F4"/>
              </a:solidFill>
              <a:prstDash val="solid"/>
              <a:round/>
            </a:ln>
          </a:insideV>
        </a:tcBdr>
        <a:fill>
          <a:solidFill>
            <a:srgbClr val="10141F"/>
          </a:solidFill>
        </a:fill>
      </a:tcStyle>
    </a:firstRow>
  </a:tblStyle>
  <a:tblStyle styleId="{2708684C-4D16-4618-839F-0558EEFCDFE6}" styleName="">
    <a:tblBg/>
    <a:wholeTbl>
      <a:tcTxStyle b="off" i="off">
        <a:fontRef idx="major">
          <a:srgbClr val="EEF0F4"/>
        </a:fontRef>
        <a:srgbClr val="EEF0F4"/>
      </a:tcTxStyle>
      <a:tcStyle>
        <a:tcBdr>
          <a:left>
            <a:ln w="12700" cap="flat">
              <a:solidFill>
                <a:srgbClr val="EEF0F4"/>
              </a:solidFill>
              <a:prstDash val="solid"/>
              <a:round/>
            </a:ln>
          </a:left>
          <a:right>
            <a:ln w="12700" cap="flat">
              <a:solidFill>
                <a:srgbClr val="EEF0F4"/>
              </a:solidFill>
              <a:prstDash val="solid"/>
              <a:round/>
            </a:ln>
          </a:right>
          <a:top>
            <a:ln w="12700" cap="flat">
              <a:solidFill>
                <a:srgbClr val="EEF0F4"/>
              </a:solidFill>
              <a:prstDash val="solid"/>
              <a:round/>
            </a:ln>
          </a:top>
          <a:bottom>
            <a:ln w="12700" cap="flat">
              <a:solidFill>
                <a:srgbClr val="EEF0F4"/>
              </a:solidFill>
              <a:prstDash val="solid"/>
              <a:round/>
            </a:ln>
          </a:bottom>
          <a:insideH>
            <a:ln w="12700" cap="flat">
              <a:solidFill>
                <a:srgbClr val="EEF0F4"/>
              </a:solidFill>
              <a:prstDash val="solid"/>
              <a:round/>
            </a:ln>
          </a:insideH>
          <a:insideV>
            <a:ln w="12700" cap="flat">
              <a:solidFill>
                <a:srgbClr val="EEF0F4"/>
              </a:solidFill>
              <a:prstDash val="solid"/>
              <a:round/>
            </a:ln>
          </a:insideV>
        </a:tcBdr>
        <a:fill>
          <a:solidFill>
            <a:srgbClr val="EEF0F4">
              <a:alpha val="20000"/>
            </a:srgbClr>
          </a:solidFill>
        </a:fill>
      </a:tcStyle>
    </a:wholeTbl>
    <a:band2H>
      <a:tcTxStyle b="def" i="def"/>
      <a:tcStyle>
        <a:tcBdr/>
        <a:fill>
          <a:solidFill>
            <a:schemeClr val="accent3">
              <a:hueOff val="-14926829"/>
              <a:satOff val="-100000"/>
              <a:lumOff val="8039"/>
            </a:schemeClr>
          </a:solidFill>
        </a:fill>
      </a:tcStyle>
    </a:band2H>
    <a:firstCol>
      <a:tcTxStyle b="on" i="off">
        <a:fontRef idx="major">
          <a:srgbClr val="EEF0F4"/>
        </a:fontRef>
        <a:srgbClr val="EEF0F4"/>
      </a:tcTxStyle>
      <a:tcStyle>
        <a:tcBdr>
          <a:left>
            <a:ln w="12700" cap="flat">
              <a:solidFill>
                <a:srgbClr val="EEF0F4"/>
              </a:solidFill>
              <a:prstDash val="solid"/>
              <a:round/>
            </a:ln>
          </a:left>
          <a:right>
            <a:ln w="12700" cap="flat">
              <a:solidFill>
                <a:srgbClr val="EEF0F4"/>
              </a:solidFill>
              <a:prstDash val="solid"/>
              <a:round/>
            </a:ln>
          </a:right>
          <a:top>
            <a:ln w="12700" cap="flat">
              <a:solidFill>
                <a:srgbClr val="EEF0F4"/>
              </a:solidFill>
              <a:prstDash val="solid"/>
              <a:round/>
            </a:ln>
          </a:top>
          <a:bottom>
            <a:ln w="12700" cap="flat">
              <a:solidFill>
                <a:srgbClr val="EEF0F4"/>
              </a:solidFill>
              <a:prstDash val="solid"/>
              <a:round/>
            </a:ln>
          </a:bottom>
          <a:insideH>
            <a:ln w="12700" cap="flat">
              <a:solidFill>
                <a:srgbClr val="EEF0F4"/>
              </a:solidFill>
              <a:prstDash val="solid"/>
              <a:round/>
            </a:ln>
          </a:insideH>
          <a:insideV>
            <a:ln w="12700" cap="flat">
              <a:solidFill>
                <a:srgbClr val="EEF0F4"/>
              </a:solidFill>
              <a:prstDash val="solid"/>
              <a:round/>
            </a:ln>
          </a:insideV>
        </a:tcBdr>
        <a:fill>
          <a:solidFill>
            <a:srgbClr val="EEF0F4">
              <a:alpha val="20000"/>
            </a:srgbClr>
          </a:solidFill>
        </a:fill>
      </a:tcStyle>
    </a:firstCol>
    <a:lastRow>
      <a:tcTxStyle b="on" i="off">
        <a:fontRef idx="major">
          <a:srgbClr val="EEF0F4"/>
        </a:fontRef>
        <a:srgbClr val="EEF0F4"/>
      </a:tcTxStyle>
      <a:tcStyle>
        <a:tcBdr>
          <a:left>
            <a:ln w="12700" cap="flat">
              <a:solidFill>
                <a:srgbClr val="EEF0F4"/>
              </a:solidFill>
              <a:prstDash val="solid"/>
              <a:round/>
            </a:ln>
          </a:left>
          <a:right>
            <a:ln w="12700" cap="flat">
              <a:solidFill>
                <a:srgbClr val="EEF0F4"/>
              </a:solidFill>
              <a:prstDash val="solid"/>
              <a:round/>
            </a:ln>
          </a:right>
          <a:top>
            <a:ln w="50800" cap="flat">
              <a:solidFill>
                <a:srgbClr val="EEF0F4"/>
              </a:solidFill>
              <a:prstDash val="solid"/>
              <a:round/>
            </a:ln>
          </a:top>
          <a:bottom>
            <a:ln w="12700" cap="flat">
              <a:solidFill>
                <a:srgbClr val="EEF0F4"/>
              </a:solidFill>
              <a:prstDash val="solid"/>
              <a:round/>
            </a:ln>
          </a:bottom>
          <a:insideH>
            <a:ln w="12700" cap="flat">
              <a:solidFill>
                <a:srgbClr val="EEF0F4"/>
              </a:solidFill>
              <a:prstDash val="solid"/>
              <a:round/>
            </a:ln>
          </a:insideH>
          <a:insideV>
            <a:ln w="12700" cap="flat">
              <a:solidFill>
                <a:srgbClr val="EEF0F4"/>
              </a:solidFill>
              <a:prstDash val="solid"/>
              <a:round/>
            </a:ln>
          </a:insideV>
        </a:tcBdr>
        <a:fill>
          <a:noFill/>
        </a:fill>
      </a:tcStyle>
    </a:lastRow>
    <a:firstRow>
      <a:tcTxStyle b="on" i="off">
        <a:fontRef idx="major">
          <a:srgbClr val="EEF0F4"/>
        </a:fontRef>
        <a:srgbClr val="EEF0F4"/>
      </a:tcTxStyle>
      <a:tcStyle>
        <a:tcBdr>
          <a:left>
            <a:ln w="12700" cap="flat">
              <a:solidFill>
                <a:srgbClr val="EEF0F4"/>
              </a:solidFill>
              <a:prstDash val="solid"/>
              <a:round/>
            </a:ln>
          </a:left>
          <a:right>
            <a:ln w="12700" cap="flat">
              <a:solidFill>
                <a:srgbClr val="EEF0F4"/>
              </a:solidFill>
              <a:prstDash val="solid"/>
              <a:round/>
            </a:ln>
          </a:right>
          <a:top>
            <a:ln w="12700" cap="flat">
              <a:solidFill>
                <a:srgbClr val="EEF0F4"/>
              </a:solidFill>
              <a:prstDash val="solid"/>
              <a:round/>
            </a:ln>
          </a:top>
          <a:bottom>
            <a:ln w="25400" cap="flat">
              <a:solidFill>
                <a:srgbClr val="EEF0F4"/>
              </a:solidFill>
              <a:prstDash val="solid"/>
              <a:round/>
            </a:ln>
          </a:bottom>
          <a:insideH>
            <a:ln w="12700" cap="flat">
              <a:solidFill>
                <a:srgbClr val="EEF0F4"/>
              </a:solidFill>
              <a:prstDash val="solid"/>
              <a:round/>
            </a:ln>
          </a:insideH>
          <a:insideV>
            <a:ln w="12700" cap="flat">
              <a:solidFill>
                <a:srgbClr val="EEF0F4"/>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26" name="Shape 26"/>
          <p:cNvSpPr/>
          <p:nvPr>
            <p:ph type="sldImg"/>
          </p:nvPr>
        </p:nvSpPr>
        <p:spPr>
          <a:xfrm>
            <a:off x="1143000" y="685800"/>
            <a:ext cx="4572000" cy="3429000"/>
          </a:xfrm>
          <a:prstGeom prst="rect">
            <a:avLst/>
          </a:prstGeom>
        </p:spPr>
        <p:txBody>
          <a:bodyPr/>
          <a:lstStyle/>
          <a:p>
            <a:pPr/>
          </a:p>
        </p:txBody>
      </p:sp>
      <p:sp>
        <p:nvSpPr>
          <p:cNvPr id="27" name="Shape 2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solidFill>
          <a:srgbClr val="10141F"/>
        </a:solidFill>
        <a:latin typeface="+mj-lt"/>
        <a:ea typeface="+mj-ea"/>
        <a:cs typeface="+mj-cs"/>
        <a:sym typeface="IBM Plex Sans"/>
      </a:defRPr>
    </a:lvl1pPr>
    <a:lvl2pPr indent="228600" latinLnBrk="0">
      <a:defRPr sz="1200">
        <a:solidFill>
          <a:srgbClr val="10141F"/>
        </a:solidFill>
        <a:latin typeface="+mj-lt"/>
        <a:ea typeface="+mj-ea"/>
        <a:cs typeface="+mj-cs"/>
        <a:sym typeface="IBM Plex Sans"/>
      </a:defRPr>
    </a:lvl2pPr>
    <a:lvl3pPr indent="457200" latinLnBrk="0">
      <a:defRPr sz="1200">
        <a:solidFill>
          <a:srgbClr val="10141F"/>
        </a:solidFill>
        <a:latin typeface="+mj-lt"/>
        <a:ea typeface="+mj-ea"/>
        <a:cs typeface="+mj-cs"/>
        <a:sym typeface="IBM Plex Sans"/>
      </a:defRPr>
    </a:lvl3pPr>
    <a:lvl4pPr indent="685800" latinLnBrk="0">
      <a:defRPr sz="1200">
        <a:solidFill>
          <a:srgbClr val="10141F"/>
        </a:solidFill>
        <a:latin typeface="+mj-lt"/>
        <a:ea typeface="+mj-ea"/>
        <a:cs typeface="+mj-cs"/>
        <a:sym typeface="IBM Plex Sans"/>
      </a:defRPr>
    </a:lvl4pPr>
    <a:lvl5pPr indent="914400" latinLnBrk="0">
      <a:defRPr sz="1200">
        <a:solidFill>
          <a:srgbClr val="10141F"/>
        </a:solidFill>
        <a:latin typeface="+mj-lt"/>
        <a:ea typeface="+mj-ea"/>
        <a:cs typeface="+mj-cs"/>
        <a:sym typeface="IBM Plex Sans"/>
      </a:defRPr>
    </a:lvl5pPr>
    <a:lvl6pPr indent="1143000" latinLnBrk="0">
      <a:defRPr sz="1200">
        <a:solidFill>
          <a:srgbClr val="10141F"/>
        </a:solidFill>
        <a:latin typeface="+mj-lt"/>
        <a:ea typeface="+mj-ea"/>
        <a:cs typeface="+mj-cs"/>
        <a:sym typeface="IBM Plex Sans"/>
      </a:defRPr>
    </a:lvl6pPr>
    <a:lvl7pPr indent="1371600" latinLnBrk="0">
      <a:defRPr sz="1200">
        <a:solidFill>
          <a:srgbClr val="10141F"/>
        </a:solidFill>
        <a:latin typeface="+mj-lt"/>
        <a:ea typeface="+mj-ea"/>
        <a:cs typeface="+mj-cs"/>
        <a:sym typeface="IBM Plex Sans"/>
      </a:defRPr>
    </a:lvl7pPr>
    <a:lvl8pPr indent="1600200" latinLnBrk="0">
      <a:defRPr sz="1200">
        <a:solidFill>
          <a:srgbClr val="10141F"/>
        </a:solidFill>
        <a:latin typeface="+mj-lt"/>
        <a:ea typeface="+mj-ea"/>
        <a:cs typeface="+mj-cs"/>
        <a:sym typeface="IBM Plex Sans"/>
      </a:defRPr>
    </a:lvl8pPr>
    <a:lvl9pPr indent="1828800" latinLnBrk="0">
      <a:defRPr sz="1200">
        <a:solidFill>
          <a:srgbClr val="10141F"/>
        </a:solidFill>
        <a:latin typeface="+mj-lt"/>
        <a:ea typeface="+mj-ea"/>
        <a:cs typeface="+mj-cs"/>
        <a:sym typeface="IBM Plex Sans"/>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 name="Shape 36"/>
          <p:cNvSpPr/>
          <p:nvPr>
            <p:ph type="sldImg"/>
          </p:nvPr>
        </p:nvSpPr>
        <p:spPr>
          <a:prstGeom prst="rect">
            <a:avLst/>
          </a:prstGeom>
        </p:spPr>
        <p:txBody>
          <a:bodyPr/>
          <a:lstStyle/>
          <a:p>
            <a:pPr/>
          </a:p>
        </p:txBody>
      </p:sp>
      <p:sp>
        <p:nvSpPr>
          <p:cNvPr id="37" name="Shape 37"/>
          <p:cNvSpPr/>
          <p:nvPr>
            <p:ph type="body" sz="quarter" idx="1"/>
          </p:nvPr>
        </p:nvSpPr>
        <p:spPr>
          <a:prstGeom prst="rect">
            <a:avLst/>
          </a:prstGeom>
        </p:spPr>
        <p:txBody>
          <a:bodyPr/>
          <a:lstStyle/>
          <a:p>
            <a:pPr/>
            <a:r>
              <a:t>Bienvenida, 30 segundos. Presentación personal breve. Idea de la charla: la GitHub Copilot app se puede extender por nueve sitios distintos y vamos a recorrerlos todos, cada uno con una demo pequeña sobre el mismo repo. Los ejemplos usan una app Avalonia porque es lo que tengo a mano, pero nada de lo que veremos es específico de Avalonia: cambia el ejemplo por tu stack y todo aplica igual.</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 name="Shape 49"/>
          <p:cNvSpPr/>
          <p:nvPr>
            <p:ph type="sldImg"/>
          </p:nvPr>
        </p:nvSpPr>
        <p:spPr>
          <a:prstGeom prst="rect">
            <a:avLst/>
          </a:prstGeom>
        </p:spPr>
        <p:txBody>
          <a:bodyPr/>
          <a:lstStyle/>
          <a:p>
            <a:pPr/>
          </a:p>
        </p:txBody>
      </p:sp>
      <p:sp>
        <p:nvSpPr>
          <p:cNvPr id="50" name="Shape 50"/>
          <p:cNvSpPr/>
          <p:nvPr>
            <p:ph type="body" sz="quarter" idx="1"/>
          </p:nvPr>
        </p:nvSpPr>
        <p:spPr>
          <a:prstGeom prst="rect">
            <a:avLst/>
          </a:prstGeom>
        </p:spPr>
        <p:txBody>
          <a:bodyPr/>
          <a:lstStyle/>
          <a:p>
            <a:pPr/>
            <a:r>
              <a:t>Medio minuto, sin detenerse. Quién soy: trabajo en Avalonia UI, en el framework y en productos como Avalonia MAUI, Avalonia Charts y el sistema de navegación. El ejemplo que recorre la charla, copilot-avalonia, es un proyecto mío: por eso las demos usan una app Avalonia, pero todo lo que veremos aplica igual a cualquier stack.</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Shape 69"/>
          <p:cNvSpPr/>
          <p:nvPr>
            <p:ph type="sldImg"/>
          </p:nvPr>
        </p:nvSpPr>
        <p:spPr>
          <a:prstGeom prst="rect">
            <a:avLst/>
          </a:prstGeom>
        </p:spPr>
        <p:txBody>
          <a:bodyPr/>
          <a:lstStyle/>
          <a:p>
            <a:pPr/>
          </a:p>
        </p:txBody>
      </p:sp>
      <p:sp>
        <p:nvSpPr>
          <p:cNvPr id="70" name="Shape 70"/>
          <p:cNvSpPr/>
          <p:nvPr>
            <p:ph type="body" sz="quarter" idx="1"/>
          </p:nvPr>
        </p:nvSpPr>
        <p:spPr>
          <a:prstGeom prst="rect">
            <a:avLst/>
          </a:prstGeom>
        </p:spPr>
        <p:txBody>
          <a:bodyPr/>
          <a:lstStyle/>
          <a:p>
            <a:pPr/>
            <a:r>
              <a:t>Un minuto. El agente que trae la app es bueno, pero es el mismo para todo el mundo. Extender es cerrar tres huecos: lo que sabe de tu proyecto, lo que puede hacer fuera del repo y cómo lo controlas y trabajas con él. Debajo de cada tarjeta están las piezas que cubren ese hueco. Esta clasificación vuelve al final, en la tabla de qué usar en cada caso.</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0" name="Shape 80"/>
          <p:cNvSpPr/>
          <p:nvPr>
            <p:ph type="sldImg"/>
          </p:nvPr>
        </p:nvSpPr>
        <p:spPr>
          <a:prstGeom prst="rect">
            <a:avLst/>
          </a:prstGeom>
        </p:spPr>
        <p:txBody>
          <a:bodyPr/>
          <a:lstStyle/>
          <a:p>
            <a:pPr/>
          </a:p>
        </p:txBody>
      </p:sp>
      <p:sp>
        <p:nvSpPr>
          <p:cNvPr id="81" name="Shape 81"/>
          <p:cNvSpPr/>
          <p:nvPr>
            <p:ph type="body" sz="quarter" idx="1"/>
          </p:nvPr>
        </p:nvSpPr>
        <p:spPr>
          <a:prstGeom prst="rect">
            <a:avLst/>
          </a:prstGeom>
        </p:spPr>
        <p:txBody>
          <a:bodyPr/>
          <a:lstStyle/>
          <a:p>
            <a:pPr/>
            <a:r>
              <a:t>Un minuto y medio. Enseña la ruta y la regla de la charla: cada paso añade una sola pieza al mismo repo y la probamos en directo. Del 1 al 6 son ficheros de texto, el 7 y el 8 son JavaScript con el SDK y el 9 es el empaquetado. Es la chuleta de la charla: no la leas entera. Señala dos cosas. Primera: todo cuelga de .github o de la raíz del repo, así que se revisa en un pull request como cualquier otro cambio. Segunda: la tabla va de menos a más poder y de menos a más riesgo. Las extensiones ejecutan código al abrir el repo, y por eso volveremos a hablar de seguridad al final. Dos caminos para casi todo: ficheros en el repo, que comparte el equipo, o los Ajustes de la app y ~/.copilot/, que son solo tuyos. En el paso 3 veremos cómo dar a cada agente su propio modelo y en el 7, cómo orquestarlos con código, al estilo de HydraFusion. Al final hay un bloque corto con lo que queda fuera de los nueve: automatizaciones, el SDK embebido y las políticas. El repo de ejemplo es una app Avalonia, pero es solo el escenario: ninguna pieza depende de la tecnología del proyecto.</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Shape 94"/>
          <p:cNvSpPr/>
          <p:nvPr>
            <p:ph type="sldImg"/>
          </p:nvPr>
        </p:nvSpPr>
        <p:spPr>
          <a:prstGeom prst="rect">
            <a:avLst/>
          </a:prstGeom>
        </p:spPr>
        <p:txBody>
          <a:bodyPr/>
          <a:lstStyle/>
          <a:p>
            <a:pPr/>
          </a:p>
        </p:txBody>
      </p:sp>
      <p:sp>
        <p:nvSpPr>
          <p:cNvPr id="95" name="Shape 95"/>
          <p:cNvSpPr/>
          <p:nvPr>
            <p:ph type="body" sz="quarter" idx="1"/>
          </p:nvPr>
        </p:nvSpPr>
        <p:spPr>
          <a:prstGeom prst="rect">
            <a:avLst/>
          </a:prstGeom>
        </p:spPr>
        <p:txBody>
          <a:bodyPr/>
          <a:lstStyle/>
          <a:p>
            <a:pPr/>
            <a:r>
              <a:t>Un minuto. No es un editor: es el sitio desde el que lanzas y supervisas agentes. La última línea es la que importa para esta charla: casi todo lo que vamos a ver son ficheros dentro del repo, así que lo que extiendes para la app también vale para Copilot CLI, y viaja con el código al resto del equipo. Las extensiones y los canvas son todavía experimentales. Los canvas añaden superficies propias al panel lateral. A la derecha, el otro camino para extender: en lugar de ficheros en el repo, la página Customize de la app. Tiene un catálogo con elementos destacados y una pestaña por tipo: MCP, plugins, skills, extensiones y canvas. La pestaña Installed es útil para depurar: lista lo que está activo y su origen, personal, integrado o de un proyecto. En la captura se ve el botón Add arriba a la derecha para añadir cosas propias.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0" name="Shape 110"/>
          <p:cNvSpPr/>
          <p:nvPr>
            <p:ph type="sldImg"/>
          </p:nvPr>
        </p:nvSpPr>
        <p:spPr>
          <a:prstGeom prst="rect">
            <a:avLst/>
          </a:prstGeom>
        </p:spPr>
        <p:txBody>
          <a:bodyPr/>
          <a:lstStyle/>
          <a:p>
            <a:pPr/>
          </a:p>
        </p:txBody>
      </p:sp>
      <p:sp>
        <p:nvSpPr>
          <p:cNvPr id="111" name="Shape 111"/>
          <p:cNvSpPr/>
          <p:nvPr>
            <p:ph type="body" sz="quarter" idx="1"/>
          </p:nvPr>
        </p:nvSpPr>
        <p:spPr>
          <a:prstGeom prst="rect">
            <a:avLst/>
          </a:prstGeom>
        </p:spPr>
        <p:txBody>
          <a:bodyPr/>
          <a:lstStyle/>
          <a:p>
            <a:pPr/>
            <a:r>
              <a:t>Demo 0, dos minutos. Pregunta primero, sin tocar código: «What rules should I follow when I change the UI in this repo? Answer in at most five short bullets. If the repo states no rules, say so.». La última frase le pide que lo diga en vez de presentar como reglas lo que deduce del código (sin ella, a veces enumera convenciones inferidas del CSS). En el paso 0 el agente no encuentra reglas (no hay AGENTS.md, CLAUDE.md ni copilot-instructions.md) y contesta con consejos genéricos deducidos de la estructura de carpetas: una respuesta razonable que no conoce al equipo. Tarda unos 40 segundos, casi todo las dos confirmaciones de lectura que pide el agente. Segundo golpe, opcional: el botón Clear, el mismo prompt que cierra la charla. La ejecución tarda entre 30 segundos y dos minutos y medio; en las pruebas el botón ya salió con Name y AutomationId y a veces el agente ejecutó la app, así que no lo vendas como un mal resultado: que salga bien no es una garantía. Si vas justo de tiempo, enseña el resultado ya ejecutado (respaldo: demo0-rules.png y demo0-baseline.png). Vamos a ir cerrando esos huecos, de menos a más. Las slides claras como esta son siempre demos: en cada una está el prompt, lo que debe verse y el proyecto en el que se ejecuta.</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Shape 125"/>
          <p:cNvSpPr/>
          <p:nvPr>
            <p:ph type="sldImg"/>
          </p:nvPr>
        </p:nvSpPr>
        <p:spPr>
          <a:prstGeom prst="rect">
            <a:avLst/>
          </a:prstGeom>
        </p:spPr>
        <p:txBody>
          <a:bodyPr/>
          <a:lstStyle/>
          <a:p>
            <a:pPr/>
          </a:p>
        </p:txBody>
      </p:sp>
      <p:sp>
        <p:nvSpPr>
          <p:cNvPr id="126" name="Shape 126"/>
          <p:cNvSpPr/>
          <p:nvPr>
            <p:ph type="body" sz="quarter" idx="1"/>
          </p:nvPr>
        </p:nvSpPr>
        <p:spPr>
          <a:prstGeom prst="rect">
            <a:avLst/>
          </a:prstGeom>
        </p:spPr>
        <p:txBody>
          <a:bodyPr/>
          <a:lstStyle/>
          <a:p>
            <a:pPr/>
            <a:r>
              <a:t>Un minuto de explicación; la demo es la slide siguiente. Las instrucciones son el escalón más barato y el que más devuelve. Regla práctica: si te has repetido dos veces en el chat, va a las instrucciones. Limitación que enlaza con el paso siguiente: todo lo que pongas aquí ocupa contexto en todas las sesiones, así que no metas procedimientos largos.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1" name="Shape 141"/>
          <p:cNvSpPr/>
          <p:nvPr>
            <p:ph type="sldImg"/>
          </p:nvPr>
        </p:nvSpPr>
        <p:spPr>
          <a:prstGeom prst="rect">
            <a:avLst/>
          </a:prstGeom>
        </p:spPr>
        <p:txBody>
          <a:bodyPr/>
          <a:lstStyle/>
          <a:p>
            <a:pPr/>
          </a:p>
        </p:txBody>
      </p:sp>
      <p:sp>
        <p:nvSpPr>
          <p:cNvPr id="142" name="Shape 142"/>
          <p:cNvSpPr/>
          <p:nvPr>
            <p:ph type="body" sz="quarter" idx="1"/>
          </p:nvPr>
        </p:nvSpPr>
        <p:spPr>
          <a:prstGeom prst="rect">
            <a:avLst/>
          </a:prstGeom>
        </p:spPr>
        <p:txBody>
          <a:bodyPr/>
          <a:lstStyle/>
          <a:p>
            <a:pPr/>
            <a:r>
              <a:t>Demo 1, dos minutos. La misma pregunta (con la misma frase final, «If the repo states no rules, say so.», que aquí no cambia nada porque el repo sí declara reglas) y el mismo modelo, con otra respuesta: ahora el agente lista las reglas del equipo, y lo que cuenta es lo que la demo 0 no podía adivinar: ids en PascalCase que terminan con el tipo de control (GreetButton), no cambiar nunca un AutomationId existente, texto visible en inglés y el comando de compilación, además de Name y AutomationId iguales. Las lee de .github/copilot-instructions.md al empezar la sesión. Si en la demo 0 salió algo sobre AutomationId, era una pista de la documentación del repo, no una norma. Antes tenía que adivinar y ahora lo sabe, y eso es lo que hay que subrayar. Segundo golpe, opcional: el botón Clear. El código puede salir igual que en la demo 0, pero ahora es una norma del repo y no depende de la suerte. Respaldo: demo1-rules.png. Si el agente dice que no recibió instrucciones, comprueba que respondiste al aviso de confianza y abre una sesión nueva (véase demos/01-instructions.txt). Mensaje de cierre: las instrucciones sirven para normas, no para procedimientos. Para procedimientos, el siguiente escalón.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Shape 154"/>
          <p:cNvSpPr/>
          <p:nvPr>
            <p:ph type="sldImg"/>
          </p:nvPr>
        </p:nvSpPr>
        <p:spPr>
          <a:prstGeom prst="rect">
            <a:avLst/>
          </a:prstGeom>
        </p:spPr>
        <p:txBody>
          <a:bodyPr/>
          <a:lstStyle/>
          <a:p>
            <a:pPr/>
          </a:p>
        </p:txBody>
      </p:sp>
      <p:sp>
        <p:nvSpPr>
          <p:cNvPr id="155" name="Shape 155"/>
          <p:cNvSpPr/>
          <p:nvPr>
            <p:ph type="body" sz="quarter" idx="1"/>
          </p:nvPr>
        </p:nvSpPr>
        <p:spPr>
          <a:prstGeom prst="rect">
            <a:avLst/>
          </a:prstGeom>
        </p:spPr>
        <p:txBody>
          <a:bodyPr/>
          <a:lstStyle/>
          <a:p>
            <a:pPr/>
            <a:r>
              <a:t>Un minuto. La descripción es lo más importante de una skill: es lo único que el agente ve de entrada y decide cuándo se usa. Por eso dice qué hace y cuándo usarla. El cuerpo es un procedimiento con verificación al final. Diferencia con las instrucciones: no ocupa contexto mientras no se necesita. Las skills siguen un formato abierto, así que también valen en otras herramientas de agentes.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2" name="Shape 172"/>
          <p:cNvSpPr/>
          <p:nvPr>
            <p:ph type="sldImg"/>
          </p:nvPr>
        </p:nvSpPr>
        <p:spPr>
          <a:prstGeom prst="rect">
            <a:avLst/>
          </a:prstGeom>
        </p:spPr>
        <p:txBody>
          <a:bodyPr/>
          <a:lstStyle/>
          <a:p>
            <a:pPr/>
          </a:p>
        </p:txBody>
      </p:sp>
      <p:sp>
        <p:nvSpPr>
          <p:cNvPr id="173" name="Shape 173"/>
          <p:cNvSpPr/>
          <p:nvPr>
            <p:ph type="body" sz="quarter" idx="1"/>
          </p:nvPr>
        </p:nvSpPr>
        <p:spPr>
          <a:prstGeom prst="rect">
            <a:avLst/>
          </a:prstGeom>
        </p:spPr>
        <p:txBody>
          <a:bodyPr/>
          <a:lstStyle/>
          <a:p>
            <a:pPr/>
            <a:r>
              <a:t>Pasos: 1. Abre una sesión nueva en el proyecto 02-skill. 2. Invoca la skill por su nombre. 3. Deja que proponga los nombres. No confirmes la edición todavía. Demo 2, dos minutos. La SampleApp tiene 15 controles interactivos y cinco elementos de menú sin AutomationId: es un hallazgo real del repo, no un ejemplo preparado. Fíjate en que el agente sigue los pasos en orden y pide confirmación, porque así lo dice la skill. No confirmes la edición: esos cinco huecos nos sirven también en la demo 4. En qué fijarse en la captura: El agente lee axaml.instructions.md y busca los .axaml: las instrucciones por ruta se aplican solas. Después pregunta con una tarjeta: la tabla trae los cinco MenuItem sin identificador, con su línea y un nombre propuesto, y marca como ya puestos NewItemMenu y NameBox. Pulsa Skip (Esc) o elige Leave files unchanged: no se edita nada. Respaldo de la demo 2: úsala si la demo en vivo falla o para quien descargue las slides. Es una ejecución real sobre el repo de la charla, con el prompt de la slide. El agente siguió el procedimiento de la skill: localizó las vistas, hizo inventario y presentó la tabla antes de editar nada.</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Shape 185"/>
          <p:cNvSpPr/>
          <p:nvPr>
            <p:ph type="sldImg"/>
          </p:nvPr>
        </p:nvSpPr>
        <p:spPr>
          <a:prstGeom prst="rect">
            <a:avLst/>
          </a:prstGeom>
        </p:spPr>
        <p:txBody>
          <a:bodyPr/>
          <a:lstStyle/>
          <a:p>
            <a:pPr/>
          </a:p>
        </p:txBody>
      </p:sp>
      <p:sp>
        <p:nvSpPr>
          <p:cNvPr id="186" name="Shape 186"/>
          <p:cNvSpPr/>
          <p:nvPr>
            <p:ph type="body" sz="quarter" idx="1"/>
          </p:nvPr>
        </p:nvSpPr>
        <p:spPr>
          <a:prstGeom prst="rect">
            <a:avLst/>
          </a:prstGeom>
        </p:spPr>
        <p:txBody>
          <a:bodyPr/>
          <a:lstStyle/>
          <a:p>
            <a:pPr/>
            <a:r>
              <a:t>Un minuto. Diferencia con una skill: la skill es un procedimiento que usa el agente que ya tienes. El agente personalizado es otro agente, con su prompt de sistema y sus herramientas, y trabaja en su propio contexto. La línea que hay que señalar es tools: ahí el límite lo pone la configuración, no la buena voluntad del modelo. El agente principal también puede delegarle trabajo como subagente.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Shape 203"/>
          <p:cNvSpPr/>
          <p:nvPr>
            <p:ph type="sldImg"/>
          </p:nvPr>
        </p:nvSpPr>
        <p:spPr>
          <a:prstGeom prst="rect">
            <a:avLst/>
          </a:prstGeom>
        </p:spPr>
        <p:txBody>
          <a:bodyPr/>
          <a:lstStyle/>
          <a:p>
            <a:pPr/>
          </a:p>
        </p:txBody>
      </p:sp>
      <p:sp>
        <p:nvSpPr>
          <p:cNvPr id="204" name="Shape 204"/>
          <p:cNvSpPr/>
          <p:nvPr>
            <p:ph type="body" sz="quarter" idx="1"/>
          </p:nvPr>
        </p:nvSpPr>
        <p:spPr>
          <a:prstGeom prst="rect">
            <a:avLst/>
          </a:prstGeom>
        </p:spPr>
        <p:txBody>
          <a:bodyPr/>
          <a:lstStyle/>
          <a:p>
            <a:pPr/>
            <a:r>
              <a:t>Pasos: 1. Abre una sesión nueva en el proyecto 03-agent. 2. Manda un primer mensaje («Hi»): el selector de agente solo aparece con la sesión en marcha. Después escribe /agent avalonia-ui-tester y pulsa Enter (probado en la versión 1.1.30), o elígelo en el selector, a la derecha de Auto · Balance. 3. Pide el plan. Después pídele que arregle algo. Demo 3, dos minutos y medio. Guarda el plan que genera: es el que cargaremos en el canvas de la demo 8. Segundo prompt para enseñar el límite: «Añade el AutomationId que falta en el menú». Mensaje: hasta aquí el agente sabe más y se comporta mejor, pero sigue sin tener capacidades nuevas. Eso llega ahora. En qué fijarse en la captura: El agente se elige en el cuadro de mensaje: abajo se lee avalonia-ui-tester. Cada caso trae preparación, pasos y resultado esperado, y nombra los controles por su AutomationId. Solo ha usado lectura: no hay comandos ni ediciones. Respaldo de la demo 3. Ejecución real con el agente avalonia-ui-tester. Cubrió lo que pide su definición: camino feliz, entradas vacías y largas, tema claro y oscuro, y teclado sin ratón. Al final del plan, que en la captura sí se ve, añadió una sección de riesgos y bloqueos: los elementos de menú de tema claro y oscuro sin AutomationId y que el contenido principal no tiene un contenedor con scroll. También avisó de que no había ejecutado la app, tal como se le indica.</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8" name="Shape 228"/>
          <p:cNvSpPr/>
          <p:nvPr>
            <p:ph type="sldImg"/>
          </p:nvPr>
        </p:nvSpPr>
        <p:spPr>
          <a:prstGeom prst="rect">
            <a:avLst/>
          </a:prstGeom>
        </p:spPr>
        <p:txBody>
          <a:bodyPr/>
          <a:lstStyle/>
          <a:p>
            <a:pPr/>
          </a:p>
        </p:txBody>
      </p:sp>
      <p:sp>
        <p:nvSpPr>
          <p:cNvPr id="229" name="Shape 229"/>
          <p:cNvSpPr/>
          <p:nvPr>
            <p:ph type="body" sz="quarter" idx="1"/>
          </p:nvPr>
        </p:nvSpPr>
        <p:spPr>
          <a:prstGeom prst="rect">
            <a:avLst/>
          </a:prstGeom>
        </p:spPr>
        <p:txBody>
          <a:bodyPr/>
          <a:lstStyle/>
          <a:p>
            <a:pPr/>
            <a:r>
              <a:t>Cuarenta segundos. Puente desde el agente que acabamos de ver: un agente es un rol, y un rol puede tener su propio modelo. GitHub publicó en septiembre Project HydraFusion, una vista previa de investigación en Copilot CLI. Se activa con /experimental on y se elige en /model como HydraFusion (Research Preview). En cada turno decide entre tres patrones. Single: un modelo y listo. Cascade: un modelo eficiente hace el borrador y una puerta de calidad lo acepta o lo escala a uno más fuerte. Critique: un crítico de otra familia de modelos, que solo lee y no tiene herramientas, revisa el borrador y hay una única corrección. Los números son suyos, frente a Claude Opus 5 en solitario: mucho menos coste con una calidad parecida, y mejor en TerminalBench. Sus principios son buenos para cualquiera: contar todo el coste, que cada pierna esté acotada, revisión aislada, que un fallo no rompa nada y validar el enrutado. HydraFusion es una caja cerrada: no eliges los modelos. Pero las piezas para construir el mismo patrón ya están en la app, y eso es lo que vamos a hacer.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2" name="Shape 262"/>
          <p:cNvSpPr/>
          <p:nvPr>
            <p:ph type="sldImg"/>
          </p:nvPr>
        </p:nvSpPr>
        <p:spPr>
          <a:prstGeom prst="rect">
            <a:avLst/>
          </a:prstGeom>
        </p:spPr>
        <p:txBody>
          <a:bodyPr/>
          <a:lstStyle/>
          <a:p>
            <a:pPr/>
          </a:p>
        </p:txBody>
      </p:sp>
      <p:sp>
        <p:nvSpPr>
          <p:cNvPr id="263" name="Shape 263"/>
          <p:cNvSpPr/>
          <p:nvPr>
            <p:ph type="body" sz="quarter" idx="1"/>
          </p:nvPr>
        </p:nvSpPr>
        <p:spPr>
          <a:prstGeom prst="rect">
            <a:avLst/>
          </a:prstGeom>
        </p:spPr>
        <p:txBody>
          <a:bodyPr/>
          <a:lstStyle/>
          <a:p>
            <a:pPr/>
            <a:r>
              <a:t>Un minuto. Cuatro ficheros de agente y ninguna línea de código. Elegir el modelo de cada rol es un campo: model en el fichero del agente, como se ve arriba a la derecha. Si no lo pones, el agente usa el modelo de la sesión. Lo comprobé en la app: puse a un agente un modelo que mi cuenta no tiene y el subagente se negó a arrancar. Es una buena noticia: el modelo es configuración, no una sugerencia, y no cambia a otro por su cuenta. La CLI también acepta una lista de modelos en orden de preferencia, pero en la app que probé no pasó al segundo. El orchestrator es el único que elige la persona, con /agent, y tiene la herramienta agent, que le permite delegar en otros agentes personalizados. Cada subagente arranca con el modelo de su fichero: planifica un modelo con buen razonamiento, programa uno especializado en código y revisa uno de otra familia, que solo puede leer. Es el patrón Critique de HydraFusion hecho a mano. La regla de abajo está escrita en las instrucciones del orchestrator: como mucho una vuelta de corrección, que es lo que HydraFusion llama piernas acotadas. En Copilot CLI hay dos atajos que no tocan el repo: /model plan fija un modelo solo para el modo plan y vuelve al de la sesión al salir, y /subagents elige modelo, esfuerzo y ventana de contexto para cada subagente, incluido el rubber-duck integrado, que por defecto busca un modelo de otra familia. Ambos se guardan en tus ajustes como planModel y subagents.agents. Los modelos son los que tengo en mi cuenta; cámbialos por los que veas en /model.</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0" name="Shape 280"/>
          <p:cNvSpPr/>
          <p:nvPr>
            <p:ph type="sldImg"/>
          </p:nvPr>
        </p:nvSpPr>
        <p:spPr>
          <a:prstGeom prst="rect">
            <a:avLst/>
          </a:prstGeom>
        </p:spPr>
        <p:txBody>
          <a:bodyPr/>
          <a:lstStyle/>
          <a:p>
            <a:pPr/>
          </a:p>
        </p:txBody>
      </p:sp>
      <p:sp>
        <p:nvSpPr>
          <p:cNvPr id="281" name="Shape 281"/>
          <p:cNvSpPr/>
          <p:nvPr>
            <p:ph type="body" sz="quarter" idx="1"/>
          </p:nvPr>
        </p:nvSpPr>
        <p:spPr>
          <a:prstGeom prst="rect">
            <a:avLst/>
          </a:prstGeom>
        </p:spPr>
        <p:txBody>
          <a:bodyPr/>
          <a:lstStyle/>
          <a:p>
            <a:pPr/>
            <a:r>
              <a:t>Pasos: 1. Abre una sesión nueva en el proyecto 03b-hierarchy. 2. Manda «Hi» y escribe /agent orchestrator (probado en la 1.1.30). 3. Mientras trabaja, señala cada subagente y el tiempo de cada fase. Demo 3b, tres minutos: la ejecución tarda unos dos minutos (en la versión 1.1.30 los subagentes informan de 11 segundos el planner, 24 el coder y 47 el reviewer), así que lánzala, explica la jerarquía mientras trabaja y vuelve al final. En la prueba anterior, planner 30 segundos, coder 53 y reviewer 35. El orchestrator no escribe código: solo reparte. Plan B: la captura de esta slide. Si un subagente no arranca, casi siempre es porque su modelo no está disponible en tu cuenta: cámbialo en su fichero por uno de los que veas en /model. En qué fijarse en la captura: Cada fase la hace un subagente distinto, con el modelo de su fichero. La tabla final trae los tres modelos configurados: claude-sonnet-5.5, gpt-5.3-codex y gemini-3.8-flash. En esta ejecución el reviewer aprobó a la primera, así que no hubo vuelta de corrección; si pide cambios, el coder tiene una sola oportunidad más. Respaldo de la demo 3b. Si repites la demo, restablece el repo después: el coder edita ficheros.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5" name="Shape 295"/>
          <p:cNvSpPr/>
          <p:nvPr>
            <p:ph type="sldImg"/>
          </p:nvPr>
        </p:nvSpPr>
        <p:spPr>
          <a:prstGeom prst="rect">
            <a:avLst/>
          </a:prstGeom>
        </p:spPr>
        <p:txBody>
          <a:bodyPr/>
          <a:lstStyle/>
          <a:p>
            <a:pPr/>
          </a:p>
        </p:txBody>
      </p:sp>
      <p:sp>
        <p:nvSpPr>
          <p:cNvPr id="296" name="Shape 296"/>
          <p:cNvSpPr/>
          <p:nvPr>
            <p:ph type="body" sz="quarter" idx="1"/>
          </p:nvPr>
        </p:nvSpPr>
        <p:spPr>
          <a:prstGeom prst="rect">
            <a:avLst/>
          </a:prstGeom>
        </p:spPr>
        <p:txBody>
          <a:bodyPr/>
          <a:lstStyle/>
          <a:p>
            <a:pPr/>
            <a:r>
              <a:t>Un minuto y medio. Hasta ahora hemos cambiado lo que el agente sabe. MCP cambia lo que puede hacer. Es un estándar abierto: el mismo servidor sirve en la app, en la CLI, en VS Code y en cualquier otro cliente MCP. Lo normal es usar servidores que ya existen (GitHub, Playwright, tu base de datos), y la app trae un catálogo en Customize. Escribimos uno propio solo para enseñar que no hay magia: el de la demo publica list_controls y find_missing_automation_ids en unas 240 líneas de Node sin dependencias. Abajo a la derecha está todo lo que hace falta para que el agente tenga una herramienta nueva: una descripción con su esquema y tres respuestas. initialize presenta al servidor, tools/list devuelve el catálogo y tools/call ejecuta. Los mensajes son JSON-RPC, uno por línea, por la entrada y la salida estándar. En un proyecto real usarías el SDK oficial de MCP, que añade validación y más tipos de contenido. La descripción de la herramienta es lo que lee el modelo para decidir cuándo llamarla: merece tanto cuidado como el código.</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3" name="Shape 313"/>
          <p:cNvSpPr/>
          <p:nvPr>
            <p:ph type="sldImg"/>
          </p:nvPr>
        </p:nvSpPr>
        <p:spPr>
          <a:prstGeom prst="rect">
            <a:avLst/>
          </a:prstGeom>
        </p:spPr>
        <p:txBody>
          <a:bodyPr/>
          <a:lstStyle/>
          <a:p>
            <a:pPr/>
          </a:p>
        </p:txBody>
      </p:sp>
      <p:sp>
        <p:nvSpPr>
          <p:cNvPr id="314" name="Shape 314"/>
          <p:cNvSpPr/>
          <p:nvPr>
            <p:ph type="body" sz="quarter" idx="1"/>
          </p:nvPr>
        </p:nvSpPr>
        <p:spPr>
          <a:prstGeom prst="rect">
            <a:avLst/>
          </a:prstGeom>
        </p:spPr>
        <p:txBody>
          <a:bodyPr/>
          <a:lstStyle/>
          <a:p>
            <a:pPr/>
            <a:r>
              <a:t>Pasos: 1. Usa el proyecto 04-mcp. 2. En una terminal, añade el servidor a tu configuración de usuario con la línea de 04-mcp.txt: copilot mcp add axaml-inspector -- node ~/copilot-talk/04-mcp/tools/axaml-inspector/server.mjs. 3. Abre una sesión nueva con el agente por defecto y lanza la pregunta. Demo 4, dos minutos. Importante: la app no carga el .mcp.json del repo ni el .github/mcp.json (probado en la versión 1.1.30). Sin el paso 2 el agente no encuentra la herramienta y, según la ejecución, lee el AXAML directamente o lanza el servidor por shell, que no es una llamada MCP. Con el servidor en la configuración de usuario (~/.copilot/mcp-config.json) la sesión nueva lo usa como herramienta nativa y la respuesta llega en una llamada. El botón Add server de Customize, MCP no se probó: haz el paso 2 con él una vez antes de la charla. Al terminar, restablece con copilot mcp remove axaml-inspector. Compara con la demo 2: la skill llegaba al mismo resultado buscando texto, aquí lo devuelve una herramienta. Las dos piezas se combinan: la skill ya dice «si existe find_missing_automation_ids, úsala». Plan B si el servidor no carga: ejecútalo en la terminal con el comando del guion y enseña el JSON de respuesta. En qué fijarse en la captura: El paso «Axaml Inspector · Find Missing Automation Ids» es una llamada nativa a la herramienta del servidor, no un comando de shell. Salen los cinco MenuItem con su línea, y los nombres traen la tecla de acceso tal como están en el AXAML (_File, E_xit). Respaldo de la demo 4. La pestaña MCP de Customize trae además un catálogo de servidores por categorías con un botón Add server en cada uno.</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6" name="Shape 326"/>
          <p:cNvSpPr/>
          <p:nvPr>
            <p:ph type="sldImg"/>
          </p:nvPr>
        </p:nvSpPr>
        <p:spPr>
          <a:prstGeom prst="rect">
            <a:avLst/>
          </a:prstGeom>
        </p:spPr>
        <p:txBody>
          <a:bodyPr/>
          <a:lstStyle/>
          <a:p>
            <a:pPr/>
          </a:p>
        </p:txBody>
      </p:sp>
      <p:sp>
        <p:nvSpPr>
          <p:cNvPr id="327" name="Shape 327"/>
          <p:cNvSpPr/>
          <p:nvPr>
            <p:ph type="body" sz="quarter" idx="1"/>
          </p:nvPr>
        </p:nvSpPr>
        <p:spPr>
          <a:prstGeom prst="rect">
            <a:avLst/>
          </a:prstGeom>
        </p:spPr>
        <p:txBody>
          <a:bodyPr/>
          <a:lstStyle/>
          <a:p>
            <a:pPr/>
            <a:r>
              <a:t>Un minuto. Sin LSP el agente entiende el código buscando texto: funciona, pero confunde comentarios, documentación y nombres parecidos, y gasta contexto leyendo ficheros enteros. Con un servidor de lenguaje pregunta lo mismo que tu editor: ir a la definición, buscar referencias, renombrar un símbolo, ver tipos y documentación. Cada lenguaje tiene su servidor: aquí el de C# de Roslyn, que se lanza con dotnet dnx y necesita el SDK de .NET 10. La skill lsp-setup del catálogo Awesome GitHub Copilot lo configura sola para catorce lenguajes. Un plugin puede repartir la configuración con la clave lspServers. Aviso honesto: la documentación lo describe para Copilot CLI. Como cualquier servidor, instala solo los que vengan de fuentes de confianza.</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2" name="Shape 342"/>
          <p:cNvSpPr/>
          <p:nvPr>
            <p:ph type="sldImg"/>
          </p:nvPr>
        </p:nvSpPr>
        <p:spPr>
          <a:prstGeom prst="rect">
            <a:avLst/>
          </a:prstGeom>
        </p:spPr>
        <p:txBody>
          <a:bodyPr/>
          <a:lstStyle/>
          <a:p>
            <a:pPr/>
          </a:p>
        </p:txBody>
      </p:sp>
      <p:sp>
        <p:nvSpPr>
          <p:cNvPr id="343" name="Shape 343"/>
          <p:cNvSpPr/>
          <p:nvPr>
            <p:ph type="body" sz="quarter" idx="1"/>
          </p:nvPr>
        </p:nvSpPr>
        <p:spPr>
          <a:prstGeom prst="rect">
            <a:avLst/>
          </a:prstGeom>
        </p:spPr>
        <p:txBody>
          <a:bodyPr/>
          <a:lstStyle/>
          <a:p>
            <a:pPr/>
            <a:r>
              <a:t>Demo 5, minuto y medio. La definición está en AppBuilderExtensions.cs del host y la única llamada real en Program.cs de SampleApp. La misma palabra aparece 13 veces en 7 ficheros si se busca como texto (git grep en 05-lsp): README, documentación y comentarios. Arranca el servidor una vez antes de la charla, porque la primera ejecución lo descarga. En las pruebas la app cargó la configuración LSP y respondió con la herramienta lsp. En frío la primera llamada puede fallar con un transport framing error: el agente reintenta y acierta. Plan B: haz esta demo en la CLI sobre el mismo repo, con el mismo fichero y el mismo resultado.</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8" name="Shape 358"/>
          <p:cNvSpPr/>
          <p:nvPr>
            <p:ph type="sldImg"/>
          </p:nvPr>
        </p:nvSpPr>
        <p:spPr>
          <a:prstGeom prst="rect">
            <a:avLst/>
          </a:prstGeom>
        </p:spPr>
        <p:txBody>
          <a:bodyPr/>
          <a:lstStyle/>
          <a:p>
            <a:pPr/>
          </a:p>
        </p:txBody>
      </p:sp>
      <p:sp>
        <p:nvSpPr>
          <p:cNvPr id="359" name="Shape 359"/>
          <p:cNvSpPr/>
          <p:nvPr>
            <p:ph type="body" sz="quarter" idx="1"/>
          </p:nvPr>
        </p:nvSpPr>
        <p:spPr>
          <a:prstGeom prst="rect">
            <a:avLst/>
          </a:prstGeom>
        </p:spPr>
        <p:txBody>
          <a:bodyPr/>
          <a:lstStyle/>
          <a:p>
            <a:pPr/>
            <a:r>
              <a:t>Un minuto y medio. Es la única pieza declarativa que no pasa por el modelo: es código tuyo ejecutándose en el ciclo de vida. Eventos disponibles: sessionStart, sessionEnd, userPromptSubmitted, preToolUse, postToolUse, errorOccurred, agentStop y subagentStop, entre otros. Usos típicos: bloquear comandos peligrosos, proteger rutas, auditar, pasar un linter después de cada edición. Hay tres ámbitos: repo, usuario y política de empresa. Un hook no tiene API propia: es un programa que lee JSON por la entrada estándar y, si quiere bloquear, escribe JSON por la salida. Puede ser Node, bash, PowerShell o Python. Las reglas son una lista de denegación: el script separa el comando en sus partes y mira, por ejemplo, rm con -r y -f, git push con --force y las rutas que se van a escribir (.github/workflows y LICENSE). Abajo a la derecha está el núcleo del programa. Dos detalles de diseño: si la entrada no se puede leer, el script no bloquea la sesión, y cada decisión se anota en un registro de auditoría. Lo importante es que estas reglas se cumplen aunque el modelo decida ignorar las instrucciones, pero solo cubren lo que la lista conoce: es una red de seguridad, no un sandbox.</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6" name="Shape 376"/>
          <p:cNvSpPr/>
          <p:nvPr>
            <p:ph type="sldImg"/>
          </p:nvPr>
        </p:nvSpPr>
        <p:spPr>
          <a:prstGeom prst="rect">
            <a:avLst/>
          </a:prstGeom>
        </p:spPr>
        <p:txBody>
          <a:bodyPr/>
          <a:lstStyle/>
          <a:p>
            <a:pPr/>
          </a:p>
        </p:txBody>
      </p:sp>
      <p:sp>
        <p:nvSpPr>
          <p:cNvPr id="377" name="Shape 377"/>
          <p:cNvSpPr/>
          <p:nvPr>
            <p:ph type="body" sz="quarter" idx="1"/>
          </p:nvPr>
        </p:nvSpPr>
        <p:spPr>
          <a:prstGeom prst="rect">
            <a:avLst/>
          </a:prstGeom>
        </p:spPr>
        <p:txBody>
          <a:bodyPr/>
          <a:lstStyle/>
          <a:p>
            <a:pPr/>
            <a:r>
              <a:t>Pasos: 1. Abre una sesión nueva en el proyecto 06-hooks. 2. Pide algo destructivo sobre una carpeta de prueba. 3. Enseña el registro de auditoría que deja el hook. Demo 6, dos minutos. Comprobada en la app: el hook bloquea el comando. El prompt crea primero una carpeta de prueba porque docs/_site no existe en un clon limpio y, si el hook fallara, solo se borraría esa carpeta. Plan B en terminal: pasa por stdin un JSON con toolName bash y el comando rm -rf a guard.mjs y enseña la respuesta deny. El hook también protege .github/workflows contra escrituras: puedes enseñarlo si sobra tiempo. En qué fijarse en la captura: El agente prepara un único comando de shell que crea la carpeta y la borra. El hook lo deniega antes de ejecutarse: ni se crea ni se borra nada. El agente lo cuenta tal cual: el comando fue bloqueado por un guardia de seguridad y tmp-demo no se creó ni se borró. En la versión 1.1.30 el agente, tras ver la denegación («Denied by preToolUse hook: Forced recursive delete (rm -rf)»), creó el fichero, lo borró con rm y quitó la carpeta vacía con rmdir: el hook frena el comando, no el objetivo. Es el mejor argumento para la slide 20: una red de seguridad, no un sandbox. Cualquiera de los dos resultados vale, y en los dos el registro de auditoría anota DENY (captura alternativa: demo6-hook-workaround.png). Respaldo de la demo 6. Ejecución real: el hook de .github/hooks funcionó en la app. Un detalle de las pruebas: la primera petición, borrar docs/_site, no llegó a probar el hook porque esa carpeta no existe en un clon limpio y el agente lo comprobó antes de ejecutar nada. Por eso el prompt de la demo crea primero una carpeta de prueba. Es además un prompt seguro: si el hook fallara, solo se borraría esa carpeta temporal.</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3" name="Shape 383"/>
          <p:cNvSpPr/>
          <p:nvPr>
            <p:ph type="sldImg"/>
          </p:nvPr>
        </p:nvSpPr>
        <p:spPr>
          <a:prstGeom prst="rect">
            <a:avLst/>
          </a:prstGeom>
        </p:spPr>
        <p:txBody>
          <a:bodyPr/>
          <a:lstStyle/>
          <a:p>
            <a:pPr/>
          </a:p>
        </p:txBody>
      </p:sp>
      <p:sp>
        <p:nvSpPr>
          <p:cNvPr id="384" name="Shape 384"/>
          <p:cNvSpPr/>
          <p:nvPr>
            <p:ph type="body" sz="quarter" idx="1"/>
          </p:nvPr>
        </p:nvSpPr>
        <p:spPr>
          <a:prstGeom prst="rect">
            <a:avLst/>
          </a:prstGeom>
        </p:spPr>
        <p:txBody>
          <a:bodyPr/>
          <a:lstStyle/>
          <a:p>
            <a:pPr/>
            <a:r>
              <a:t>Quince segundos de respiro. Resume: con seis ficheros de texto el agente conoce nuestras normas, tiene un procedimiento, un rol, una herramienta nueva, comprensión precisa del código y un límite. Todo eso se revisa en un pull request. Lo que viene ahora ejecuta código nuestro dentro de la sesión, y todavía es experimental: la API puede cambiar.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7" name="Shape 397"/>
          <p:cNvSpPr/>
          <p:nvPr>
            <p:ph type="sldImg"/>
          </p:nvPr>
        </p:nvSpPr>
        <p:spPr>
          <a:prstGeom prst="rect">
            <a:avLst/>
          </a:prstGeom>
        </p:spPr>
        <p:txBody>
          <a:bodyPr/>
          <a:lstStyle/>
          <a:p>
            <a:pPr/>
          </a:p>
        </p:txBody>
      </p:sp>
      <p:sp>
        <p:nvSpPr>
          <p:cNvPr id="398" name="Shape 398"/>
          <p:cNvSpPr/>
          <p:nvPr>
            <p:ph type="body" sz="quarter" idx="1"/>
          </p:nvPr>
        </p:nvSpPr>
        <p:spPr>
          <a:prstGeom prst="rect">
            <a:avLst/>
          </a:prstGeom>
        </p:spPr>
        <p:txBody>
          <a:bodyPr/>
          <a:lstStyle/>
          <a:p>
            <a:pPr/>
            <a:r>
              <a:t>Un minuto y medio. Diferencia con MCP: un servidor MCP solo publica herramientas y no sabe nada de la sesión. Una extensión vive dentro de ella: ve los eventos, puede interceptar herramientas, inyectar contexto y enviar mensajes al agente. El código hace tres cosas que un hook de fichero o un servidor MCP no pueden hacer juntas. Registra una herramienta propia. Añade un hook en proceso: mira el prompt antes de que lo vea el agente y, si habla de interfaces, le sugiere usar nuestra herramienta; nadie tiene que acordarse de pedirlo. Y escucha eventos: cuenta las herramientas ejecutadas y escribe un resumen en la sesión al terminar el turno. La variable toolCalls vive entre llamadas porque la extensión es un proceso que dura lo que dura la sesión. Reglas que conviene decir en voz alta: solo ficheros .mjs, el nombre de cada herramienta tiene que ser único entre todas las extensiones cargadas, y nada de console.log. No llames a session.send dentro de onUserPromptSubmitted o crearás un bucle. Proyecto en .github/extensions, personal en ~/.copilot/extensions.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8" name="Shape 408"/>
          <p:cNvSpPr/>
          <p:nvPr>
            <p:ph type="sldImg"/>
          </p:nvPr>
        </p:nvSpPr>
        <p:spPr>
          <a:prstGeom prst="rect">
            <a:avLst/>
          </a:prstGeom>
        </p:spPr>
        <p:txBody>
          <a:bodyPr/>
          <a:lstStyle/>
          <a:p>
            <a:pPr/>
          </a:p>
        </p:txBody>
      </p:sp>
      <p:sp>
        <p:nvSpPr>
          <p:cNvPr id="409" name="Shape 409"/>
          <p:cNvSpPr/>
          <p:nvPr>
            <p:ph type="body" sz="quarter" idx="1"/>
          </p:nvPr>
        </p:nvSpPr>
        <p:spPr>
          <a:prstGeom prst="rect">
            <a:avLst/>
          </a:prstGeom>
        </p:spPr>
        <p:txBody>
          <a:bodyPr/>
          <a:lstStyle/>
          <a:p>
            <a:pPr/>
            <a:r>
              <a:t>Un minuto. No lo leas entero: es el mapa de lo que cabe en una extensión. Señala tres filas. Hooks: los mismos puntos que los hooks de fichero, pero en proceso y con memoria. requestedEnvironmentVariables: Copilot quita las variables sensibles del entorno de las extensiones y hay que pedirlas por su nombre, con aprobación explícita. Workflows: orquestación de subagentes, todavía experimental. Las extensiones son la navaja suiza: casi todo lo anterior se puede hacer también desde aquí.</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6" name="Shape 426"/>
          <p:cNvSpPr/>
          <p:nvPr>
            <p:ph type="sldImg"/>
          </p:nvPr>
        </p:nvSpPr>
        <p:spPr>
          <a:prstGeom prst="rect">
            <a:avLst/>
          </a:prstGeom>
        </p:spPr>
        <p:txBody>
          <a:bodyPr/>
          <a:lstStyle/>
          <a:p>
            <a:pPr/>
          </a:p>
        </p:txBody>
      </p:sp>
      <p:sp>
        <p:nvSpPr>
          <p:cNvPr id="427" name="Shape 427"/>
          <p:cNvSpPr/>
          <p:nvPr>
            <p:ph type="body" sz="quarter" idx="1"/>
          </p:nvPr>
        </p:nvSpPr>
        <p:spPr>
          <a:prstGeom prst="rect">
            <a:avLst/>
          </a:prstGeom>
        </p:spPr>
        <p:txBody>
          <a:bodyPr/>
          <a:lstStyle/>
          <a:p>
            <a:pPr/>
            <a:r>
              <a:t>Pasos: 1. Usa el proyecto 07-extension. El código ya se ha visto: no hace falta abrir el fichero. 2. Sesión nueva: aparece «avalonia-tools loaded». 3. Lanza la pregunta. Demo 7, minuto y medio. La extensión tiene poco más de cien líneas. Enseña que nadie le dijo al agente que usara la herramienta: el hook onUserPromptSubmitted inyectó la sugerencia al detectar la palabra canvas. Variante si sobra tiempo: comenta UseCopilotAvalonia() en Program.cs y repite; la herramienta devuelve el problema concreto. Tras cambiar una extensión hay que empezar una sesión nueva. En qué fijarse en la captura: La llamada aparece con su nombre: avalonia_project_info. La respuesta sale del resultado de la herramienta: Avalonia 11.3, net8.0, sin problemas. Una sola llamada. Sin la herramienta habría leído tres ficheros para deducirlo. Respaldo de la demo 7. Ejecución real: la extensión avalonia-tools de .github/extensions se cargó sola al abrir el proyecto y su herramienta avalonia_project_info estuvo disponible sin instalar nada. La herramienta lee el csproj, Program.cs y el perfil de arranque y devuelve un resumen. En la captura de la demo 8 se ve además el efecto del hook de la extensión: el agente llama a esta herramienta antes de abrir un canvas sin que nadie se lo pida.</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9" name="Shape 439"/>
          <p:cNvSpPr/>
          <p:nvPr>
            <p:ph type="sldImg"/>
          </p:nvPr>
        </p:nvSpPr>
        <p:spPr>
          <a:prstGeom prst="rect">
            <a:avLst/>
          </a:prstGeom>
        </p:spPr>
        <p:txBody>
          <a:bodyPr/>
          <a:lstStyle/>
          <a:p>
            <a:pPr/>
          </a:p>
        </p:txBody>
      </p:sp>
      <p:sp>
        <p:nvSpPr>
          <p:cNvPr id="440" name="Shape 440"/>
          <p:cNvSpPr/>
          <p:nvPr>
            <p:ph type="body" sz="quarter" idx="1"/>
          </p:nvPr>
        </p:nvSpPr>
        <p:spPr>
          <a:prstGeom prst="rect">
            <a:avLst/>
          </a:prstGeom>
        </p:spPr>
        <p:txBody>
          <a:bodyPr/>
          <a:lstStyle/>
          <a:p>
            <a:pPr/>
            <a:r>
              <a:t>Un minuto. Volvemos a la jerarquía del paso 3, pero ahora el orden no lo decide un modelo leyendo instrucciones: lo decide el código. Es un Dynamic Workflow, en vista previa desde el 1 de octubre en Copilot CLI y en la app, y vive dentro de una extensión: se registra con joinSession, workflows y defineWorkflow. ctx.agent lanza un subagente y acepta agent, para usar uno de nuestros ficheros de agente con su modelo, y model, para forzar otro. A la izquierda, las tres fases. El reviewer responde con un schema, así el código sabe si aprobó sin interpretar texto. A la derecha está el patrón Cascade de HydraFusion: solo si el reviewer rechaza, el mismo agente repite con un modelo de una generación más reciente y de la misma familia, para que el reviewer siga siendo de otra. Y los límites van declarados: como mucho siete subagentes en el peor caso. El runtime guarda cada paso, así que una ejecución que se para por un límite se puede reanudar.</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7" name="Shape 457"/>
          <p:cNvSpPr/>
          <p:nvPr>
            <p:ph type="sldImg"/>
          </p:nvPr>
        </p:nvSpPr>
        <p:spPr>
          <a:prstGeom prst="rect">
            <a:avLst/>
          </a:prstGeom>
        </p:spPr>
        <p:txBody>
          <a:bodyPr/>
          <a:lstStyle/>
          <a:p>
            <a:pPr/>
          </a:p>
        </p:txBody>
      </p:sp>
      <p:sp>
        <p:nvSpPr>
          <p:cNvPr id="458" name="Shape 458"/>
          <p:cNvSpPr/>
          <p:nvPr>
            <p:ph type="body" sz="quarter" idx="1"/>
          </p:nvPr>
        </p:nvSpPr>
        <p:spPr>
          <a:prstGeom prst="rect">
            <a:avLst/>
          </a:prstGeom>
        </p:spPr>
        <p:txBody>
          <a:bodyPr/>
          <a:lstStyle/>
          <a:p>
            <a:pPr/>
            <a:r>
              <a:t>Pasos: 1. Abre una sesión nueva en el proyecto 07b-workflow con el agente por defecto. 2. Pide el workflow. Si la app pide permiso, apruébalo. 3. Abre Dynamic workflows, encima del prompt, y entra en la ejecución. Demo 7b, tres minutos. En un ensayo la ejecución del workflow tardó 44 segundos; en las pruebas completas el panel marcó Completed 2m (versión 1.1.29) y pasaron 104 segundos hasta el resumen final (versión 1.1.30: planner 10 segundos, coder 23, reviewer 56). El chat parece inactivo a los 15 segundos mientras el workflow sigue en segundo plano: espera al resumen. Lánzala y explica los paneles mientras corre; si vas justo, enseña la captura. Abre el panel de la ejecución mientras corre: fase actual, agentes iniciados y activos y créditos de IA. Desde ahí se puede pausar y reanudar. Fuera de la app, el mismo workflow se lanza con copilot workflow run plan-code-review y los argumentos en JSON, que es como lo meterías en un pipeline. Plan B: la captura de esta slide. En qué fijarse en la captura: Arriba, el resumen: el workflow plan-code-review terminó y el reviewer aprobó sin problemas, así que nunca escaló a un modelo más capaz. Abajo, el panel Dynamic workflows con la ejecución en Recently finished: Completed, 2m. Respaldo de la demo 7b. La misma tarea que en la demo 3b, el botón Reset, con los mismos tres agentes, pero aquí el orden lo fija el código y la revisión devuelve un JSON con forma fija. En un ensayo anterior el panel de la ejecución mostraba el detalle: 11, 20 y 13 segundos por fase, Escalar omitida, 8,01 créditos y 3 de los 7 agentes permitidos por meta.limits (44 segundos en total). Esa vista por fases no está en esta captura. El resultado también avisa de que node --test tests/*.mjs falla porque en el paso 7b no está la extensión copilot-avalonia: es un problema previo y ajeno al cambio. No es una comparación justa de modelos; es una muestra de lo que cambia cuando el flujo lo controla el código.</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6" name="Shape 476"/>
          <p:cNvSpPr/>
          <p:nvPr>
            <p:ph type="sldImg"/>
          </p:nvPr>
        </p:nvSpPr>
        <p:spPr>
          <a:prstGeom prst="rect">
            <a:avLst/>
          </a:prstGeom>
        </p:spPr>
        <p:txBody>
          <a:bodyPr/>
          <a:lstStyle/>
          <a:p>
            <a:pPr/>
          </a:p>
        </p:txBody>
      </p:sp>
      <p:sp>
        <p:nvSpPr>
          <p:cNvPr id="477" name="Shape 477"/>
          <p:cNvSpPr/>
          <p:nvPr>
            <p:ph type="body" sz="quarter" idx="1"/>
          </p:nvPr>
        </p:nvSpPr>
        <p:spPr>
          <a:prstGeom prst="rect">
            <a:avLst/>
          </a:prstGeom>
        </p:spPr>
        <p:txBody>
          <a:bodyPr/>
          <a:lstStyle/>
          <a:p>
            <a:pPr/>
            <a:r>
              <a:t>Un minuto. Un canvas no es un generador de interfaces: es una superficie de trabajo donde el estado es visible y lo pueden cambiar los dos. Ejemplos: un tablero de triaje, un plan, una lista de comprobación de una release, una sesión de navegador. Técnicamente es una extensión que declara canvases. La forma rápida de empezar es /create-canvas: describes el flujo y las acciones, y el agente escribe la extensión. Lo vamos a hacer a mano para ver qué hay debajo. El SDK de canvas es experimental.</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8" name="Shape 498"/>
          <p:cNvSpPr/>
          <p:nvPr>
            <p:ph type="sldImg"/>
          </p:nvPr>
        </p:nvSpPr>
        <p:spPr>
          <a:prstGeom prst="rect">
            <a:avLst/>
          </a:prstGeom>
        </p:spPr>
        <p:txBody>
          <a:bodyPr/>
          <a:lstStyle/>
          <a:p>
            <a:pPr/>
          </a:p>
        </p:txBody>
      </p:sp>
      <p:sp>
        <p:nvSpPr>
          <p:cNvPr id="499" name="Shape 499"/>
          <p:cNvSpPr/>
          <p:nvPr>
            <p:ph type="body" sz="quarter" idx="1"/>
          </p:nvPr>
        </p:nvSpPr>
        <p:spPr>
          <a:prstGeom prst="rect">
            <a:avLst/>
          </a:prstGeom>
        </p:spPr>
        <p:txBody>
          <a:bodyPr/>
          <a:lstStyle/>
          <a:p>
            <a:pPr/>
            <a:r>
              <a:t>Un minuto y medio. A la izquierda, el contrato: open arranca la interfaz y devuelve su URL, y puede repetirse con el mismo instanceId, así que tiene que ser idempotente. actions son los verbos del agente: nómbralos como verbos. onClose limpia: cierra el servidor y libera lo que abriste. Tres identificadores que conviene no mezclar: canvasId es el tipo de canvas que declara la extensión, instanceId es el panel concreto que alguien abrió, y extensionId lo deriva Copilot del origen y el nombre. La descripción del canvas y la de cada acción son lo que lee el agente para decidir cuándo usarlo: son parte del diseño. Detrás del panel no hay ningún framework especial: un servidor HTTP de Node que sirve una página. Tres decisiones de seguridad: escuchar solo en 127.0.0.1, un puerto elegido por el sistema y un token aleatorio en la ruta, de modo que sin la URL completa todo responde 404. A la derecha, la dirección que hace especial a un canvas: la página no ejecuta las pruebas, hace un POST y la extensión llama a session.send. La interfaz se convierte en una forma de dirigir al agente. Reglas: los nombres de acción no pueden empezar por «canvas.» y los errores se lanzan con CanvasError y un código. El estado vive en memoria: si necesitas que sobreviva a la sesión, guárdalo en el directorio de trabajo de la sesión.</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6" name="Shape 516"/>
          <p:cNvSpPr/>
          <p:nvPr>
            <p:ph type="sldImg"/>
          </p:nvPr>
        </p:nvSpPr>
        <p:spPr>
          <a:prstGeom prst="rect">
            <a:avLst/>
          </a:prstGeom>
        </p:spPr>
        <p:txBody>
          <a:bodyPr/>
          <a:lstStyle/>
          <a:p>
            <a:pPr/>
          </a:p>
        </p:txBody>
      </p:sp>
      <p:sp>
        <p:nvSpPr>
          <p:cNvPr id="517" name="Shape 517"/>
          <p:cNvSpPr/>
          <p:nvPr>
            <p:ph type="body" sz="quarter" idx="1"/>
          </p:nvPr>
        </p:nvSpPr>
        <p:spPr>
          <a:prstGeom prst="rect">
            <a:avLst/>
          </a:prstGeom>
        </p:spPr>
        <p:txBody>
          <a:bodyPr/>
          <a:lstStyle/>
          <a:p>
            <a:pPr/>
            <a:r>
              <a:t>Pasos: 1. Abre una sesión nueva en el proyecto 08-canvas. 2. Pide el canvas con tres casos. 3. Añade tú un caso y marca otro a mano. 4. Pregunta «¿Cómo va el plan?». Demo 8, dos minutos. Las dos direcciones son lo importante. Del agente al canvas: add_case y set_status. De la persona al agente: tus clics cambian el estado que él lee. Hay una tercera: el botón «Ask Copilot to run it» llama a session.send desde la extensión, de modo que la interfaz dispara trabajo del agente. No lo pulses todavía: lo usamos en la demo siguiente. En qué fijarse en la captura: Tres llamadas: avalonia_project_info, list_canvas_capabilities y open_canvas. Los tres casos los creó el agente a partir del prompt y aparecen como Pending: el contador de arriba dice 3 cases, 0 passed, 0 failed, 3 pending. Todavía no se ha tocado nada a mano: cambia un estado y añade un caso en directo. Abajo, el botón azul Ask Copilot to run it. Respaldo de la demo 8. Ejecución real del canvas ui-test-plan. La primera llamada, avalonia_project_info, no estaba en el prompt: la provocó el hook de la extensión del paso anterior al ver la palabra canvas. Es un buen ejemplo de piezas que se combinan. En directo no aparece: la carpeta 08-canvas solo tiene el canvas. El contador de arriba se actualiza solo cuando cambias o añades casos.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9" name="Shape 539"/>
          <p:cNvSpPr/>
          <p:nvPr>
            <p:ph type="sldImg"/>
          </p:nvPr>
        </p:nvSpPr>
        <p:spPr>
          <a:prstGeom prst="rect">
            <a:avLst/>
          </a:prstGeom>
        </p:spPr>
        <p:txBody>
          <a:bodyPr/>
          <a:lstStyle/>
          <a:p>
            <a:pPr/>
          </a:p>
        </p:txBody>
      </p:sp>
      <p:sp>
        <p:nvSpPr>
          <p:cNvPr id="540" name="Shape 540"/>
          <p:cNvSpPr/>
          <p:nvPr>
            <p:ph type="body" sz="quarter" idx="1"/>
          </p:nvPr>
        </p:nvSpPr>
        <p:spPr>
          <a:prstGeom prst="rect">
            <a:avLst/>
          </a:prstGeom>
        </p:spPr>
        <p:txBody>
          <a:bodyPr/>
          <a:lstStyle/>
          <a:p>
            <a:pPr/>
            <a:r>
              <a:t>Un minuto y medio. Es un ejemplo, no el tema de la charla: sirve para ver hasta dónde llega un canvas cuando lo que hay detrás no es una lista sino un proceso externo complejo. En la captura se ve lo mismo que en la demo anterior: a la izquierda las llamadas «Invoke canvas action», a la derecha el panel con la interfaz. Es código abierto y cabe en un extension.mjs de 600 líneas más un host .NET. A la derecha de la slide, la arquitectura: la extensión no contiene la lógica, es un adaptador fino. Todo lo difícil vive en un proceso aparte con su propia API, y eso es una buena decisión de diseño por dos motivos. Primero, el SDK de canvas es experimental: si cambia, solo se reescribe el adaptador. Segundo, la misma API sirve para scripts y pruebas sin Copilot. El recorrido de una sola acción de punta a punta son cuatro saltos: el agente pide fill_control sobre NameBox, la extensión hace un POST a /api/input/fill_control, el host escribe en el TextBox real y vuelve filled.valueMatches: true, un resultado que se puede verificar. Cambia la app Avalonia por un emulador, un navegador, un dispositivo o un cuadro de mando y el patrón es idéntico.</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2" name="Shape 552"/>
          <p:cNvSpPr/>
          <p:nvPr>
            <p:ph type="sldImg"/>
          </p:nvPr>
        </p:nvSpPr>
        <p:spPr>
          <a:prstGeom prst="rect">
            <a:avLst/>
          </a:prstGeom>
        </p:spPr>
        <p:txBody>
          <a:bodyPr/>
          <a:lstStyle/>
          <a:p>
            <a:pPr/>
          </a:p>
        </p:txBody>
      </p:sp>
      <p:sp>
        <p:nvSpPr>
          <p:cNvPr id="553" name="Shape 553"/>
          <p:cNvSpPr/>
          <p:nvPr>
            <p:ph type="body" sz="quarter" idx="1"/>
          </p:nvPr>
        </p:nvSpPr>
        <p:spPr>
          <a:prstGeom prst="rect">
            <a:avLst/>
          </a:prstGeom>
        </p:spPr>
        <p:txBody>
          <a:bodyPr/>
          <a:lstStyle/>
          <a:p>
            <a:pPr/>
            <a:r>
              <a:t>Cuarenta segundos. Las mismas dos funciones que el canvas mínimo, en versión de producción. A la izquierda, open: en lugar de arrancar un servidor propio, lanza la app con una variable de entorno y espera a que imprima su URL. Antes de aceptarla comprueba que apunta a loopback. A la derecha, un patrón que merece copiarse: una función que fabrica acciones. Todas las acciones que modifican algo pasan por leasedAction, que exige tener el control y las encola para que se ejecuten en orden. Así la regla de seguridad está en un solo sitio y no depende de que cada acción se acuerde de comprobarla. Fíjate en que la descripción también lo dice: el agente lo lee antes de equivocarse.</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0" name="Shape 570"/>
          <p:cNvSpPr/>
          <p:nvPr>
            <p:ph type="sldImg"/>
          </p:nvPr>
        </p:nvSpPr>
        <p:spPr>
          <a:prstGeom prst="rect">
            <a:avLst/>
          </a:prstGeom>
        </p:spPr>
        <p:txBody>
          <a:bodyPr/>
          <a:lstStyle/>
          <a:p>
            <a:pPr/>
          </a:p>
        </p:txBody>
      </p:sp>
      <p:sp>
        <p:nvSpPr>
          <p:cNvPr id="571" name="Shape 571"/>
          <p:cNvSpPr/>
          <p:nvPr>
            <p:ph type="body" sz="quarter" idx="1"/>
          </p:nvPr>
        </p:nvSpPr>
        <p:spPr>
          <a:prstGeom prst="rect">
            <a:avLst/>
          </a:prstGeom>
        </p:spPr>
        <p:txBody>
          <a:bodyPr/>
          <a:lstStyle/>
          <a:p>
            <a:pPr/>
            <a:r>
              <a:t>Pasos: 1. Sesión nueva en el proyecto 09-real-canvas, con el agente por defecto. Abre el plan con el prompt de la demo 8 y lanza el prompt. 2. Señala el aviso del lease y pulsa Take back control. 3. En el plan de pruebas, pulsa «Ask Copilot to run it» (probado en la versión 1.1.30: el agente tarda unos 46 segundos y marca los tres casos como Passed). Demo 9, tres minutos: en la versión 1.1.30 el primer prompt tardó 34 segundos (en la 1.1.29, un minuto y medio) y la ejecución del plan 46. Es la única demo con dos canvas a la vez: el plan de pruebas de la demo 8 y la app. El tercer paso los une: la interfaz del plan le pide al agente que ejecute los casos contra la app y él va marcando cada uno. Ten la app compilada de antemano para que el arranque sea rápido. Plan B: arranca la app en modo canvas desde la terminal y abre en el navegador la URL que imprime. Plan C: los GIF de la carpeta images del repo. En qué fijarse en la captura: El aviso morado: Agent has control, con su motivo y el botón Take back control. La app aparece en el panel con el saludo ya pintado. En el chat, el agente preguntó el nombre con una tarjeta, porque el prompt dice «my name» y no lo sabe: respóndela. Si quieres evitar la pregunta, escribe el nombre en el prompt («enter the name Javier»). Respaldo de la demo 9. El agente abre el canvas, pregunta el nombre, rellena NameBox, pulsa GreetButton y lee el saludo desde GreetingText: Hello, Javier Suárez!. La pestaña del plan de pruebas sigue abierta al lado: son dos canvas en la misma sesión.</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5" name="Shape 585"/>
          <p:cNvSpPr/>
          <p:nvPr>
            <p:ph type="sldImg"/>
          </p:nvPr>
        </p:nvSpPr>
        <p:spPr>
          <a:prstGeom prst="rect">
            <a:avLst/>
          </a:prstGeom>
        </p:spPr>
        <p:txBody>
          <a:bodyPr/>
          <a:lstStyle/>
          <a:p>
            <a:pPr/>
          </a:p>
        </p:txBody>
      </p:sp>
      <p:sp>
        <p:nvSpPr>
          <p:cNvPr id="586" name="Shape 586"/>
          <p:cNvSpPr/>
          <p:nvPr>
            <p:ph type="body" sz="quarter" idx="1"/>
          </p:nvPr>
        </p:nvSpPr>
        <p:spPr>
          <a:prstGeom prst="rect">
            <a:avLst/>
          </a:prstGeom>
        </p:spPr>
        <p:txBody>
          <a:bodyPr/>
          <a:lstStyle/>
          <a:p>
            <a:pPr/>
            <a:r>
              <a:t>Respaldo del final de la demo 9, y la captura que mejor resume el bloque. El tercer mensaje de la sesión, «Run the test plan in canvas…», no lo escribió nadie: lo envió la extensión con session.send cuando se pulsó el botón azul «Ask Copilot to run it» (probado en la versión 1.1.30: el agente tardó 46 segundos). El agente leyó el plan con get_plan, usó el otro canvas para pulsar el contador, cambiar el tema a oscuro y hacer una captura, y anotó el resultado de cada caso con set_status. Las notas son evidencia concreta: el texto pasó de Clicked 0 times a Clicked 1 time y la captura mostró fondos oscuros con texto claro. Dos canvas de dos extensiones distintas colaborando sin conocerse.</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04" name="Shape 604"/>
          <p:cNvSpPr/>
          <p:nvPr>
            <p:ph type="sldImg"/>
          </p:nvPr>
        </p:nvSpPr>
        <p:spPr>
          <a:prstGeom prst="rect">
            <a:avLst/>
          </a:prstGeom>
        </p:spPr>
        <p:txBody>
          <a:bodyPr/>
          <a:lstStyle/>
          <a:p>
            <a:pPr/>
          </a:p>
        </p:txBody>
      </p:sp>
      <p:sp>
        <p:nvSpPr>
          <p:cNvPr id="605" name="Shape 605"/>
          <p:cNvSpPr/>
          <p:nvPr>
            <p:ph type="body" sz="quarter" idx="1"/>
          </p:nvPr>
        </p:nvSpPr>
        <p:spPr>
          <a:prstGeom prst="rect">
            <a:avLst/>
          </a:prstGeom>
        </p:spPr>
        <p:txBody>
          <a:bodyPr/>
          <a:lstStyle/>
          <a:p>
            <a:pPr/>
            <a:r>
              <a:t>Treinta segundos. Son lecciones generales, no de Avalonia. Control compartido: en copilot-avalonia es un lease de 120 segundos por defecto que pausa la entrada manual, y revocarlo no requiere permiso, así que el agente nunca puede dejarte fuera. Verificar: fill_control devuelve si el valor final coincide, y si una acción falla las que esperaban detrás se saltan. Limitar: JSON de 64 KiB, capturas de 80 MiB. Datos: la descripción del canvas le dice al agente que el contenido de la app no son instrucciones. Dos avisos prácticos: sesión nueva tras cada cambio de la extensión, y probar en la app, porque el modo prompt de la CLI 1.0.80 no expone las herramientas de canvas.</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19" name="Shape 619"/>
          <p:cNvSpPr/>
          <p:nvPr>
            <p:ph type="sldImg"/>
          </p:nvPr>
        </p:nvSpPr>
        <p:spPr>
          <a:prstGeom prst="rect">
            <a:avLst/>
          </a:prstGeom>
        </p:spPr>
        <p:txBody>
          <a:bodyPr/>
          <a:lstStyle/>
          <a:p>
            <a:pPr/>
          </a:p>
        </p:txBody>
      </p:sp>
      <p:sp>
        <p:nvSpPr>
          <p:cNvPr id="620" name="Shape 620"/>
          <p:cNvSpPr/>
          <p:nvPr>
            <p:ph type="body" sz="quarter" idx="1"/>
          </p:nvPr>
        </p:nvSpPr>
        <p:spPr>
          <a:prstGeom prst="rect">
            <a:avLst/>
          </a:prstGeom>
        </p:spPr>
        <p:txBody>
          <a:bodyPr/>
          <a:lstStyle/>
          <a:p>
            <a:pPr/>
            <a:r>
              <a:t>Un minuto. Todo lo que hemos hecho vive en un repo y solo sirve a quien trabaja en él. Un plugin lo saca de ahí: lo instalas una vez y lo tienes en todos tus proyectos, o lo repartes a otros equipos. Un marketplace es simplemente un repo con un marketplace.json que lista plugins. En copilot-avalonia el mismo repo es el plugin y su marketplace, y su plugin.json usa la clave extensions para repartir la extensión con canvas. Para probar el del kit en local no instales desde la carpeta (esa forma está obsoleta): añade el repo como marketplace con copilot plugin marketplace add . e instala con copilot plugin install avalonia-kit@devdays-sevilla. El plugin se carga en vivo desde la carpeta, sin copiar nada.</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7" name="Shape 637"/>
          <p:cNvSpPr/>
          <p:nvPr>
            <p:ph type="sldImg"/>
          </p:nvPr>
        </p:nvSpPr>
        <p:spPr>
          <a:prstGeom prst="rect">
            <a:avLst/>
          </a:prstGeom>
        </p:spPr>
        <p:txBody>
          <a:bodyPr/>
          <a:lstStyle/>
          <a:p>
            <a:pPr/>
          </a:p>
        </p:txBody>
      </p:sp>
      <p:sp>
        <p:nvSpPr>
          <p:cNvPr id="638" name="Shape 638"/>
          <p:cNvSpPr/>
          <p:nvPr>
            <p:ph type="body" sz="quarter" idx="1"/>
          </p:nvPr>
        </p:nvSpPr>
        <p:spPr>
          <a:prstGeom prst="rect">
            <a:avLst/>
          </a:prstGeom>
        </p:spPr>
        <p:txBody>
          <a:bodyPr/>
          <a:lstStyle/>
          <a:p>
            <a:pPr/>
            <a:r>
              <a:t>Pasos: 1. En una terminal, desde la carpeta del kit: copilot plugin marketplace add . y después copilot plugin install avalonia-kit@devdays-sevilla. 2. En la app, sesión nueva en un proyecto sin skills ni agentes (el proyecto 00-baseline): «Use the /avalonia-automation-ids skill to review src/SampleApp.» 3. Después, para el agente: «Use the avalonia-ui-tester agent to design the test plan for SampleApp's main screen, in English.» Demo 10, tres minutos: en la versión 1.1.30 la skill tardó 37 segundos (incluye una compilación) y el agente otros 37. El instalador dice Installed 1 skill porque solo cuenta skills: el agente también se carga, con el nombre avalonia-kit:avalonia-ui-tester, y la app lo ejecuta como subagente. Al terminar, restablece: copilot plugin uninstall avalonia-kit y copilot plugin marketplace remove devdays-sevilla. Requisito para el público: los repos jsuarezruiz/copilot-avalonia y del kit tienen que ser públicos en GitHub para que cualquiera pueda añadirlos como marketplace. En qué fijarse en la captura: Loaded skill avalonia-automation-ids aunque el repo no tiene ninguna skill: llegó con el plugin, que se carga en vivo desde la carpeta del kit. Sale la misma tabla de cinco MenuItem de la demo 2. Respaldo de la demo 10: la captura images/demo10-plugin-agent.png muestra el agente del plugin trabajando como subagente (unos 30 segundos). Un plugin instalado vale para todos los proyectos, no solo para el repo donde lo probaste.</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2" name="Shape 652"/>
          <p:cNvSpPr/>
          <p:nvPr>
            <p:ph type="sldImg"/>
          </p:nvPr>
        </p:nvSpPr>
        <p:spPr>
          <a:prstGeom prst="rect">
            <a:avLst/>
          </a:prstGeom>
        </p:spPr>
        <p:txBody>
          <a:bodyPr/>
          <a:lstStyle/>
          <a:p>
            <a:pPr/>
          </a:p>
        </p:txBody>
      </p:sp>
      <p:sp>
        <p:nvSpPr>
          <p:cNvPr id="653" name="Shape 653"/>
          <p:cNvSpPr/>
          <p:nvPr>
            <p:ph type="body" sz="quarter" idx="1"/>
          </p:nvPr>
        </p:nvSpPr>
        <p:spPr>
          <a:prstGeom prst="rect">
            <a:avLst/>
          </a:prstGeom>
        </p:spPr>
        <p:txBody>
          <a:bodyPr/>
          <a:lstStyle/>
          <a:p>
            <a:pPr/>
            <a:r>
              <a:t>Treinta segundos, y es el cierre narrativo de la charla. Volvemos al prompt opcional de la demo 0, el del botón Clear. Al principio el agente editaba el código y poco más. Ahora, con las piezas cargadas, sigue las normas del repo y además verifica el resultado en la app real, sin que nadie se lo explique en el prompt: escribió Ada, obtuvo Hello, Ada!, pulsó Clear y comprobó que los dos controles quedaban vacíos. Ninguna pieza por separado hace esto. Juntas, sí.</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9" name="Shape 669"/>
          <p:cNvSpPr/>
          <p:nvPr>
            <p:ph type="sldImg"/>
          </p:nvPr>
        </p:nvSpPr>
        <p:spPr>
          <a:prstGeom prst="rect">
            <a:avLst/>
          </a:prstGeom>
        </p:spPr>
        <p:txBody>
          <a:bodyPr/>
          <a:lstStyle/>
          <a:p>
            <a:pPr/>
          </a:p>
        </p:txBody>
      </p:sp>
      <p:sp>
        <p:nvSpPr>
          <p:cNvPr id="670" name="Shape 670"/>
          <p:cNvSpPr/>
          <p:nvPr>
            <p:ph type="body" sz="quarter" idx="1"/>
          </p:nvPr>
        </p:nvSpPr>
        <p:spPr>
          <a:prstGeom prst="rect">
            <a:avLst/>
          </a:prstGeom>
        </p:spPr>
        <p:txBody>
          <a:bodyPr/>
          <a:lstStyle/>
          <a:p>
            <a:pPr/>
            <a:r>
              <a:t>Un minuto, sin demo. Automatizaciones: están en la barra lateral de la app; son sesiones que se lanzan solas según un calendario y usan las mismas personalizaciones del repo. Copilot SDK: es el mismo paquete que usan las extensiones, pero desde fuera: tu programa arranca y dirige el agente. Hay SDK para Node, Python, Go, Rust y .NET. Políticas: en empresa, lo que un equipo puede instalar lo decide un administrador, y eso condiciona todo lo anterior.</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80" name="Shape 680"/>
          <p:cNvSpPr/>
          <p:nvPr>
            <p:ph type="sldImg"/>
          </p:nvPr>
        </p:nvSpPr>
        <p:spPr>
          <a:prstGeom prst="rect">
            <a:avLst/>
          </a:prstGeom>
        </p:spPr>
        <p:txBody>
          <a:bodyPr/>
          <a:lstStyle/>
          <a:p>
            <a:pPr/>
          </a:p>
        </p:txBody>
      </p:sp>
      <p:sp>
        <p:nvSpPr>
          <p:cNvPr id="681" name="Shape 681"/>
          <p:cNvSpPr/>
          <p:nvPr>
            <p:ph type="body" sz="quarter" idx="1"/>
          </p:nvPr>
        </p:nvSpPr>
        <p:spPr>
          <a:prstGeom prst="rect">
            <a:avLst/>
          </a:prstGeom>
        </p:spPr>
        <p:txBody>
          <a:bodyPr/>
          <a:lstStyle/>
          <a:p>
            <a:pPr/>
            <a:r>
              <a:t>Un minuto. Es la slide para la foto. Regla de uso: empieza por arriba y baja solo cuando la fila anterior se quede corta. La mayoría de equipos resuelve el ochenta por ciento con las tres primeras filas. Las combinaciones también cuentan: una skill que usa una herramienta MCP, un agente con un servidor propio, un canvas repartido en un plugin.</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7" name="Shape 697"/>
          <p:cNvSpPr/>
          <p:nvPr>
            <p:ph type="sldImg"/>
          </p:nvPr>
        </p:nvSpPr>
        <p:spPr>
          <a:prstGeom prst="rect">
            <a:avLst/>
          </a:prstGeom>
        </p:spPr>
        <p:txBody>
          <a:bodyPr/>
          <a:lstStyle/>
          <a:p>
            <a:pPr/>
          </a:p>
        </p:txBody>
      </p:sp>
      <p:sp>
        <p:nvSpPr>
          <p:cNvPr id="698" name="Shape 698"/>
          <p:cNvSpPr/>
          <p:nvPr>
            <p:ph type="body" sz="quarter" idx="1"/>
          </p:nvPr>
        </p:nvSpPr>
        <p:spPr>
          <a:prstGeom prst="rect">
            <a:avLst/>
          </a:prstGeom>
        </p:spPr>
        <p:txBody>
          <a:bodyPr/>
          <a:lstStyle/>
          <a:p>
            <a:pPr/>
            <a:r>
              <a:t>Cuarenta segundos. No es para asustar, es para usarlo con criterio. Las extensiones de .github/extensions son código que se ejecuta con tus permisos al abrir el proyecto. Los hooks también ejecutan comandos. Una skill o un plugin de terceros pueden traer instrucciones ocultas. Lo bueno es que todo es texto en un repo: se revisa en un pull request, se versiona y se puede auditar. En empresa, los administradores pueden limitar qué se instala.</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2" name="Shape 712"/>
          <p:cNvSpPr/>
          <p:nvPr>
            <p:ph type="sldImg"/>
          </p:nvPr>
        </p:nvSpPr>
        <p:spPr>
          <a:prstGeom prst="rect">
            <a:avLst/>
          </a:prstGeom>
        </p:spPr>
        <p:txBody>
          <a:bodyPr/>
          <a:lstStyle/>
          <a:p>
            <a:pPr/>
          </a:p>
        </p:txBody>
      </p:sp>
      <p:sp>
        <p:nvSpPr>
          <p:cNvPr id="713" name="Shape 713"/>
          <p:cNvSpPr/>
          <p:nvPr>
            <p:ph type="body" sz="quarter" idx="1"/>
          </p:nvPr>
        </p:nvSpPr>
        <p:spPr>
          <a:prstGeom prst="rect">
            <a:avLst/>
          </a:prstGeom>
        </p:spPr>
        <p:txBody>
          <a:bodyPr/>
          <a:lstStyle/>
          <a:p>
            <a:pPr/>
            <a:r>
              <a:t>Cierre en veinte segundos y cinco minutos de preguntas. Mensaje final: no hace falta escribir un canvas para sacar partido a la extensibilidad. El mayor retorno está en los primeros escalones. Preguntas frecuentes para tener preparadas: diferencia entre MCP y extensiones, si esto vale también en VS Code y en la CLI, cuánto contexto consumen las instrucciones, y qué es estable y qué experimental (extensiones y canvas son experimentales).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body">
    <p:spTree>
      <p:nvGrpSpPr>
        <p:cNvPr id="1" name=""/>
        <p:cNvGrpSpPr/>
        <p:nvPr/>
      </p:nvGrpSpPr>
      <p:grpSpPr>
        <a:xfrm>
          <a:off x="0" y="0"/>
          <a:ext cx="0" cy="0"/>
          <a:chOff x="0" y="0"/>
          <a:chExt cx="0" cy="0"/>
        </a:xfrm>
      </p:grpSpPr>
      <p:sp>
        <p:nvSpPr>
          <p:cNvPr id="18" name="Title Text"/>
          <p:cNvSpPr txBox="1"/>
          <p:nvPr>
            <p:ph type="title"/>
          </p:nvPr>
        </p:nvSpPr>
        <p:spPr>
          <a:xfrm>
            <a:off x="812800" y="1127720"/>
            <a:ext cx="10566400" cy="447031"/>
          </a:xfrm>
          <a:prstGeom prst="rect">
            <a:avLst/>
          </a:prstGeom>
        </p:spPr>
        <p:txBody>
          <a:bodyPr>
            <a:normAutofit fontScale="100000" lnSpcReduction="0"/>
          </a:bodyPr>
          <a:lstStyle/>
          <a:p>
            <a:pPr/>
            <a:r>
              <a:t>Title Text</a:t>
            </a:r>
          </a:p>
        </p:txBody>
      </p:sp>
      <p:sp>
        <p:nvSpPr>
          <p:cNvPr id="19" name="Body Level One…"/>
          <p:cNvSpPr txBox="1"/>
          <p:nvPr>
            <p:ph type="body" idx="1"/>
          </p:nvPr>
        </p:nvSpPr>
        <p:spPr>
          <a:xfrm>
            <a:off x="812800" y="1879550"/>
            <a:ext cx="10566400" cy="4165650"/>
          </a:xfrm>
          <a:prstGeom prst="rect">
            <a:avLst/>
          </a:prstGeom>
        </p:spPr>
        <p:txBody>
          <a:bodyP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2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10141F"/>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274637"/>
            <a:ext cx="10972800" cy="1325564"/>
          </a:xfrm>
          <a:prstGeom prst="rect">
            <a:avLst/>
          </a:prstGeom>
          <a:ln w="12700">
            <a:miter lim="400000"/>
          </a:ln>
          <a:extLst>
            <a:ext uri="{C572A759-6A51-4108-AA02-DFA0A04FC94B}">
              <ma14:wrappingTextBoxFlag xmlns:ma14="http://schemas.microsoft.com/office/mac/drawingml/2011/main" val="1"/>
            </a:ext>
          </a:extLst>
        </p:spPr>
        <p:txBody>
          <a:bodyPr lIns="0" tIns="0" rIns="0" bIns="0"/>
          <a:lstStyle/>
          <a:p>
            <a:pPr/>
            <a:r>
              <a:t>Title Text</a:t>
            </a:r>
          </a:p>
        </p:txBody>
      </p:sp>
      <p:sp>
        <p:nvSpPr>
          <p:cNvPr id="3"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0" tIns="0" rIns="0" bIns="0"/>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solidFill>
                  <a:srgbClr val="EEF0F4"/>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transition xmlns:p14="http://schemas.microsoft.com/office/powerpoint/2010/main" spd="med" advClick="1"/>
  <p:txStyles>
    <p:titleStyle>
      <a:lvl1pPr marL="0" marR="0" indent="0" algn="l" defTabSz="914400" rtl="0" latinLnBrk="0">
        <a:lnSpc>
          <a:spcPct val="115000"/>
        </a:lnSpc>
        <a:spcBef>
          <a:spcPts val="0"/>
        </a:spcBef>
        <a:spcAft>
          <a:spcPts val="0"/>
        </a:spcAft>
        <a:buClrTx/>
        <a:buSzTx/>
        <a:buFontTx/>
        <a:buNone/>
        <a:tabLst/>
        <a:defRPr b="0" baseline="0" cap="none" i="0" spc="0" strike="noStrike" sz="3200" u="none">
          <a:solidFill>
            <a:srgbClr val="EEF0F4"/>
          </a:solidFill>
          <a:uFillTx/>
          <a:latin typeface="Space Grotesk"/>
          <a:ea typeface="Space Grotesk"/>
          <a:cs typeface="Space Grotesk"/>
          <a:sym typeface="Space Grotesk"/>
        </a:defRPr>
      </a:lvl1pPr>
      <a:lvl2pPr marL="0" marR="0" indent="0" algn="l" defTabSz="914400" rtl="0" latinLnBrk="0">
        <a:lnSpc>
          <a:spcPct val="115000"/>
        </a:lnSpc>
        <a:spcBef>
          <a:spcPts val="0"/>
        </a:spcBef>
        <a:spcAft>
          <a:spcPts val="0"/>
        </a:spcAft>
        <a:buClrTx/>
        <a:buSzTx/>
        <a:buFontTx/>
        <a:buNone/>
        <a:tabLst/>
        <a:defRPr b="0" baseline="0" cap="none" i="0" spc="0" strike="noStrike" sz="3200" u="none">
          <a:solidFill>
            <a:srgbClr val="EEF0F4"/>
          </a:solidFill>
          <a:uFillTx/>
          <a:latin typeface="Space Grotesk"/>
          <a:ea typeface="Space Grotesk"/>
          <a:cs typeface="Space Grotesk"/>
          <a:sym typeface="Space Grotesk"/>
        </a:defRPr>
      </a:lvl2pPr>
      <a:lvl3pPr marL="0" marR="0" indent="0" algn="l" defTabSz="914400" rtl="0" latinLnBrk="0">
        <a:lnSpc>
          <a:spcPct val="115000"/>
        </a:lnSpc>
        <a:spcBef>
          <a:spcPts val="0"/>
        </a:spcBef>
        <a:spcAft>
          <a:spcPts val="0"/>
        </a:spcAft>
        <a:buClrTx/>
        <a:buSzTx/>
        <a:buFontTx/>
        <a:buNone/>
        <a:tabLst/>
        <a:defRPr b="0" baseline="0" cap="none" i="0" spc="0" strike="noStrike" sz="3200" u="none">
          <a:solidFill>
            <a:srgbClr val="EEF0F4"/>
          </a:solidFill>
          <a:uFillTx/>
          <a:latin typeface="Space Grotesk"/>
          <a:ea typeface="Space Grotesk"/>
          <a:cs typeface="Space Grotesk"/>
          <a:sym typeface="Space Grotesk"/>
        </a:defRPr>
      </a:lvl3pPr>
      <a:lvl4pPr marL="0" marR="0" indent="0" algn="l" defTabSz="914400" rtl="0" latinLnBrk="0">
        <a:lnSpc>
          <a:spcPct val="115000"/>
        </a:lnSpc>
        <a:spcBef>
          <a:spcPts val="0"/>
        </a:spcBef>
        <a:spcAft>
          <a:spcPts val="0"/>
        </a:spcAft>
        <a:buClrTx/>
        <a:buSzTx/>
        <a:buFontTx/>
        <a:buNone/>
        <a:tabLst/>
        <a:defRPr b="0" baseline="0" cap="none" i="0" spc="0" strike="noStrike" sz="3200" u="none">
          <a:solidFill>
            <a:srgbClr val="EEF0F4"/>
          </a:solidFill>
          <a:uFillTx/>
          <a:latin typeface="Space Grotesk"/>
          <a:ea typeface="Space Grotesk"/>
          <a:cs typeface="Space Grotesk"/>
          <a:sym typeface="Space Grotesk"/>
        </a:defRPr>
      </a:lvl4pPr>
      <a:lvl5pPr marL="0" marR="0" indent="0" algn="l" defTabSz="914400" rtl="0" latinLnBrk="0">
        <a:lnSpc>
          <a:spcPct val="115000"/>
        </a:lnSpc>
        <a:spcBef>
          <a:spcPts val="0"/>
        </a:spcBef>
        <a:spcAft>
          <a:spcPts val="0"/>
        </a:spcAft>
        <a:buClrTx/>
        <a:buSzTx/>
        <a:buFontTx/>
        <a:buNone/>
        <a:tabLst/>
        <a:defRPr b="0" baseline="0" cap="none" i="0" spc="0" strike="noStrike" sz="3200" u="none">
          <a:solidFill>
            <a:srgbClr val="EEF0F4"/>
          </a:solidFill>
          <a:uFillTx/>
          <a:latin typeface="Space Grotesk"/>
          <a:ea typeface="Space Grotesk"/>
          <a:cs typeface="Space Grotesk"/>
          <a:sym typeface="Space Grotesk"/>
        </a:defRPr>
      </a:lvl5pPr>
      <a:lvl6pPr marL="0" marR="0" indent="0" algn="l" defTabSz="914400" rtl="0" latinLnBrk="0">
        <a:lnSpc>
          <a:spcPct val="115000"/>
        </a:lnSpc>
        <a:spcBef>
          <a:spcPts val="0"/>
        </a:spcBef>
        <a:spcAft>
          <a:spcPts val="0"/>
        </a:spcAft>
        <a:buClrTx/>
        <a:buSzTx/>
        <a:buFontTx/>
        <a:buNone/>
        <a:tabLst/>
        <a:defRPr b="0" baseline="0" cap="none" i="0" spc="0" strike="noStrike" sz="3200" u="none">
          <a:solidFill>
            <a:srgbClr val="EEF0F4"/>
          </a:solidFill>
          <a:uFillTx/>
          <a:latin typeface="Space Grotesk"/>
          <a:ea typeface="Space Grotesk"/>
          <a:cs typeface="Space Grotesk"/>
          <a:sym typeface="Space Grotesk"/>
        </a:defRPr>
      </a:lvl6pPr>
      <a:lvl7pPr marL="0" marR="0" indent="0" algn="l" defTabSz="914400" rtl="0" latinLnBrk="0">
        <a:lnSpc>
          <a:spcPct val="115000"/>
        </a:lnSpc>
        <a:spcBef>
          <a:spcPts val="0"/>
        </a:spcBef>
        <a:spcAft>
          <a:spcPts val="0"/>
        </a:spcAft>
        <a:buClrTx/>
        <a:buSzTx/>
        <a:buFontTx/>
        <a:buNone/>
        <a:tabLst/>
        <a:defRPr b="0" baseline="0" cap="none" i="0" spc="0" strike="noStrike" sz="3200" u="none">
          <a:solidFill>
            <a:srgbClr val="EEF0F4"/>
          </a:solidFill>
          <a:uFillTx/>
          <a:latin typeface="Space Grotesk"/>
          <a:ea typeface="Space Grotesk"/>
          <a:cs typeface="Space Grotesk"/>
          <a:sym typeface="Space Grotesk"/>
        </a:defRPr>
      </a:lvl7pPr>
      <a:lvl8pPr marL="0" marR="0" indent="0" algn="l" defTabSz="914400" rtl="0" latinLnBrk="0">
        <a:lnSpc>
          <a:spcPct val="115000"/>
        </a:lnSpc>
        <a:spcBef>
          <a:spcPts val="0"/>
        </a:spcBef>
        <a:spcAft>
          <a:spcPts val="0"/>
        </a:spcAft>
        <a:buClrTx/>
        <a:buSzTx/>
        <a:buFontTx/>
        <a:buNone/>
        <a:tabLst/>
        <a:defRPr b="0" baseline="0" cap="none" i="0" spc="0" strike="noStrike" sz="3200" u="none">
          <a:solidFill>
            <a:srgbClr val="EEF0F4"/>
          </a:solidFill>
          <a:uFillTx/>
          <a:latin typeface="Space Grotesk"/>
          <a:ea typeface="Space Grotesk"/>
          <a:cs typeface="Space Grotesk"/>
          <a:sym typeface="Space Grotesk"/>
        </a:defRPr>
      </a:lvl8pPr>
      <a:lvl9pPr marL="0" marR="0" indent="0" algn="l" defTabSz="914400" rtl="0" latinLnBrk="0">
        <a:lnSpc>
          <a:spcPct val="115000"/>
        </a:lnSpc>
        <a:spcBef>
          <a:spcPts val="0"/>
        </a:spcBef>
        <a:spcAft>
          <a:spcPts val="0"/>
        </a:spcAft>
        <a:buClrTx/>
        <a:buSzTx/>
        <a:buFontTx/>
        <a:buNone/>
        <a:tabLst/>
        <a:defRPr b="0" baseline="0" cap="none" i="0" spc="0" strike="noStrike" sz="3200" u="none">
          <a:solidFill>
            <a:srgbClr val="EEF0F4"/>
          </a:solidFill>
          <a:uFillTx/>
          <a:latin typeface="Space Grotesk"/>
          <a:ea typeface="Space Grotesk"/>
          <a:cs typeface="Space Grotesk"/>
          <a:sym typeface="Space Grotesk"/>
        </a:defRPr>
      </a:lvl9pPr>
    </p:titleStyle>
    <p:bodyStyle>
      <a:lvl1pPr marL="0" marR="0" indent="0" algn="l" defTabSz="914400" rtl="0" latinLnBrk="0">
        <a:lnSpc>
          <a:spcPct val="140000"/>
        </a:lnSpc>
        <a:spcBef>
          <a:spcPts val="300"/>
        </a:spcBef>
        <a:spcAft>
          <a:spcPts val="0"/>
        </a:spcAft>
        <a:buClrTx/>
        <a:buSzTx/>
        <a:buFontTx/>
        <a:buNone/>
        <a:tabLst/>
        <a:defRPr b="0" baseline="0" cap="none" i="0" spc="0" strike="noStrike" sz="1600" u="none">
          <a:solidFill>
            <a:srgbClr val="EEF0F4"/>
          </a:solidFill>
          <a:uFillTx/>
          <a:latin typeface="+mj-lt"/>
          <a:ea typeface="+mj-ea"/>
          <a:cs typeface="+mj-cs"/>
          <a:sym typeface="IBM Plex Sans"/>
        </a:defRPr>
      </a:lvl1pPr>
      <a:lvl2pPr marL="620485" marR="0" indent="-163285" algn="l" defTabSz="914400" rtl="0" latinLnBrk="0">
        <a:lnSpc>
          <a:spcPct val="140000"/>
        </a:lnSpc>
        <a:spcBef>
          <a:spcPts val="300"/>
        </a:spcBef>
        <a:spcAft>
          <a:spcPts val="0"/>
        </a:spcAft>
        <a:buClrTx/>
        <a:buSzPct val="100000"/>
        <a:buFontTx/>
        <a:buChar char="–"/>
        <a:tabLst/>
        <a:defRPr b="0" baseline="0" cap="none" i="0" spc="0" strike="noStrike" sz="1600" u="none">
          <a:solidFill>
            <a:srgbClr val="EEF0F4"/>
          </a:solidFill>
          <a:uFillTx/>
          <a:latin typeface="+mj-lt"/>
          <a:ea typeface="+mj-ea"/>
          <a:cs typeface="+mj-cs"/>
          <a:sym typeface="IBM Plex Sans"/>
        </a:defRPr>
      </a:lvl2pPr>
      <a:lvl3pPr marL="1066800" marR="0" indent="-152400" algn="l" defTabSz="914400" rtl="0" latinLnBrk="0">
        <a:lnSpc>
          <a:spcPct val="140000"/>
        </a:lnSpc>
        <a:spcBef>
          <a:spcPts val="300"/>
        </a:spcBef>
        <a:spcAft>
          <a:spcPts val="0"/>
        </a:spcAft>
        <a:buClrTx/>
        <a:buSzPct val="100000"/>
        <a:buFontTx/>
        <a:buChar char="•"/>
        <a:tabLst/>
        <a:defRPr b="0" baseline="0" cap="none" i="0" spc="0" strike="noStrike" sz="1600" u="none">
          <a:solidFill>
            <a:srgbClr val="EEF0F4"/>
          </a:solidFill>
          <a:uFillTx/>
          <a:latin typeface="+mj-lt"/>
          <a:ea typeface="+mj-ea"/>
          <a:cs typeface="+mj-cs"/>
          <a:sym typeface="IBM Plex Sans"/>
        </a:defRPr>
      </a:lvl3pPr>
      <a:lvl4pPr marL="1554480" marR="0" indent="-182880" algn="l" defTabSz="914400" rtl="0" latinLnBrk="0">
        <a:lnSpc>
          <a:spcPct val="140000"/>
        </a:lnSpc>
        <a:spcBef>
          <a:spcPts val="300"/>
        </a:spcBef>
        <a:spcAft>
          <a:spcPts val="0"/>
        </a:spcAft>
        <a:buClrTx/>
        <a:buSzPct val="100000"/>
        <a:buFontTx/>
        <a:buChar char="–"/>
        <a:tabLst/>
        <a:defRPr b="0" baseline="0" cap="none" i="0" spc="0" strike="noStrike" sz="1600" u="none">
          <a:solidFill>
            <a:srgbClr val="EEF0F4"/>
          </a:solidFill>
          <a:uFillTx/>
          <a:latin typeface="+mj-lt"/>
          <a:ea typeface="+mj-ea"/>
          <a:cs typeface="+mj-cs"/>
          <a:sym typeface="IBM Plex Sans"/>
        </a:defRPr>
      </a:lvl4pPr>
      <a:lvl5pPr marL="2011679" marR="0" indent="-182879" algn="l" defTabSz="914400" rtl="0" latinLnBrk="0">
        <a:lnSpc>
          <a:spcPct val="140000"/>
        </a:lnSpc>
        <a:spcBef>
          <a:spcPts val="300"/>
        </a:spcBef>
        <a:spcAft>
          <a:spcPts val="0"/>
        </a:spcAft>
        <a:buClrTx/>
        <a:buSzPct val="100000"/>
        <a:buFontTx/>
        <a:buChar char="»"/>
        <a:tabLst/>
        <a:defRPr b="0" baseline="0" cap="none" i="0" spc="0" strike="noStrike" sz="1600" u="none">
          <a:solidFill>
            <a:srgbClr val="EEF0F4"/>
          </a:solidFill>
          <a:uFillTx/>
          <a:latin typeface="+mj-lt"/>
          <a:ea typeface="+mj-ea"/>
          <a:cs typeface="+mj-cs"/>
          <a:sym typeface="IBM Plex Sans"/>
        </a:defRPr>
      </a:lvl5pPr>
      <a:lvl6pPr marL="2468879" marR="0" indent="-182879" algn="l" defTabSz="914400" rtl="0" latinLnBrk="0">
        <a:lnSpc>
          <a:spcPct val="140000"/>
        </a:lnSpc>
        <a:spcBef>
          <a:spcPts val="300"/>
        </a:spcBef>
        <a:spcAft>
          <a:spcPts val="0"/>
        </a:spcAft>
        <a:buClrTx/>
        <a:buSzPct val="100000"/>
        <a:buFontTx/>
        <a:buChar char="•"/>
        <a:tabLst/>
        <a:defRPr b="0" baseline="0" cap="none" i="0" spc="0" strike="noStrike" sz="1600" u="none">
          <a:solidFill>
            <a:srgbClr val="EEF0F4"/>
          </a:solidFill>
          <a:uFillTx/>
          <a:latin typeface="+mj-lt"/>
          <a:ea typeface="+mj-ea"/>
          <a:cs typeface="+mj-cs"/>
          <a:sym typeface="IBM Plex Sans"/>
        </a:defRPr>
      </a:lvl6pPr>
      <a:lvl7pPr marL="2926079" marR="0" indent="-182879" algn="l" defTabSz="914400" rtl="0" latinLnBrk="0">
        <a:lnSpc>
          <a:spcPct val="140000"/>
        </a:lnSpc>
        <a:spcBef>
          <a:spcPts val="300"/>
        </a:spcBef>
        <a:spcAft>
          <a:spcPts val="0"/>
        </a:spcAft>
        <a:buClrTx/>
        <a:buSzPct val="100000"/>
        <a:buFontTx/>
        <a:buChar char="•"/>
        <a:tabLst/>
        <a:defRPr b="0" baseline="0" cap="none" i="0" spc="0" strike="noStrike" sz="1600" u="none">
          <a:solidFill>
            <a:srgbClr val="EEF0F4"/>
          </a:solidFill>
          <a:uFillTx/>
          <a:latin typeface="+mj-lt"/>
          <a:ea typeface="+mj-ea"/>
          <a:cs typeface="+mj-cs"/>
          <a:sym typeface="IBM Plex Sans"/>
        </a:defRPr>
      </a:lvl7pPr>
      <a:lvl8pPr marL="3383279" marR="0" indent="-182879" algn="l" defTabSz="914400" rtl="0" latinLnBrk="0">
        <a:lnSpc>
          <a:spcPct val="140000"/>
        </a:lnSpc>
        <a:spcBef>
          <a:spcPts val="300"/>
        </a:spcBef>
        <a:spcAft>
          <a:spcPts val="0"/>
        </a:spcAft>
        <a:buClrTx/>
        <a:buSzPct val="100000"/>
        <a:buFontTx/>
        <a:buChar char="•"/>
        <a:tabLst/>
        <a:defRPr b="0" baseline="0" cap="none" i="0" spc="0" strike="noStrike" sz="1600" u="none">
          <a:solidFill>
            <a:srgbClr val="EEF0F4"/>
          </a:solidFill>
          <a:uFillTx/>
          <a:latin typeface="+mj-lt"/>
          <a:ea typeface="+mj-ea"/>
          <a:cs typeface="+mj-cs"/>
          <a:sym typeface="IBM Plex Sans"/>
        </a:defRPr>
      </a:lvl8pPr>
      <a:lvl9pPr marL="3840479" marR="0" indent="-182879" algn="l" defTabSz="914400" rtl="0" latinLnBrk="0">
        <a:lnSpc>
          <a:spcPct val="140000"/>
        </a:lnSpc>
        <a:spcBef>
          <a:spcPts val="300"/>
        </a:spcBef>
        <a:spcAft>
          <a:spcPts val="0"/>
        </a:spcAft>
        <a:buClrTx/>
        <a:buSzPct val="100000"/>
        <a:buFontTx/>
        <a:buChar char="•"/>
        <a:tabLst/>
        <a:defRPr b="0" baseline="0" cap="none" i="0" spc="0" strike="noStrike" sz="1600" u="none">
          <a:solidFill>
            <a:srgbClr val="EEF0F4"/>
          </a:solidFill>
          <a:uFillTx/>
          <a:latin typeface="+mj-lt"/>
          <a:ea typeface="+mj-ea"/>
          <a:cs typeface="+mj-cs"/>
          <a:sym typeface="IBM Plex Sans"/>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IBM Plex Sans"/>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IBM Plex Sans"/>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IBM Plex Sans"/>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IBM Plex Sans"/>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IBM Plex Sans"/>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IBM Plex Sans"/>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IBM Plex Sans"/>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IBM Plex Sans"/>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IBM Plex San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4.png"/></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5.png"/></Relationships>

</file>

<file path=ppt/slides/_rels/slide3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jpeg"/></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6.png"/></Relationships>

</file>

<file path=ppt/slides/_rels/slide3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7.png"/></Relationships>

</file>

<file path=ppt/slides/_rels/slide3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8.png"/></Relationships>

</file>

<file path=ppt/slides/_rels/slide3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9.png"/></Relationships>

</file>

<file path=ppt/slides/_rels/slide3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9" name="Image 0" descr="Image 0"/>
          <p:cNvPicPr>
            <a:picLocks noChangeAspect="1"/>
          </p:cNvPicPr>
          <p:nvPr/>
        </p:nvPicPr>
        <p:blipFill>
          <a:blip r:embed="rId3">
            <a:extLst/>
          </a:blip>
          <a:stretch>
            <a:fillRect/>
          </a:stretch>
        </p:blipFill>
        <p:spPr>
          <a:xfrm>
            <a:off x="7315200" y="5518439"/>
            <a:ext cx="4064000" cy="526472"/>
          </a:xfrm>
          <a:prstGeom prst="rect">
            <a:avLst/>
          </a:prstGeom>
          <a:ln w="12700">
            <a:miter lim="400000"/>
          </a:ln>
        </p:spPr>
      </p:pic>
      <p:sp>
        <p:nvSpPr>
          <p:cNvPr id="30"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2"/>
                </a:solidFill>
              </a:defRPr>
            </a:lvl1pPr>
          </a:lstStyle>
          <a:p>
            <a:pPr/>
            <a:r>
              <a:t>CHARLA · 45 MINUTOS</a:t>
            </a:r>
          </a:p>
        </p:txBody>
      </p:sp>
      <p:sp>
        <p:nvSpPr>
          <p:cNvPr id="31" name="Text 1"/>
          <p:cNvSpPr txBox="1"/>
          <p:nvPr>
            <p:ph type="title"/>
          </p:nvPr>
        </p:nvSpPr>
        <p:spPr>
          <a:xfrm>
            <a:off x="812799" y="1959669"/>
            <a:ext cx="10883394" cy="1518842"/>
          </a:xfrm>
          <a:prstGeom prst="rect">
            <a:avLst/>
          </a:prstGeom>
        </p:spPr>
        <p:txBody>
          <a:bodyPr/>
          <a:lstStyle/>
          <a:p>
            <a:pPr>
              <a:lnSpc>
                <a:spcPts val="5800"/>
              </a:lnSpc>
              <a:defRPr b="1" sz="5600"/>
            </a:pPr>
            <a:r>
              <a:t>Extendiendo</a:t>
            </a:r>
          </a:p>
          <a:p>
            <a:pPr>
              <a:lnSpc>
                <a:spcPts val="5800"/>
              </a:lnSpc>
              <a:defRPr b="1" sz="5600"/>
            </a:pPr>
            <a:r>
              <a:t>GitHub Copilot App</a:t>
            </a:r>
          </a:p>
        </p:txBody>
      </p:sp>
      <p:sp>
        <p:nvSpPr>
          <p:cNvPr id="32" name="Text 2"/>
          <p:cNvSpPr txBox="1"/>
          <p:nvPr/>
        </p:nvSpPr>
        <p:spPr>
          <a:xfrm>
            <a:off x="812800" y="3656310"/>
            <a:ext cx="6802119" cy="685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600"/>
              </a:lnSpc>
              <a:defRPr sz="2000">
                <a:solidFill>
                  <a:srgbClr val="A9B4C6"/>
                </a:solidFill>
              </a:defRPr>
            </a:lvl1pPr>
          </a:lstStyle>
          <a:p>
            <a:pPr/>
            <a:r>
              <a:t>Todos los puntos de extensión, de las instrucciones a los plugins, con una demo de cada uno.</a:t>
            </a:r>
          </a:p>
        </p:txBody>
      </p:sp>
      <p:sp>
        <p:nvSpPr>
          <p:cNvPr id="33" name="Text 3"/>
          <p:cNvSpPr txBox="1"/>
          <p:nvPr/>
        </p:nvSpPr>
        <p:spPr>
          <a:xfrm>
            <a:off x="812799" y="5250258"/>
            <a:ext cx="10883394"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b="1" sz="1500">
                <a:solidFill>
                  <a:srgbClr val="EEF0F4"/>
                </a:solidFill>
              </a:defRPr>
            </a:lvl1pPr>
          </a:lstStyle>
          <a:p>
            <a:pPr/>
            <a:r>
              <a:t>Javier Suárez Ruiz</a:t>
            </a:r>
          </a:p>
        </p:txBody>
      </p:sp>
      <p:sp>
        <p:nvSpPr>
          <p:cNvPr id="34" name="Text 4"/>
          <p:cNvSpPr txBox="1"/>
          <p:nvPr/>
        </p:nvSpPr>
        <p:spPr>
          <a:xfrm>
            <a:off x="812799" y="5567758"/>
            <a:ext cx="10883394"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A9B4C6"/>
                </a:solidFill>
              </a:defRPr>
            </a:lvl1pPr>
          </a:lstStyle>
          <a:p>
            <a:pPr/>
            <a:r>
              <a:t>GitHub Copilot DevDays Sevilla · SevillaDotNet</a:t>
            </a:r>
          </a:p>
        </p:txBody>
      </p:sp>
      <p:sp>
        <p:nvSpPr>
          <p:cNvPr id="35" name="Text 5"/>
          <p:cNvSpPr txBox="1"/>
          <p:nvPr/>
        </p:nvSpPr>
        <p:spPr>
          <a:xfrm>
            <a:off x="812799" y="5831880"/>
            <a:ext cx="10883394"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A9B4C6"/>
                </a:solidFill>
              </a:defRPr>
            </a:lvl1pPr>
          </a:lstStyle>
          <a:p>
            <a:pPr/>
            <a:r>
              <a:t>Miércoles, 28 de octubre de 2026 · espacio_RES, Sevilla</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2"/>
                </a:solidFill>
              </a:defRPr>
            </a:lvl1pPr>
          </a:lstStyle>
          <a:p>
            <a:pPr/>
            <a:r>
              <a:t>SOBRE MÍ</a:t>
            </a:r>
          </a:p>
        </p:txBody>
      </p:sp>
      <p:sp>
        <p:nvSpPr>
          <p:cNvPr id="40" name="Text 1"/>
          <p:cNvSpPr txBox="1"/>
          <p:nvPr>
            <p:ph type="title"/>
          </p:nvPr>
        </p:nvSpPr>
        <p:spPr>
          <a:xfrm>
            <a:off x="812799" y="1127720"/>
            <a:ext cx="10883394" cy="472430"/>
          </a:xfrm>
          <a:prstGeom prst="rect">
            <a:avLst/>
          </a:prstGeom>
        </p:spPr>
        <p:txBody>
          <a:bodyPr/>
          <a:lstStyle>
            <a:lvl1pPr>
              <a:lnSpc>
                <a:spcPts val="3500"/>
              </a:lnSpc>
              <a:defRPr b="1"/>
            </a:lvl1pPr>
          </a:lstStyle>
          <a:p>
            <a:pPr/>
            <a:r>
              <a:t>Javier Suárez Ruiz</a:t>
            </a:r>
          </a:p>
        </p:txBody>
      </p:sp>
      <p:pic>
        <p:nvPicPr>
          <p:cNvPr id="41" name="Image 0" descr="Image 0"/>
          <p:cNvPicPr>
            <a:picLocks noChangeAspect="1"/>
          </p:cNvPicPr>
          <p:nvPr/>
        </p:nvPicPr>
        <p:blipFill>
          <a:blip r:embed="rId3">
            <a:extLst/>
          </a:blip>
          <a:srcRect l="0" t="0" r="0" b="0"/>
          <a:stretch>
            <a:fillRect/>
          </a:stretch>
        </p:blipFill>
        <p:spPr>
          <a:xfrm>
            <a:off x="838200" y="1904950"/>
            <a:ext cx="3251200" cy="32512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31"/>
                </a:moveTo>
                <a:lnTo>
                  <a:pt x="21600" y="10969"/>
                </a:lnTo>
                <a:cubicBezTo>
                  <a:pt x="21600" y="16840"/>
                  <a:pt x="16840" y="21600"/>
                  <a:pt x="10969" y="21600"/>
                </a:cubicBezTo>
                <a:lnTo>
                  <a:pt x="10631" y="21600"/>
                </a:lnTo>
                <a:cubicBezTo>
                  <a:pt x="4760" y="21600"/>
                  <a:pt x="0" y="16840"/>
                  <a:pt x="0" y="10969"/>
                </a:cubicBezTo>
                <a:lnTo>
                  <a:pt x="0" y="10631"/>
                </a:lnTo>
                <a:lnTo>
                  <a:pt x="55" y="9544"/>
                </a:lnTo>
                <a:cubicBezTo>
                  <a:pt x="599" y="4183"/>
                  <a:pt x="5127" y="0"/>
                  <a:pt x="10631" y="0"/>
                </a:cubicBezTo>
                <a:lnTo>
                  <a:pt x="10969" y="0"/>
                </a:lnTo>
                <a:cubicBezTo>
                  <a:pt x="16840" y="0"/>
                  <a:pt x="21600" y="4760"/>
                  <a:pt x="21600" y="10631"/>
                </a:cubicBezTo>
                <a:close/>
              </a:path>
            </a:pathLst>
          </a:custGeom>
          <a:ln w="12700">
            <a:miter lim="400000"/>
          </a:ln>
        </p:spPr>
      </p:pic>
      <p:sp>
        <p:nvSpPr>
          <p:cNvPr id="42" name="Shape 2"/>
          <p:cNvSpPr/>
          <p:nvPr/>
        </p:nvSpPr>
        <p:spPr>
          <a:xfrm>
            <a:off x="825500" y="1892250"/>
            <a:ext cx="3276600" cy="3276601"/>
          </a:xfrm>
          <a:prstGeom prst="roundRect">
            <a:avLst>
              <a:gd name="adj" fmla="val 49225"/>
            </a:avLst>
          </a:prstGeom>
          <a:ln w="25400">
            <a:solidFill>
              <a:srgbClr val="2B3550"/>
            </a:solidFill>
          </a:ln>
        </p:spPr>
        <p:txBody>
          <a:bodyPr lIns="45719" rIns="45719"/>
          <a:lstStyle/>
          <a:p>
            <a:pPr>
              <a:defRPr>
                <a:solidFill>
                  <a:srgbClr val="EEF0F4"/>
                </a:solidFill>
              </a:defRPr>
            </a:pPr>
          </a:p>
        </p:txBody>
      </p:sp>
      <p:sp>
        <p:nvSpPr>
          <p:cNvPr id="43" name="Text 3"/>
          <p:cNvSpPr txBox="1"/>
          <p:nvPr/>
        </p:nvSpPr>
        <p:spPr>
          <a:xfrm>
            <a:off x="4622800" y="2604740"/>
            <a:ext cx="6959092"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b="1" sz="2000">
                <a:solidFill>
                  <a:schemeClr val="accent2"/>
                </a:solidFill>
                <a:latin typeface="Space Grotesk"/>
                <a:ea typeface="Space Grotesk"/>
                <a:cs typeface="Space Grotesk"/>
                <a:sym typeface="Space Grotesk"/>
              </a:defRPr>
            </a:lvl1pPr>
          </a:lstStyle>
          <a:p>
            <a:pPr/>
            <a:r>
              <a:t>Desarrollador en Avalonia UI</a:t>
            </a:r>
          </a:p>
        </p:txBody>
      </p:sp>
      <p:sp>
        <p:nvSpPr>
          <p:cNvPr id="44" name="Text 4"/>
          <p:cNvSpPr txBox="1"/>
          <p:nvPr/>
        </p:nvSpPr>
        <p:spPr>
          <a:xfrm>
            <a:off x="4622800" y="3087340"/>
            <a:ext cx="6959092"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EEF0F4"/>
                </a:solidFill>
              </a:defRPr>
            </a:lvl1pPr>
          </a:lstStyle>
          <a:p>
            <a:pPr/>
            <a:r>
              <a:t>Trabajo en el framework Avalonia y en los productos construidos sobre él.</a:t>
            </a:r>
          </a:p>
        </p:txBody>
      </p:sp>
      <p:sp>
        <p:nvSpPr>
          <p:cNvPr id="45" name="Text 5"/>
          <p:cNvSpPr txBox="1"/>
          <p:nvPr/>
        </p:nvSpPr>
        <p:spPr>
          <a:xfrm>
            <a:off x="4622800" y="3531839"/>
            <a:ext cx="6959092"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C#, .NET, IA y UI multiplataforma, con especial interés en herramientas para desarrolladores.</a:t>
            </a:r>
          </a:p>
        </p:txBody>
      </p:sp>
      <p:sp>
        <p:nvSpPr>
          <p:cNvPr id="46" name="Text 6"/>
          <p:cNvSpPr txBox="1"/>
          <p:nvPr/>
        </p:nvSpPr>
        <p:spPr>
          <a:xfrm>
            <a:off x="4622800" y="4243039"/>
            <a:ext cx="6959092"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latin typeface="JetBrains Mono"/>
                <a:ea typeface="JetBrains Mono"/>
                <a:cs typeface="JetBrains Mono"/>
                <a:sym typeface="JetBrains Mono"/>
              </a:defRPr>
            </a:lvl1pPr>
          </a:lstStyle>
          <a:p>
            <a:pPr/>
            <a:r>
              <a:t>github.com/jsuarezruiz</a:t>
            </a:r>
          </a:p>
        </p:txBody>
      </p:sp>
      <p:sp>
        <p:nvSpPr>
          <p:cNvPr id="47" name="Text 7"/>
          <p:cNvSpPr txBox="1"/>
          <p:nvPr/>
        </p:nvSpPr>
        <p:spPr>
          <a:xfrm>
            <a:off x="812799" y="6238280"/>
            <a:ext cx="302782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defRPr>
            </a:lvl1pPr>
          </a:lstStyle>
          <a:p>
            <a:pPr/>
            <a:r>
              <a:t>Extensibilidad de GitHub Copilot App</a:t>
            </a:r>
          </a:p>
        </p:txBody>
      </p:sp>
      <p:sp>
        <p:nvSpPr>
          <p:cNvPr id="48" name="Text 8"/>
          <p:cNvSpPr txBox="1"/>
          <p:nvPr/>
        </p:nvSpPr>
        <p:spPr>
          <a:xfrm>
            <a:off x="11236920" y="6238280"/>
            <a:ext cx="14228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chemeClr val="accent6"/>
                </a:solidFill>
              </a:defRPr>
            </a:lvl1pPr>
          </a:lstStyle>
          <a:p>
            <a:pPr/>
            <a:r>
              <a:t>2</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2"/>
                </a:solidFill>
              </a:defRPr>
            </a:lvl1pPr>
          </a:lstStyle>
          <a:p>
            <a:pPr/>
            <a:r>
              <a:t>POR QUÉ EXTENDER</a:t>
            </a:r>
          </a:p>
        </p:txBody>
      </p:sp>
      <p:sp>
        <p:nvSpPr>
          <p:cNvPr id="53" name="Text 1"/>
          <p:cNvSpPr txBox="1"/>
          <p:nvPr>
            <p:ph type="title"/>
          </p:nvPr>
        </p:nvSpPr>
        <p:spPr>
          <a:xfrm>
            <a:off x="812799" y="1127720"/>
            <a:ext cx="10883394" cy="472430"/>
          </a:xfrm>
          <a:prstGeom prst="rect">
            <a:avLst/>
          </a:prstGeom>
        </p:spPr>
        <p:txBody>
          <a:bodyPr/>
          <a:lstStyle>
            <a:lvl1pPr>
              <a:lnSpc>
                <a:spcPts val="3500"/>
              </a:lnSpc>
              <a:defRPr b="1"/>
            </a:lvl1pPr>
          </a:lstStyle>
          <a:p>
            <a:pPr/>
            <a:r>
              <a:t>Un agente genérico no conoce tu proyecto</a:t>
            </a:r>
          </a:p>
        </p:txBody>
      </p:sp>
      <p:sp>
        <p:nvSpPr>
          <p:cNvPr id="54" name="Shape 2"/>
          <p:cNvSpPr/>
          <p:nvPr/>
        </p:nvSpPr>
        <p:spPr>
          <a:xfrm>
            <a:off x="815975" y="1882725"/>
            <a:ext cx="3380284" cy="2035770"/>
          </a:xfrm>
          <a:prstGeom prst="roundRect">
            <a:avLst>
              <a:gd name="adj" fmla="val 4835"/>
            </a:avLst>
          </a:prstGeom>
          <a:solidFill>
            <a:srgbClr val="1A2133"/>
          </a:solidFill>
          <a:ln w="6350">
            <a:solidFill>
              <a:srgbClr val="2B3550"/>
            </a:solidFill>
          </a:ln>
        </p:spPr>
        <p:txBody>
          <a:bodyPr lIns="45719" rIns="45719"/>
          <a:lstStyle/>
          <a:p>
            <a:pPr>
              <a:defRPr>
                <a:solidFill>
                  <a:srgbClr val="EEF0F4"/>
                </a:solidFill>
              </a:defRPr>
            </a:pPr>
          </a:p>
        </p:txBody>
      </p:sp>
      <p:sp>
        <p:nvSpPr>
          <p:cNvPr id="55" name="Text 3"/>
          <p:cNvSpPr txBox="1"/>
          <p:nvPr/>
        </p:nvSpPr>
        <p:spPr>
          <a:xfrm>
            <a:off x="1073149" y="2139900"/>
            <a:ext cx="2951914"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b="1" sz="2000">
                <a:solidFill>
                  <a:srgbClr val="EEF0F4"/>
                </a:solidFill>
                <a:latin typeface="Space Grotesk"/>
                <a:ea typeface="Space Grotesk"/>
                <a:cs typeface="Space Grotesk"/>
                <a:sym typeface="Space Grotesk"/>
              </a:defRPr>
            </a:lvl1pPr>
          </a:lstStyle>
          <a:p>
            <a:pPr/>
            <a:r>
              <a:t>Lo que sabe</a:t>
            </a:r>
          </a:p>
        </p:txBody>
      </p:sp>
      <p:sp>
        <p:nvSpPr>
          <p:cNvPr id="56" name="Text 4"/>
          <p:cNvSpPr txBox="1"/>
          <p:nvPr/>
        </p:nvSpPr>
        <p:spPr>
          <a:xfrm>
            <a:off x="1073149" y="2546300"/>
            <a:ext cx="2951914" cy="8255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Las reglas, los procedimientos y los roles de tu equipo no están en ningún modelo.</a:t>
            </a:r>
          </a:p>
        </p:txBody>
      </p:sp>
      <p:sp>
        <p:nvSpPr>
          <p:cNvPr id="57" name="Text 5"/>
          <p:cNvSpPr txBox="1"/>
          <p:nvPr/>
        </p:nvSpPr>
        <p:spPr>
          <a:xfrm>
            <a:off x="1073149" y="3448000"/>
            <a:ext cx="2951914"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2"/>
                </a:solidFill>
              </a:defRPr>
            </a:lvl1pPr>
          </a:lstStyle>
          <a:p>
            <a:pPr/>
            <a:r>
              <a:t>Instrucciones, skills, agentes</a:t>
            </a:r>
          </a:p>
        </p:txBody>
      </p:sp>
      <p:sp>
        <p:nvSpPr>
          <p:cNvPr id="58" name="Shape 6"/>
          <p:cNvSpPr/>
          <p:nvPr/>
        </p:nvSpPr>
        <p:spPr>
          <a:xfrm>
            <a:off x="4405808" y="1882725"/>
            <a:ext cx="3380334" cy="2035770"/>
          </a:xfrm>
          <a:prstGeom prst="roundRect">
            <a:avLst>
              <a:gd name="adj" fmla="val 4835"/>
            </a:avLst>
          </a:prstGeom>
          <a:solidFill>
            <a:srgbClr val="1A2133"/>
          </a:solidFill>
          <a:ln w="6350">
            <a:solidFill>
              <a:srgbClr val="2B3550"/>
            </a:solidFill>
          </a:ln>
        </p:spPr>
        <p:txBody>
          <a:bodyPr lIns="45719" rIns="45719"/>
          <a:lstStyle/>
          <a:p>
            <a:pPr>
              <a:defRPr>
                <a:solidFill>
                  <a:srgbClr val="EEF0F4"/>
                </a:solidFill>
              </a:defRPr>
            </a:pPr>
          </a:p>
        </p:txBody>
      </p:sp>
      <p:sp>
        <p:nvSpPr>
          <p:cNvPr id="59" name="Text 7"/>
          <p:cNvSpPr txBox="1"/>
          <p:nvPr/>
        </p:nvSpPr>
        <p:spPr>
          <a:xfrm>
            <a:off x="4662983" y="2139900"/>
            <a:ext cx="2951964"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b="1" sz="2000">
                <a:solidFill>
                  <a:srgbClr val="EEF0F4"/>
                </a:solidFill>
                <a:latin typeface="Space Grotesk"/>
                <a:ea typeface="Space Grotesk"/>
                <a:cs typeface="Space Grotesk"/>
                <a:sym typeface="Space Grotesk"/>
              </a:defRPr>
            </a:lvl1pPr>
          </a:lstStyle>
          <a:p>
            <a:pPr/>
            <a:r>
              <a:t>Lo que puede hacer</a:t>
            </a:r>
          </a:p>
        </p:txBody>
      </p:sp>
      <p:sp>
        <p:nvSpPr>
          <p:cNvPr id="60" name="Text 8"/>
          <p:cNvSpPr txBox="1"/>
          <p:nvPr/>
        </p:nvSpPr>
        <p:spPr>
          <a:xfrm>
            <a:off x="4662983" y="2546300"/>
            <a:ext cx="2951964" cy="8255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Tus servicios, datos y herramientas viven fuera del repo y del chat.</a:t>
            </a:r>
          </a:p>
        </p:txBody>
      </p:sp>
      <p:sp>
        <p:nvSpPr>
          <p:cNvPr id="61" name="Text 9"/>
          <p:cNvSpPr txBox="1"/>
          <p:nvPr/>
        </p:nvSpPr>
        <p:spPr>
          <a:xfrm>
            <a:off x="4662983" y="3448000"/>
            <a:ext cx="2951964"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2"/>
                </a:solidFill>
              </a:defRPr>
            </a:lvl1pPr>
          </a:lstStyle>
          <a:p>
            <a:pPr/>
            <a:r>
              <a:t>Servidores MCP y LSP, extensiones</a:t>
            </a:r>
          </a:p>
        </p:txBody>
      </p:sp>
      <p:sp>
        <p:nvSpPr>
          <p:cNvPr id="62" name="Shape 10"/>
          <p:cNvSpPr/>
          <p:nvPr/>
        </p:nvSpPr>
        <p:spPr>
          <a:xfrm>
            <a:off x="7995691" y="1882725"/>
            <a:ext cx="3380334" cy="2035770"/>
          </a:xfrm>
          <a:prstGeom prst="roundRect">
            <a:avLst>
              <a:gd name="adj" fmla="val 4835"/>
            </a:avLst>
          </a:prstGeom>
          <a:solidFill>
            <a:srgbClr val="1A2133"/>
          </a:solidFill>
          <a:ln w="6350">
            <a:solidFill>
              <a:srgbClr val="2B3550"/>
            </a:solidFill>
          </a:ln>
        </p:spPr>
        <p:txBody>
          <a:bodyPr lIns="45719" rIns="45719"/>
          <a:lstStyle/>
          <a:p>
            <a:pPr>
              <a:defRPr>
                <a:solidFill>
                  <a:srgbClr val="EEF0F4"/>
                </a:solidFill>
              </a:defRPr>
            </a:pPr>
          </a:p>
        </p:txBody>
      </p:sp>
      <p:sp>
        <p:nvSpPr>
          <p:cNvPr id="63" name="Text 11"/>
          <p:cNvSpPr txBox="1"/>
          <p:nvPr/>
        </p:nvSpPr>
        <p:spPr>
          <a:xfrm>
            <a:off x="8252866" y="2139900"/>
            <a:ext cx="2951964"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b="1" sz="2000">
                <a:solidFill>
                  <a:srgbClr val="EEF0F4"/>
                </a:solidFill>
                <a:latin typeface="Space Grotesk"/>
                <a:ea typeface="Space Grotesk"/>
                <a:cs typeface="Space Grotesk"/>
                <a:sym typeface="Space Grotesk"/>
              </a:defRPr>
            </a:lvl1pPr>
          </a:lstStyle>
          <a:p>
            <a:pPr/>
            <a:r>
              <a:t>Cómo lo controlas</a:t>
            </a:r>
          </a:p>
        </p:txBody>
      </p:sp>
      <p:sp>
        <p:nvSpPr>
          <p:cNvPr id="64" name="Text 12"/>
          <p:cNvSpPr txBox="1"/>
          <p:nvPr/>
        </p:nvSpPr>
        <p:spPr>
          <a:xfrm>
            <a:off x="8252866" y="2546300"/>
            <a:ext cx="2951964" cy="8255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Límites que no dependen del modelo e interfaces para trabajar a su lado.</a:t>
            </a:r>
          </a:p>
        </p:txBody>
      </p:sp>
      <p:sp>
        <p:nvSpPr>
          <p:cNvPr id="65" name="Text 13"/>
          <p:cNvSpPr txBox="1"/>
          <p:nvPr/>
        </p:nvSpPr>
        <p:spPr>
          <a:xfrm>
            <a:off x="8252866" y="3448000"/>
            <a:ext cx="2951964"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2"/>
                </a:solidFill>
              </a:defRPr>
            </a:lvl1pPr>
          </a:lstStyle>
          <a:p>
            <a:pPr/>
            <a:r>
              <a:t>Hooks, canvas, plugins</a:t>
            </a:r>
          </a:p>
        </p:txBody>
      </p:sp>
      <p:sp>
        <p:nvSpPr>
          <p:cNvPr id="66" name="Text 14"/>
          <p:cNvSpPr txBox="1"/>
          <p:nvPr/>
        </p:nvSpPr>
        <p:spPr>
          <a:xfrm>
            <a:off x="812799" y="4226471"/>
            <a:ext cx="10883394"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EEF0F4"/>
                </a:solidFill>
              </a:defRPr>
            </a:lvl1pPr>
          </a:lstStyle>
          <a:p>
            <a:pPr/>
            <a:r>
              <a:t>Cada punto de extensión cubre uno de estos huecos. Vamos del más barato al más potente.</a:t>
            </a:r>
          </a:p>
        </p:txBody>
      </p:sp>
      <p:sp>
        <p:nvSpPr>
          <p:cNvPr id="67" name="Text 15"/>
          <p:cNvSpPr txBox="1"/>
          <p:nvPr/>
        </p:nvSpPr>
        <p:spPr>
          <a:xfrm>
            <a:off x="812799" y="6238280"/>
            <a:ext cx="302782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defRPr>
            </a:lvl1pPr>
          </a:lstStyle>
          <a:p>
            <a:pPr/>
            <a:r>
              <a:t>Extensibilidad de GitHub Copilot App</a:t>
            </a:r>
          </a:p>
        </p:txBody>
      </p:sp>
      <p:sp>
        <p:nvSpPr>
          <p:cNvPr id="68" name="Text 16"/>
          <p:cNvSpPr txBox="1"/>
          <p:nvPr/>
        </p:nvSpPr>
        <p:spPr>
          <a:xfrm>
            <a:off x="11236920" y="6238280"/>
            <a:ext cx="14228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chemeClr val="accent6"/>
                </a:solidFill>
              </a:defRPr>
            </a:lvl1pPr>
          </a:lstStyle>
          <a:p>
            <a:pPr/>
            <a:r>
              <a:t>3</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2"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2"/>
                </a:solidFill>
              </a:defRPr>
            </a:lvl1pPr>
          </a:lstStyle>
          <a:p>
            <a:pPr/>
            <a:r>
              <a:t>LA RUTA Y EL MAPA</a:t>
            </a:r>
          </a:p>
        </p:txBody>
      </p:sp>
      <p:sp>
        <p:nvSpPr>
          <p:cNvPr id="73" name="Text 1"/>
          <p:cNvSpPr txBox="1"/>
          <p:nvPr>
            <p:ph type="title"/>
          </p:nvPr>
        </p:nvSpPr>
        <p:spPr>
          <a:xfrm>
            <a:off x="812799" y="1127720"/>
            <a:ext cx="10883394" cy="472430"/>
          </a:xfrm>
          <a:prstGeom prst="rect">
            <a:avLst/>
          </a:prstGeom>
        </p:spPr>
        <p:txBody>
          <a:bodyPr/>
          <a:lstStyle>
            <a:lvl1pPr>
              <a:lnSpc>
                <a:spcPts val="3500"/>
              </a:lnSpc>
              <a:defRPr b="1"/>
            </a:lvl1pPr>
          </a:lstStyle>
          <a:p>
            <a:pPr/>
            <a:r>
              <a:t>Nueve puntos de extensión, cada uno con su demo</a:t>
            </a:r>
          </a:p>
        </p:txBody>
      </p:sp>
      <p:sp>
        <p:nvSpPr>
          <p:cNvPr id="74" name="Shape 2"/>
          <p:cNvSpPr/>
          <p:nvPr/>
        </p:nvSpPr>
        <p:spPr>
          <a:xfrm>
            <a:off x="11376025" y="1777949"/>
            <a:ext cx="0" cy="3345857"/>
          </a:xfrm>
          <a:prstGeom prst="line">
            <a:avLst/>
          </a:prstGeom>
          <a:ln w="6350">
            <a:solidFill>
              <a:srgbClr val="2B3550"/>
            </a:solidFill>
          </a:ln>
        </p:spPr>
        <p:txBody>
          <a:bodyPr lIns="45719" rIns="45719"/>
          <a:lstStyle/>
          <a:p>
            <a:pPr>
              <a:defRPr>
                <a:solidFill>
                  <a:srgbClr val="EEF0F4"/>
                </a:solidFill>
              </a:defRPr>
            </a:pPr>
          </a:p>
        </p:txBody>
      </p:sp>
      <p:sp>
        <p:nvSpPr>
          <p:cNvPr id="75" name="Shape 3"/>
          <p:cNvSpPr/>
          <p:nvPr/>
        </p:nvSpPr>
        <p:spPr>
          <a:xfrm>
            <a:off x="812800" y="5120630"/>
            <a:ext cx="10566401" cy="1"/>
          </a:xfrm>
          <a:prstGeom prst="line">
            <a:avLst/>
          </a:prstGeom>
          <a:ln w="6350">
            <a:solidFill>
              <a:srgbClr val="2B3550"/>
            </a:solidFill>
          </a:ln>
        </p:spPr>
        <p:txBody>
          <a:bodyPr lIns="45719" rIns="45719"/>
          <a:lstStyle/>
          <a:p>
            <a:pPr>
              <a:defRPr>
                <a:solidFill>
                  <a:srgbClr val="EEF0F4"/>
                </a:solidFill>
              </a:defRPr>
            </a:pPr>
          </a:p>
        </p:txBody>
      </p:sp>
      <p:graphicFrame>
        <p:nvGraphicFramePr>
          <p:cNvPr id="76" name="Table 0"/>
          <p:cNvGraphicFramePr/>
          <p:nvPr/>
        </p:nvGraphicFramePr>
        <p:xfrm>
          <a:off x="825500" y="1790650"/>
          <a:ext cx="10547350" cy="3326806"/>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527368"/>
                <a:gridCol w="1687576"/>
                <a:gridCol w="2847785"/>
                <a:gridCol w="3902519"/>
                <a:gridCol w="1582102"/>
              </a:tblGrid>
              <a:tr h="332680">
                <a:tc>
                  <a:txBody>
                    <a:bodyPr/>
                    <a:lstStyle/>
                    <a:p>
                      <a:pPr algn="l">
                        <a:lnSpc>
                          <a:spcPts val="1600"/>
                        </a:lnSpc>
                        <a:defRPr sz="1800">
                          <a:solidFill>
                            <a:srgbClr val="000000"/>
                          </a:solidFill>
                        </a:defRPr>
                      </a:pPr>
                      <a:r>
                        <a:rPr b="1" sz="1200">
                          <a:solidFill>
                            <a:schemeClr val="accent2"/>
                          </a:solidFill>
                        </a:rPr>
                        <a:t>#</a:t>
                      </a:r>
                    </a:p>
                  </a:txBody>
                  <a:tcPr marL="53339" marR="53339" marT="53339" marB="53339" anchor="t" anchorCtr="0" horzOverflow="overflow">
                    <a:lnL w="12700">
                      <a:solidFill>
                        <a:srgbClr val="43464E"/>
                      </a:solidFill>
                    </a:lnL>
                    <a:lnR w="12700">
                      <a:solidFill>
                        <a:srgbClr val="4B515E"/>
                      </a:solidFill>
                    </a:lnR>
                    <a:lnT w="12700">
                      <a:solidFill>
                        <a:srgbClr val="43464E"/>
                      </a:solidFill>
                    </a:lnT>
                    <a:lnB w="12700">
                      <a:solidFill>
                        <a:srgbClr val="4B515E"/>
                      </a:solidFill>
                    </a:lnB>
                    <a:solidFill>
                      <a:srgbClr val="1A2133"/>
                    </a:solidFill>
                  </a:tcPr>
                </a:tc>
                <a:tc>
                  <a:txBody>
                    <a:bodyPr/>
                    <a:lstStyle/>
                    <a:p>
                      <a:pPr algn="l">
                        <a:lnSpc>
                          <a:spcPts val="1600"/>
                        </a:lnSpc>
                        <a:defRPr sz="1800">
                          <a:solidFill>
                            <a:srgbClr val="000000"/>
                          </a:solidFill>
                        </a:defRPr>
                      </a:pPr>
                      <a:r>
                        <a:rPr b="1" sz="1200">
                          <a:solidFill>
                            <a:schemeClr val="accent2"/>
                          </a:solidFill>
                        </a:rPr>
                        <a:t>Pieza</a:t>
                      </a:r>
                    </a:p>
                  </a:txBody>
                  <a:tcPr marL="53339" marR="53339" marT="53339" marB="53339" anchor="t" anchorCtr="0" horzOverflow="overflow">
                    <a:lnL w="12700">
                      <a:solidFill>
                        <a:srgbClr val="4B515E"/>
                      </a:solidFill>
                    </a:lnL>
                    <a:lnR w="12700">
                      <a:solidFill>
                        <a:srgbClr val="4B515E"/>
                      </a:solidFill>
                    </a:lnR>
                    <a:lnT w="12700">
                      <a:solidFill>
                        <a:srgbClr val="43464E"/>
                      </a:solidFill>
                    </a:lnT>
                    <a:lnB w="12700">
                      <a:solidFill>
                        <a:srgbClr val="4B515E"/>
                      </a:solidFill>
                    </a:lnB>
                    <a:solidFill>
                      <a:srgbClr val="1A2133"/>
                    </a:solidFill>
                  </a:tcPr>
                </a:tc>
                <a:tc>
                  <a:txBody>
                    <a:bodyPr/>
                    <a:lstStyle/>
                    <a:p>
                      <a:pPr algn="l">
                        <a:lnSpc>
                          <a:spcPts val="1600"/>
                        </a:lnSpc>
                        <a:defRPr sz="1800">
                          <a:solidFill>
                            <a:srgbClr val="000000"/>
                          </a:solidFill>
                        </a:defRPr>
                      </a:pPr>
                      <a:r>
                        <a:rPr b="1" sz="1200">
                          <a:solidFill>
                            <a:schemeClr val="accent2"/>
                          </a:solidFill>
                        </a:rPr>
                        <a:t>Qué aporta</a:t>
                      </a:r>
                    </a:p>
                  </a:txBody>
                  <a:tcPr marL="53339" marR="53339" marT="53339" marB="53339" anchor="t" anchorCtr="0" horzOverflow="overflow">
                    <a:lnL w="12700">
                      <a:solidFill>
                        <a:srgbClr val="4B515E"/>
                      </a:solidFill>
                    </a:lnL>
                    <a:lnR w="12700">
                      <a:solidFill>
                        <a:srgbClr val="4B515E"/>
                      </a:solidFill>
                    </a:lnR>
                    <a:lnT w="12700">
                      <a:solidFill>
                        <a:srgbClr val="43464E"/>
                      </a:solidFill>
                    </a:lnT>
                    <a:lnB w="12700">
                      <a:solidFill>
                        <a:srgbClr val="4B515E"/>
                      </a:solidFill>
                    </a:lnB>
                    <a:solidFill>
                      <a:srgbClr val="1A2133"/>
                    </a:solidFill>
                  </a:tcPr>
                </a:tc>
                <a:tc>
                  <a:txBody>
                    <a:bodyPr/>
                    <a:lstStyle/>
                    <a:p>
                      <a:pPr algn="l">
                        <a:lnSpc>
                          <a:spcPts val="1600"/>
                        </a:lnSpc>
                        <a:defRPr sz="1800">
                          <a:solidFill>
                            <a:srgbClr val="000000"/>
                          </a:solidFill>
                        </a:defRPr>
                      </a:pPr>
                      <a:r>
                        <a:rPr b="1" sz="1200">
                          <a:solidFill>
                            <a:schemeClr val="accent2"/>
                          </a:solidFill>
                        </a:rPr>
                        <a:t>Dónde vive en el repo</a:t>
                      </a:r>
                    </a:p>
                  </a:txBody>
                  <a:tcPr marL="53339" marR="53339" marT="53339" marB="53339" anchor="t" anchorCtr="0" horzOverflow="overflow">
                    <a:lnL w="12700">
                      <a:solidFill>
                        <a:srgbClr val="4B515E"/>
                      </a:solidFill>
                    </a:lnL>
                    <a:lnR w="12700">
                      <a:solidFill>
                        <a:srgbClr val="4B515E"/>
                      </a:solidFill>
                    </a:lnR>
                    <a:lnT w="12700">
                      <a:solidFill>
                        <a:srgbClr val="43464E"/>
                      </a:solidFill>
                    </a:lnT>
                    <a:lnB w="12700">
                      <a:solidFill>
                        <a:srgbClr val="4B515E"/>
                      </a:solidFill>
                    </a:lnB>
                    <a:solidFill>
                      <a:srgbClr val="1A2133"/>
                    </a:solidFill>
                  </a:tcPr>
                </a:tc>
                <a:tc>
                  <a:txBody>
                    <a:bodyPr/>
                    <a:lstStyle/>
                    <a:p>
                      <a:pPr algn="l">
                        <a:lnSpc>
                          <a:spcPts val="1600"/>
                        </a:lnSpc>
                        <a:defRPr sz="1800">
                          <a:solidFill>
                            <a:srgbClr val="000000"/>
                          </a:solidFill>
                        </a:defRPr>
                      </a:pPr>
                      <a:r>
                        <a:rPr b="1" sz="1200">
                          <a:solidFill>
                            <a:schemeClr val="accent2"/>
                          </a:solidFill>
                        </a:rPr>
                        <a:t>Formato</a:t>
                      </a:r>
                    </a:p>
                  </a:txBody>
                  <a:tcPr marL="53339" marR="53339" marT="53339" marB="53339" anchor="t" anchorCtr="0" horzOverflow="overflow">
                    <a:lnL w="12700">
                      <a:solidFill>
                        <a:srgbClr val="4B515E"/>
                      </a:solidFill>
                    </a:lnL>
                    <a:lnR w="12700">
                      <a:solidFill>
                        <a:srgbClr val="4B515E"/>
                      </a:solidFill>
                    </a:lnR>
                    <a:lnT w="12700">
                      <a:solidFill>
                        <a:srgbClr val="43464E"/>
                      </a:solidFill>
                    </a:lnT>
                    <a:lnB w="12700">
                      <a:solidFill>
                        <a:srgbClr val="4B515E"/>
                      </a:solidFill>
                    </a:lnB>
                    <a:solidFill>
                      <a:srgbClr val="1A2133"/>
                    </a:solidFill>
                  </a:tcPr>
                </a:tc>
              </a:tr>
              <a:tr h="332680">
                <a:tc>
                  <a:txBody>
                    <a:bodyPr/>
                    <a:lstStyle/>
                    <a:p>
                      <a:pPr algn="l">
                        <a:lnSpc>
                          <a:spcPts val="1600"/>
                        </a:lnSpc>
                        <a:defRPr sz="1800">
                          <a:solidFill>
                            <a:srgbClr val="000000"/>
                          </a:solidFill>
                        </a:defRPr>
                      </a:pPr>
                      <a:r>
                        <a:rPr sz="1200">
                          <a:solidFill>
                            <a:srgbClr val="EEF0F4"/>
                          </a:solidFill>
                        </a:rPr>
                        <a:t>1</a:t>
                      </a:r>
                    </a:p>
                  </a:txBody>
                  <a:tcPr marL="53339" marR="53339" marT="53339" marB="53339" anchor="t" anchorCtr="0" horzOverflow="overflow">
                    <a:lnL w="12700">
                      <a:solidFill>
                        <a:srgbClr val="43464E"/>
                      </a:solidFill>
                    </a:lnL>
                    <a:lnR w="12700">
                      <a:solidFill>
                        <a:srgbClr val="43464E"/>
                      </a:solidFill>
                    </a:lnR>
                    <a:lnT w="12700">
                      <a:solidFill>
                        <a:srgbClr val="4B515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Instrucciones</a:t>
                      </a:r>
                    </a:p>
                  </a:txBody>
                  <a:tcPr marL="53339" marR="53339" marT="53339" marB="53339" anchor="t" anchorCtr="0" horzOverflow="overflow">
                    <a:lnL w="12700">
                      <a:solidFill>
                        <a:srgbClr val="43464E"/>
                      </a:solidFill>
                    </a:lnL>
                    <a:lnR w="12700">
                      <a:solidFill>
                        <a:srgbClr val="43464E"/>
                      </a:solidFill>
                    </a:lnR>
                    <a:lnT w="12700">
                      <a:solidFill>
                        <a:srgbClr val="4B515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Reglas que siempre aplican</a:t>
                      </a:r>
                    </a:p>
                  </a:txBody>
                  <a:tcPr marL="53339" marR="53339" marT="53339" marB="53339" anchor="t" anchorCtr="0" horzOverflow="overflow">
                    <a:lnL w="12700">
                      <a:solidFill>
                        <a:srgbClr val="43464E"/>
                      </a:solidFill>
                    </a:lnL>
                    <a:lnR w="12700">
                      <a:solidFill>
                        <a:srgbClr val="43464E"/>
                      </a:solidFill>
                    </a:lnR>
                    <a:lnT w="12700">
                      <a:solidFill>
                        <a:srgbClr val="4B515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.github/copilot-instructions.md</a:t>
                      </a:r>
                    </a:p>
                  </a:txBody>
                  <a:tcPr marL="53339" marR="53339" marT="53339" marB="53339" anchor="t" anchorCtr="0" horzOverflow="overflow">
                    <a:lnL w="12700">
                      <a:solidFill>
                        <a:srgbClr val="43464E"/>
                      </a:solidFill>
                    </a:lnL>
                    <a:lnR w="12700">
                      <a:solidFill>
                        <a:srgbClr val="43464E"/>
                      </a:solidFill>
                    </a:lnR>
                    <a:lnT w="12700">
                      <a:solidFill>
                        <a:srgbClr val="4B515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Markdown</a:t>
                      </a:r>
                    </a:p>
                  </a:txBody>
                  <a:tcPr marL="53339" marR="53339" marT="53339" marB="53339" anchor="t" anchorCtr="0" horzOverflow="overflow">
                    <a:lnL w="12700">
                      <a:solidFill>
                        <a:srgbClr val="43464E"/>
                      </a:solidFill>
                    </a:lnL>
                    <a:lnR w="12700">
                      <a:solidFill>
                        <a:srgbClr val="43464E"/>
                      </a:solidFill>
                    </a:lnR>
                    <a:lnT w="12700">
                      <a:solidFill>
                        <a:srgbClr val="4B515E"/>
                      </a:solidFill>
                    </a:lnT>
                    <a:lnB w="12700">
                      <a:solidFill>
                        <a:srgbClr val="43464E"/>
                      </a:solidFill>
                    </a:lnB>
                    <a:noFill/>
                  </a:tcPr>
                </a:tc>
              </a:tr>
              <a:tr h="332680">
                <a:tc>
                  <a:txBody>
                    <a:bodyPr/>
                    <a:lstStyle/>
                    <a:p>
                      <a:pPr algn="l">
                        <a:lnSpc>
                          <a:spcPts val="1600"/>
                        </a:lnSpc>
                        <a:defRPr sz="1800">
                          <a:solidFill>
                            <a:srgbClr val="000000"/>
                          </a:solidFill>
                        </a:defRPr>
                      </a:pPr>
                      <a:r>
                        <a:rPr sz="1200">
                          <a:solidFill>
                            <a:srgbClr val="EEF0F4"/>
                          </a:solidFill>
                        </a:rPr>
                        <a:t>2</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Skills</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Procedimientos bajo demanda</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.github/skills/&lt;name&gt;/SKILL.md</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Markdown</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r>
              <a:tr h="332680">
                <a:tc>
                  <a:txBody>
                    <a:bodyPr/>
                    <a:lstStyle/>
                    <a:p>
                      <a:pPr algn="l">
                        <a:lnSpc>
                          <a:spcPts val="1600"/>
                        </a:lnSpc>
                        <a:defRPr sz="1800">
                          <a:solidFill>
                            <a:srgbClr val="000000"/>
                          </a:solidFill>
                        </a:defRPr>
                      </a:pPr>
                      <a:r>
                        <a:rPr sz="1200">
                          <a:solidFill>
                            <a:srgbClr val="EEF0F4"/>
                          </a:solidFill>
                        </a:rPr>
                        <a:t>3</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Agentes</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Roles con herramientas y un modelo</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.github/agents/&lt;name&gt;.agent.md</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Markdown</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r>
              <a:tr h="332680">
                <a:tc>
                  <a:txBody>
                    <a:bodyPr/>
                    <a:lstStyle/>
                    <a:p>
                      <a:pPr algn="l">
                        <a:lnSpc>
                          <a:spcPts val="1600"/>
                        </a:lnSpc>
                        <a:defRPr sz="1800">
                          <a:solidFill>
                            <a:srgbClr val="000000"/>
                          </a:solidFill>
                        </a:defRPr>
                      </a:pPr>
                      <a:r>
                        <a:rPr sz="1200">
                          <a:solidFill>
                            <a:srgbClr val="EEF0F4"/>
                          </a:solidFill>
                        </a:rPr>
                        <a:t>4</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Servidores MCP</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Datos y acciones externas</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.mcp.json</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JSON y un proceso</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r>
              <a:tr h="332680">
                <a:tc>
                  <a:txBody>
                    <a:bodyPr/>
                    <a:lstStyle/>
                    <a:p>
                      <a:pPr algn="l">
                        <a:lnSpc>
                          <a:spcPts val="1600"/>
                        </a:lnSpc>
                        <a:defRPr sz="1800">
                          <a:solidFill>
                            <a:srgbClr val="000000"/>
                          </a:solidFill>
                        </a:defRPr>
                      </a:pPr>
                      <a:r>
                        <a:rPr sz="1200">
                          <a:solidFill>
                            <a:srgbClr val="EEF0F4"/>
                          </a:solidFill>
                        </a:rPr>
                        <a:t>5</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Servidores LSP</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Comprensión precisa del código</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.github/lsp.json</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JSON y un proceso</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r>
              <a:tr h="332680">
                <a:tc>
                  <a:txBody>
                    <a:bodyPr/>
                    <a:lstStyle/>
                    <a:p>
                      <a:pPr algn="l">
                        <a:lnSpc>
                          <a:spcPts val="1600"/>
                        </a:lnSpc>
                        <a:defRPr sz="1800">
                          <a:solidFill>
                            <a:srgbClr val="000000"/>
                          </a:solidFill>
                        </a:defRPr>
                      </a:pPr>
                      <a:r>
                        <a:rPr sz="1200">
                          <a:solidFill>
                            <a:srgbClr val="EEF0F4"/>
                          </a:solidFill>
                        </a:rPr>
                        <a:t>6</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Hooks</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Guardarraíles deterministas</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.github/hooks/*.json</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JSON y un comando</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r>
              <a:tr h="332680">
                <a:tc>
                  <a:txBody>
                    <a:bodyPr/>
                    <a:lstStyle/>
                    <a:p>
                      <a:pPr algn="l">
                        <a:lnSpc>
                          <a:spcPts val="1600"/>
                        </a:lnSpc>
                        <a:defRPr sz="1800">
                          <a:solidFill>
                            <a:srgbClr val="000000"/>
                          </a:solidFill>
                        </a:defRPr>
                      </a:pPr>
                      <a:r>
                        <a:rPr sz="1200">
                          <a:solidFill>
                            <a:srgbClr val="EEF0F4"/>
                          </a:solidFill>
                        </a:rPr>
                        <a:t>7</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Extensiones</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Código y workflows en la sesión</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.github/extensions/&lt;name&gt;/extension.mjs</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JavaScript</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r>
              <a:tr h="332680">
                <a:tc>
                  <a:txBody>
                    <a:bodyPr/>
                    <a:lstStyle/>
                    <a:p>
                      <a:pPr algn="l">
                        <a:lnSpc>
                          <a:spcPts val="1600"/>
                        </a:lnSpc>
                        <a:defRPr sz="1800">
                          <a:solidFill>
                            <a:srgbClr val="000000"/>
                          </a:solidFill>
                        </a:defRPr>
                      </a:pPr>
                      <a:r>
                        <a:rPr sz="1200">
                          <a:solidFill>
                            <a:srgbClr val="EEF0F4"/>
                          </a:solidFill>
                        </a:rPr>
                        <a:t>8</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Canvas</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Una interfaz compartida</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Dentro de una extensión</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JavaScript y web</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r>
              <a:tr h="332680">
                <a:tc>
                  <a:txBody>
                    <a:bodyPr/>
                    <a:lstStyle/>
                    <a:p>
                      <a:pPr algn="l">
                        <a:lnSpc>
                          <a:spcPts val="1600"/>
                        </a:lnSpc>
                        <a:defRPr sz="1800">
                          <a:solidFill>
                            <a:srgbClr val="000000"/>
                          </a:solidFill>
                        </a:defRPr>
                      </a:pPr>
                      <a:r>
                        <a:rPr sz="1200">
                          <a:solidFill>
                            <a:srgbClr val="EEF0F4"/>
                          </a:solidFill>
                        </a:rPr>
                        <a:t>9</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Plugins</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Todo empaquetado y compartible</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plugin.json y marketplace.json</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JSON</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r>
            </a:tbl>
          </a:graphicData>
        </a:graphic>
      </p:graphicFrame>
      <p:sp>
        <p:nvSpPr>
          <p:cNvPr id="77" name="Text 4"/>
          <p:cNvSpPr txBox="1"/>
          <p:nvPr/>
        </p:nvSpPr>
        <p:spPr>
          <a:xfrm>
            <a:off x="812799" y="5327005"/>
            <a:ext cx="10883394"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Del 1 al 6 se declaran con ficheros. El 7 y el 8 se programan con el SDK. El 9 lo distribuye todo.</a:t>
            </a:r>
          </a:p>
        </p:txBody>
      </p:sp>
      <p:sp>
        <p:nvSpPr>
          <p:cNvPr id="78" name="Text 5"/>
          <p:cNvSpPr txBox="1"/>
          <p:nvPr/>
        </p:nvSpPr>
        <p:spPr>
          <a:xfrm>
            <a:off x="812799" y="6238280"/>
            <a:ext cx="302782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defRPr>
            </a:lvl1pPr>
          </a:lstStyle>
          <a:p>
            <a:pPr/>
            <a:r>
              <a:t>Extensibilidad de GitHub Copilot App</a:t>
            </a:r>
          </a:p>
        </p:txBody>
      </p:sp>
      <p:sp>
        <p:nvSpPr>
          <p:cNvPr id="79" name="Text 6"/>
          <p:cNvSpPr txBox="1"/>
          <p:nvPr/>
        </p:nvSpPr>
        <p:spPr>
          <a:xfrm>
            <a:off x="11236920" y="6238280"/>
            <a:ext cx="14228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chemeClr val="accent6"/>
                </a:solidFill>
              </a:defRPr>
            </a:lvl1pPr>
          </a:lstStyle>
          <a:p>
            <a:pPr/>
            <a:r>
              <a:t>4</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3"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2"/>
                </a:solidFill>
              </a:defRPr>
            </a:lvl1pPr>
          </a:lstStyle>
          <a:p>
            <a:pPr/>
            <a:r>
              <a:t>EL PANORAMA</a:t>
            </a:r>
          </a:p>
        </p:txBody>
      </p:sp>
      <p:sp>
        <p:nvSpPr>
          <p:cNvPr id="84" name="Text 1"/>
          <p:cNvSpPr txBox="1"/>
          <p:nvPr>
            <p:ph type="title"/>
          </p:nvPr>
        </p:nvSpPr>
        <p:spPr>
          <a:xfrm>
            <a:off x="812799" y="1127720"/>
            <a:ext cx="10883394" cy="472430"/>
          </a:xfrm>
          <a:prstGeom prst="rect">
            <a:avLst/>
          </a:prstGeom>
        </p:spPr>
        <p:txBody>
          <a:bodyPr/>
          <a:lstStyle>
            <a:lvl1pPr>
              <a:lnSpc>
                <a:spcPts val="3500"/>
              </a:lnSpc>
              <a:defRPr b="1"/>
            </a:lvl1pPr>
          </a:lstStyle>
          <a:p>
            <a:pPr/>
            <a:r>
              <a:t>Qué es GitHub Copilot</a:t>
            </a:r>
          </a:p>
        </p:txBody>
      </p:sp>
      <p:sp>
        <p:nvSpPr>
          <p:cNvPr id="85" name="Text 2"/>
          <p:cNvSpPr txBox="1"/>
          <p:nvPr/>
        </p:nvSpPr>
        <p:spPr>
          <a:xfrm>
            <a:off x="812799" y="1828750"/>
            <a:ext cx="4813810"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2100"/>
              </a:lnSpc>
              <a:defRPr b="1" sz="1500">
                <a:solidFill>
                  <a:srgbClr val="EEF0F4"/>
                </a:solidFill>
              </a:defRPr>
            </a:pPr>
            <a:r>
              <a:t>Escritorio y nativa, de GitHub.</a:t>
            </a:r>
            <a:r>
              <a:rPr b="0"/>
              <a:t> </a:t>
            </a:r>
            <a:r>
              <a:rPr b="0">
                <a:solidFill>
                  <a:srgbClr val="A9B4C6"/>
                </a:solidFill>
              </a:rPr>
              <a:t>macOS, Windows y Linux, disponible desde el 17 de junio de 2026.</a:t>
            </a:r>
          </a:p>
        </p:txBody>
      </p:sp>
      <p:sp>
        <p:nvSpPr>
          <p:cNvPr id="86" name="Text 3"/>
          <p:cNvSpPr txBox="1"/>
          <p:nvPr/>
        </p:nvSpPr>
        <p:spPr>
          <a:xfrm>
            <a:off x="812799" y="2514550"/>
            <a:ext cx="4813810"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defTabSz="896111">
              <a:lnSpc>
                <a:spcPts val="2000"/>
              </a:lnSpc>
              <a:defRPr b="1" sz="1470">
                <a:solidFill>
                  <a:srgbClr val="EEF0F4"/>
                </a:solidFill>
              </a:defRPr>
            </a:pPr>
            <a:r>
              <a:t>Sesiones en paralelo.</a:t>
            </a:r>
            <a:r>
              <a:rPr b="0"/>
              <a:t> </a:t>
            </a:r>
            <a:r>
              <a:rPr b="0">
                <a:solidFill>
                  <a:srgbClr val="A9B4C6"/>
                </a:solidFill>
              </a:rPr>
              <a:t>Cada una parte de una issue, una pull request o un prompt, en su propia rama y worktree.</a:t>
            </a:r>
          </a:p>
        </p:txBody>
      </p:sp>
      <p:sp>
        <p:nvSpPr>
          <p:cNvPr id="87" name="Text 4"/>
          <p:cNvSpPr txBox="1"/>
          <p:nvPr/>
        </p:nvSpPr>
        <p:spPr>
          <a:xfrm>
            <a:off x="812800" y="3200350"/>
            <a:ext cx="4978400"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2100"/>
              </a:lnSpc>
              <a:defRPr b="1" sz="1500">
                <a:solidFill>
                  <a:srgbClr val="EEF0F4"/>
                </a:solidFill>
              </a:defRPr>
            </a:pPr>
            <a:r>
              <a:t>Todo a la vista.</a:t>
            </a:r>
            <a:r>
              <a:rPr b="0"/>
              <a:t> </a:t>
            </a:r>
            <a:r>
              <a:rPr b="0">
                <a:solidFill>
                  <a:srgbClr val="A9B4C6"/>
                </a:solidFill>
              </a:rPr>
              <a:t>Diffs, terminal y navegador integrados.</a:t>
            </a:r>
          </a:p>
        </p:txBody>
      </p:sp>
      <p:sp>
        <p:nvSpPr>
          <p:cNvPr id="88" name="Text 5"/>
          <p:cNvSpPr txBox="1"/>
          <p:nvPr/>
        </p:nvSpPr>
        <p:spPr>
          <a:xfrm>
            <a:off x="812799" y="3619450"/>
            <a:ext cx="4813810"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2100"/>
              </a:lnSpc>
              <a:defRPr b="1" sz="1500">
                <a:solidFill>
                  <a:schemeClr val="accent2"/>
                </a:solidFill>
              </a:defRPr>
            </a:pPr>
            <a:r>
              <a:t>La misma base que Copilot CLI.</a:t>
            </a:r>
            <a:r>
              <a:rPr b="0">
                <a:solidFill>
                  <a:srgbClr val="EEF0F4"/>
                </a:solidFill>
              </a:rPr>
              <a:t> </a:t>
            </a:r>
            <a:r>
              <a:rPr b="0">
                <a:solidFill>
                  <a:srgbClr val="A9B4C6"/>
                </a:solidFill>
              </a:rPr>
              <a:t>Skills, servidores MCP y extensiones del repo se cargan igual en ambas.</a:t>
            </a:r>
          </a:p>
        </p:txBody>
      </p:sp>
      <p:pic>
        <p:nvPicPr>
          <p:cNvPr id="89" name="Image 0" descr="Image 0"/>
          <p:cNvPicPr>
            <a:picLocks noChangeAspect="1"/>
          </p:cNvPicPr>
          <p:nvPr/>
        </p:nvPicPr>
        <p:blipFill>
          <a:blip r:embed="rId3">
            <a:extLst/>
          </a:blip>
          <a:srcRect l="0" t="0" r="0" b="0"/>
          <a:stretch>
            <a:fillRect/>
          </a:stretch>
        </p:blipFill>
        <p:spPr>
          <a:xfrm>
            <a:off x="5797550" y="1835334"/>
            <a:ext cx="5575300" cy="33523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448"/>
                </a:moveTo>
                <a:lnTo>
                  <a:pt x="21600" y="21152"/>
                </a:lnTo>
                <a:cubicBezTo>
                  <a:pt x="21600" y="21390"/>
                  <a:pt x="21489" y="21585"/>
                  <a:pt x="21347" y="21600"/>
                </a:cubicBezTo>
                <a:lnTo>
                  <a:pt x="253" y="21600"/>
                </a:lnTo>
                <a:cubicBezTo>
                  <a:pt x="111" y="21585"/>
                  <a:pt x="0" y="21390"/>
                  <a:pt x="0" y="21152"/>
                </a:cubicBezTo>
                <a:lnTo>
                  <a:pt x="0" y="448"/>
                </a:lnTo>
                <a:lnTo>
                  <a:pt x="1" y="402"/>
                </a:lnTo>
                <a:cubicBezTo>
                  <a:pt x="15" y="185"/>
                  <a:pt x="121" y="14"/>
                  <a:pt x="253" y="0"/>
                </a:cubicBezTo>
                <a:lnTo>
                  <a:pt x="21347" y="0"/>
                </a:lnTo>
                <a:cubicBezTo>
                  <a:pt x="21489" y="15"/>
                  <a:pt x="21600" y="210"/>
                  <a:pt x="21600" y="448"/>
                </a:cubicBezTo>
                <a:close/>
              </a:path>
            </a:pathLst>
          </a:custGeom>
          <a:ln w="12700">
            <a:miter lim="400000"/>
          </a:ln>
        </p:spPr>
      </p:pic>
      <p:sp>
        <p:nvSpPr>
          <p:cNvPr id="90" name="Shape 6"/>
          <p:cNvSpPr/>
          <p:nvPr/>
        </p:nvSpPr>
        <p:spPr>
          <a:xfrm>
            <a:off x="5794375" y="1831925"/>
            <a:ext cx="5581650" cy="3359151"/>
          </a:xfrm>
          <a:prstGeom prst="roundRect">
            <a:avLst>
              <a:gd name="adj" fmla="val 2174"/>
            </a:avLst>
          </a:prstGeom>
          <a:ln w="6350">
            <a:solidFill>
              <a:srgbClr val="2B3550"/>
            </a:solidFill>
          </a:ln>
        </p:spPr>
        <p:txBody>
          <a:bodyPr lIns="45719" rIns="45719"/>
          <a:lstStyle/>
          <a:p>
            <a:pPr>
              <a:defRPr>
                <a:solidFill>
                  <a:srgbClr val="EEF0F4"/>
                </a:solidFill>
              </a:defRPr>
            </a:pPr>
          </a:p>
        </p:txBody>
      </p:sp>
      <p:sp>
        <p:nvSpPr>
          <p:cNvPr id="91" name="Text 7"/>
          <p:cNvSpPr txBox="1"/>
          <p:nvPr/>
        </p:nvSpPr>
        <p:spPr>
          <a:xfrm>
            <a:off x="5791199" y="5270449"/>
            <a:ext cx="5755642" cy="452043"/>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A9B4C6"/>
                </a:solidFill>
              </a:defRPr>
            </a:lvl1pPr>
          </a:lstStyle>
          <a:p>
            <a:pPr/>
            <a:r>
              <a:t>Customize tiene una pestaña por pieza. Lo que añades aquí es tuyo; lo que va en el repo es del equipo.</a:t>
            </a:r>
          </a:p>
        </p:txBody>
      </p:sp>
      <p:sp>
        <p:nvSpPr>
          <p:cNvPr id="92" name="Text 8"/>
          <p:cNvSpPr txBox="1"/>
          <p:nvPr/>
        </p:nvSpPr>
        <p:spPr>
          <a:xfrm>
            <a:off x="812800" y="6238280"/>
            <a:ext cx="5142964"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defRPr>
            </a:lvl1pPr>
          </a:lstStyle>
          <a:p>
            <a:pPr/>
            <a:r>
              <a:t>Fuente: GitHub Changelog, 17 de junio de 2026, y GitHub Docs</a:t>
            </a:r>
          </a:p>
        </p:txBody>
      </p:sp>
      <p:sp>
        <p:nvSpPr>
          <p:cNvPr id="93" name="Text 9"/>
          <p:cNvSpPr txBox="1"/>
          <p:nvPr/>
        </p:nvSpPr>
        <p:spPr>
          <a:xfrm>
            <a:off x="11236920" y="6238280"/>
            <a:ext cx="14228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chemeClr val="accent6"/>
                </a:solidFill>
              </a:defRPr>
            </a:lvl1pPr>
          </a:lstStyle>
          <a:p>
            <a:pPr/>
            <a:r>
              <a:t>5</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1EA"/>
        </a:solidFill>
      </p:bgPr>
    </p:bg>
    <p:spTree>
      <p:nvGrpSpPr>
        <p:cNvPr id="1" name=""/>
        <p:cNvGrpSpPr/>
        <p:nvPr/>
      </p:nvGrpSpPr>
      <p:grpSpPr>
        <a:xfrm>
          <a:off x="0" y="0"/>
          <a:ext cx="0" cy="0"/>
          <a:chOff x="0" y="0"/>
          <a:chExt cx="0" cy="0"/>
        </a:xfrm>
      </p:grpSpPr>
      <p:grpSp>
        <p:nvGrpSpPr>
          <p:cNvPr id="99" name="Text 0"/>
          <p:cNvGrpSpPr/>
          <p:nvPr/>
        </p:nvGrpSpPr>
        <p:grpSpPr>
          <a:xfrm>
            <a:off x="812800" y="812800"/>
            <a:ext cx="887164" cy="314920"/>
            <a:chOff x="0" y="0"/>
            <a:chExt cx="887163" cy="314919"/>
          </a:xfrm>
        </p:grpSpPr>
        <p:sp>
          <p:nvSpPr>
            <p:cNvPr id="97" name="Rounded Rectangle"/>
            <p:cNvSpPr/>
            <p:nvPr/>
          </p:nvSpPr>
          <p:spPr>
            <a:xfrm>
              <a:off x="0" y="0"/>
              <a:ext cx="887164" cy="314920"/>
            </a:xfrm>
            <a:prstGeom prst="roundRect">
              <a:avLst>
                <a:gd name="adj" fmla="val 48393"/>
              </a:avLst>
            </a:prstGeom>
            <a:solidFill>
              <a:schemeClr val="accent1"/>
            </a:solidFill>
            <a:ln w="12700" cap="flat">
              <a:noFill/>
              <a:miter lim="400000"/>
            </a:ln>
            <a:effectLst/>
          </p:spPr>
          <p:txBody>
            <a:bodyPr wrap="square" lIns="45719" tIns="45719" rIns="45719" bIns="45719" numCol="1" anchor="ctr">
              <a:noAutofit/>
            </a:bodyPr>
            <a:lstStyle/>
            <a:p>
              <a:pPr algn="ctr">
                <a:lnSpc>
                  <a:spcPts val="1600"/>
                </a:lnSpc>
                <a:defRPr sz="1200">
                  <a:solidFill>
                    <a:srgbClr val="EEF0F4"/>
                  </a:solidFill>
                </a:defRPr>
              </a:pPr>
            </a:p>
          </p:txBody>
        </p:sp>
        <p:sp>
          <p:nvSpPr>
            <p:cNvPr id="98" name="DEMO 0"/>
            <p:cNvSpPr txBox="1"/>
            <p:nvPr/>
          </p:nvSpPr>
          <p:spPr>
            <a:xfrm>
              <a:off x="106981" y="44636"/>
              <a:ext cx="673201" cy="225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normAutofit fontScale="100000" lnSpcReduction="0"/>
            </a:bodyPr>
            <a:lstStyle>
              <a:lvl1pPr algn="ctr">
                <a:lnSpc>
                  <a:spcPts val="1600"/>
                </a:lnSpc>
                <a:defRPr b="1" spc="100" sz="1200">
                  <a:solidFill>
                    <a:srgbClr val="161A26"/>
                  </a:solidFill>
                </a:defRPr>
              </a:lvl1pPr>
            </a:lstStyle>
            <a:p>
              <a:pPr/>
              <a:r>
                <a:t>DEMO 0</a:t>
              </a:r>
            </a:p>
          </p:txBody>
        </p:sp>
      </p:grpSp>
      <p:sp>
        <p:nvSpPr>
          <p:cNvPr id="100" name="Text 1"/>
          <p:cNvSpPr txBox="1"/>
          <p:nvPr>
            <p:ph type="title"/>
          </p:nvPr>
        </p:nvSpPr>
        <p:spPr>
          <a:xfrm>
            <a:off x="812799" y="1229320"/>
            <a:ext cx="10883394" cy="472430"/>
          </a:xfrm>
          <a:prstGeom prst="rect">
            <a:avLst/>
          </a:prstGeom>
        </p:spPr>
        <p:txBody>
          <a:bodyPr/>
          <a:lstStyle>
            <a:lvl1pPr>
              <a:lnSpc>
                <a:spcPts val="3500"/>
              </a:lnSpc>
              <a:defRPr b="1">
                <a:solidFill>
                  <a:srgbClr val="161A26"/>
                </a:solidFill>
              </a:defRPr>
            </a:lvl1pPr>
          </a:lstStyle>
          <a:p>
            <a:pPr/>
            <a:r>
              <a:t>El punto de partida, sin personalizar</a:t>
            </a:r>
          </a:p>
        </p:txBody>
      </p:sp>
      <p:sp>
        <p:nvSpPr>
          <p:cNvPr id="101" name="Text 2"/>
          <p:cNvSpPr txBox="1"/>
          <p:nvPr/>
        </p:nvSpPr>
        <p:spPr>
          <a:xfrm>
            <a:off x="855712" y="1981149"/>
            <a:ext cx="4288017" cy="2363393"/>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marL="211088" indent="-211088">
              <a:lnSpc>
                <a:spcPts val="2200"/>
              </a:lnSpc>
              <a:buSzPct val="100000"/>
              <a:buAutoNum type="arabicPeriod" startAt="1"/>
              <a:defRPr sz="1500">
                <a:solidFill>
                  <a:srgbClr val="161A26"/>
                </a:solidFill>
              </a:defRPr>
            </a:pPr>
            <a:r>
              <a:t>El repo copilot-avalonia tal cual, en una sesión nueva.</a:t>
            </a:r>
            <a:endParaRPr>
              <a:solidFill>
                <a:srgbClr val="EEF0F4"/>
              </a:solidFill>
            </a:endParaRPr>
          </a:p>
          <a:p>
            <a:pPr marL="211088" indent="-211088">
              <a:lnSpc>
                <a:spcPts val="2200"/>
              </a:lnSpc>
              <a:buSzPct val="100000"/>
              <a:buAutoNum type="arabicPeriod" startAt="1"/>
              <a:defRPr sz="1500">
                <a:solidFill>
                  <a:srgbClr val="161A26"/>
                </a:solidFill>
              </a:defRPr>
            </a:pPr>
            <a:r>
              <a:t>Haz la pregunta y lee lo que responde.</a:t>
            </a:r>
            <a:endParaRPr>
              <a:solidFill>
                <a:srgbClr val="EEF0F4"/>
              </a:solidFill>
            </a:endParaRPr>
          </a:p>
          <a:p>
            <a:pPr marL="211088" indent="-211088">
              <a:lnSpc>
                <a:spcPts val="2200"/>
              </a:lnSpc>
              <a:buSzPct val="100000"/>
              <a:buAutoNum type="arabicPeriod" startAt="1"/>
              <a:defRPr sz="1500">
                <a:solidFill>
                  <a:srgbClr val="161A26"/>
                </a:solidFill>
              </a:defRPr>
            </a:pPr>
            <a:r>
              <a:t>Opcional: el prompt del botón Clear con el que cierra la charla.</a:t>
            </a:r>
          </a:p>
        </p:txBody>
      </p:sp>
      <p:sp>
        <p:nvSpPr>
          <p:cNvPr id="102" name="Shape 3"/>
          <p:cNvSpPr/>
          <p:nvPr/>
        </p:nvSpPr>
        <p:spPr>
          <a:xfrm>
            <a:off x="5329782" y="1981150"/>
            <a:ext cx="6049418" cy="2337992"/>
          </a:xfrm>
          <a:prstGeom prst="roundRect">
            <a:avLst>
              <a:gd name="adj" fmla="val 4346"/>
            </a:avLst>
          </a:prstGeom>
          <a:solidFill>
            <a:srgbClr val="161A26"/>
          </a:solidFill>
          <a:ln w="12700">
            <a:miter lim="400000"/>
          </a:ln>
        </p:spPr>
        <p:txBody>
          <a:bodyPr lIns="45719" rIns="45719"/>
          <a:lstStyle/>
          <a:p>
            <a:pPr>
              <a:defRPr>
                <a:solidFill>
                  <a:srgbClr val="EEF0F4"/>
                </a:solidFill>
              </a:defRPr>
            </a:pPr>
          </a:p>
        </p:txBody>
      </p:sp>
      <p:sp>
        <p:nvSpPr>
          <p:cNvPr id="103" name="Text 4"/>
          <p:cNvSpPr txBox="1"/>
          <p:nvPr/>
        </p:nvSpPr>
        <p:spPr>
          <a:xfrm>
            <a:off x="5583782" y="2235150"/>
            <a:ext cx="570766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1"/>
                </a:solidFill>
              </a:defRPr>
            </a:lvl1pPr>
          </a:lstStyle>
          <a:p>
            <a:pPr/>
            <a:r>
              <a:t>PROMPT</a:t>
            </a:r>
          </a:p>
        </p:txBody>
      </p:sp>
      <p:sp>
        <p:nvSpPr>
          <p:cNvPr id="104" name="Text 5"/>
          <p:cNvSpPr txBox="1"/>
          <p:nvPr/>
        </p:nvSpPr>
        <p:spPr>
          <a:xfrm>
            <a:off x="5583782" y="2550071"/>
            <a:ext cx="5707660" cy="685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200">
                <a:solidFill>
                  <a:srgbClr val="EEF0F4"/>
                </a:solidFill>
                <a:latin typeface="JetBrains Mono"/>
                <a:ea typeface="JetBrains Mono"/>
                <a:cs typeface="JetBrains Mono"/>
                <a:sym typeface="JetBrains Mono"/>
              </a:defRPr>
            </a:lvl1pPr>
          </a:lstStyle>
          <a:p>
            <a:pPr/>
            <a:r>
              <a:t>What rules should I follow when I change the UI in this repo? Answer in at most five short bullets. If the repo states no rules, say so.</a:t>
            </a:r>
          </a:p>
        </p:txBody>
      </p:sp>
      <p:sp>
        <p:nvSpPr>
          <p:cNvPr id="105" name="Text 6"/>
          <p:cNvSpPr txBox="1"/>
          <p:nvPr/>
        </p:nvSpPr>
        <p:spPr>
          <a:xfrm>
            <a:off x="5583782" y="3445421"/>
            <a:ext cx="570766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1"/>
                </a:solidFill>
              </a:defRPr>
            </a:lvl1pPr>
          </a:lstStyle>
          <a:p>
            <a:pPr/>
            <a:r>
              <a:t>QUÉ DEBERÍAS VER</a:t>
            </a:r>
          </a:p>
        </p:txBody>
      </p:sp>
      <p:sp>
        <p:nvSpPr>
          <p:cNvPr id="106" name="Text 7"/>
          <p:cNvSpPr txBox="1"/>
          <p:nvPr/>
        </p:nvSpPr>
        <p:spPr>
          <a:xfrm>
            <a:off x="5583782" y="3760341"/>
            <a:ext cx="5707660"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EEF0F4"/>
                </a:solidFill>
              </a:defRPr>
            </a:lvl1pPr>
          </a:lstStyle>
          <a:p>
            <a:pPr/>
            <a:r>
              <a:t>Dice que no hay reglas específicas de UI y da consejos genéricos deducidos de la estructura de carpetas.</a:t>
            </a:r>
          </a:p>
        </p:txBody>
      </p:sp>
      <p:sp>
        <p:nvSpPr>
          <p:cNvPr id="107" name="Text 8"/>
          <p:cNvSpPr txBox="1"/>
          <p:nvPr/>
        </p:nvSpPr>
        <p:spPr>
          <a:xfrm>
            <a:off x="812799" y="4623941"/>
            <a:ext cx="10883394"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4A5263"/>
                </a:solidFill>
                <a:latin typeface="JetBrains Mono"/>
                <a:ea typeface="JetBrains Mono"/>
                <a:cs typeface="JetBrains Mono"/>
                <a:sym typeface="JetBrains Mono"/>
              </a:defRPr>
            </a:lvl1pPr>
          </a:lstStyle>
          <a:p>
            <a:pPr/>
            <a:r>
              <a:t>Proyecto: 00-baseline</a:t>
            </a:r>
          </a:p>
        </p:txBody>
      </p:sp>
      <p:sp>
        <p:nvSpPr>
          <p:cNvPr id="108" name="Text 9"/>
          <p:cNvSpPr txBox="1"/>
          <p:nvPr/>
        </p:nvSpPr>
        <p:spPr>
          <a:xfrm>
            <a:off x="812799" y="6238280"/>
            <a:ext cx="302782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C6470"/>
                </a:solidFill>
              </a:defRPr>
            </a:lvl1pPr>
          </a:lstStyle>
          <a:p>
            <a:pPr/>
            <a:r>
              <a:t>Extensibilidad de GitHub Copilot App</a:t>
            </a:r>
          </a:p>
        </p:txBody>
      </p:sp>
      <p:sp>
        <p:nvSpPr>
          <p:cNvPr id="109" name="Text 10"/>
          <p:cNvSpPr txBox="1"/>
          <p:nvPr/>
        </p:nvSpPr>
        <p:spPr>
          <a:xfrm>
            <a:off x="11236920" y="6238280"/>
            <a:ext cx="14228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rgbClr val="5C6470"/>
                </a:solidFill>
              </a:defRPr>
            </a:lvl1pPr>
          </a:lstStyle>
          <a:p>
            <a:pPr/>
            <a:r>
              <a:t>6</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3"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2"/>
                </a:solidFill>
              </a:defRPr>
            </a:lvl1pPr>
          </a:lstStyle>
          <a:p>
            <a:pPr/>
            <a:r>
              <a:t>PASO 1 · INSTRUCCIONES</a:t>
            </a:r>
          </a:p>
        </p:txBody>
      </p:sp>
      <p:sp>
        <p:nvSpPr>
          <p:cNvPr id="114" name="Text 1"/>
          <p:cNvSpPr txBox="1"/>
          <p:nvPr>
            <p:ph type="title"/>
          </p:nvPr>
        </p:nvSpPr>
        <p:spPr>
          <a:xfrm>
            <a:off x="812799" y="1127720"/>
            <a:ext cx="10883394" cy="472430"/>
          </a:xfrm>
          <a:prstGeom prst="rect">
            <a:avLst/>
          </a:prstGeom>
        </p:spPr>
        <p:txBody>
          <a:bodyPr/>
          <a:lstStyle>
            <a:lvl1pPr>
              <a:lnSpc>
                <a:spcPts val="3500"/>
              </a:lnSpc>
              <a:defRPr b="1"/>
            </a:lvl1pPr>
          </a:lstStyle>
          <a:p>
            <a:pPr/>
            <a:r>
              <a:t>Reglas que el agente siempre lee</a:t>
            </a:r>
          </a:p>
        </p:txBody>
      </p:sp>
      <p:sp>
        <p:nvSpPr>
          <p:cNvPr id="115" name="Text 2"/>
          <p:cNvSpPr txBox="1"/>
          <p:nvPr/>
        </p:nvSpPr>
        <p:spPr>
          <a:xfrm>
            <a:off x="812800" y="1879550"/>
            <a:ext cx="4224090" cy="8255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EEF0F4"/>
                </a:solidFill>
              </a:defRPr>
            </a:lvl1pPr>
          </a:lstStyle>
          <a:p>
            <a:pPr/>
            <a:r>
              <a:t>Markdown que se carga al empezar cada sesión. Sin sintaxis especial: lo que le dirías a alguien nuevo en el equipo.</a:t>
            </a:r>
          </a:p>
        </p:txBody>
      </p:sp>
      <p:sp>
        <p:nvSpPr>
          <p:cNvPr id="116" name="Text 3"/>
          <p:cNvSpPr txBox="1"/>
          <p:nvPr/>
        </p:nvSpPr>
        <p:spPr>
          <a:xfrm>
            <a:off x="812800" y="2832050"/>
            <a:ext cx="4224090"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Tres ámbitos: todo el repo, una ruta concreta con applyTo, y tu usuario en ~/.copilot/.</a:t>
            </a:r>
          </a:p>
        </p:txBody>
      </p:sp>
      <p:sp>
        <p:nvSpPr>
          <p:cNvPr id="117" name="Text 4"/>
          <p:cNvSpPr txBox="1"/>
          <p:nvPr/>
        </p:nvSpPr>
        <p:spPr>
          <a:xfrm>
            <a:off x="812800" y="3517850"/>
            <a:ext cx="4224090"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Úsalas para lo que siempre aplica. Lo que solo necesitas a veces es una skill.</a:t>
            </a:r>
          </a:p>
        </p:txBody>
      </p:sp>
      <p:sp>
        <p:nvSpPr>
          <p:cNvPr id="118" name="Shape 5"/>
          <p:cNvSpPr/>
          <p:nvPr/>
        </p:nvSpPr>
        <p:spPr>
          <a:xfrm>
            <a:off x="5221832" y="1882725"/>
            <a:ext cx="6154193" cy="3658792"/>
          </a:xfrm>
          <a:prstGeom prst="roundRect">
            <a:avLst>
              <a:gd name="adj" fmla="val 2690"/>
            </a:avLst>
          </a:prstGeom>
          <a:solidFill>
            <a:srgbClr val="1A2133"/>
          </a:solidFill>
          <a:ln w="6350">
            <a:solidFill>
              <a:srgbClr val="2B3550"/>
            </a:solidFill>
          </a:ln>
        </p:spPr>
        <p:txBody>
          <a:bodyPr lIns="45719" rIns="45719"/>
          <a:lstStyle/>
          <a:p>
            <a:pPr>
              <a:defRPr>
                <a:solidFill>
                  <a:srgbClr val="EEF0F4"/>
                </a:solidFill>
              </a:defRPr>
            </a:pPr>
          </a:p>
        </p:txBody>
      </p:sp>
      <p:sp>
        <p:nvSpPr>
          <p:cNvPr id="119" name="Text 6"/>
          <p:cNvSpPr txBox="1"/>
          <p:nvPr/>
        </p:nvSpPr>
        <p:spPr>
          <a:xfrm>
            <a:off x="5428207" y="2089100"/>
            <a:ext cx="5913686"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latin typeface="JetBrains Mono"/>
                <a:ea typeface="JetBrains Mono"/>
                <a:cs typeface="JetBrains Mono"/>
                <a:sym typeface="JetBrains Mono"/>
              </a:defRPr>
            </a:lvl1pPr>
          </a:lstStyle>
          <a:p>
            <a:pPr/>
            <a:r>
              <a:t>.github/copilot-instructions.md</a:t>
            </a:r>
          </a:p>
        </p:txBody>
      </p:sp>
      <p:sp>
        <p:nvSpPr>
          <p:cNvPr id="120" name="Text 7"/>
          <p:cNvSpPr txBox="1"/>
          <p:nvPr/>
        </p:nvSpPr>
        <p:spPr>
          <a:xfrm>
            <a:off x="5428207" y="2404021"/>
            <a:ext cx="5913686" cy="16256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800"/>
              </a:lnSpc>
              <a:defRPr sz="1200">
                <a:solidFill>
                  <a:schemeClr val="accent2"/>
                </a:solidFill>
                <a:latin typeface="JetBrains Mono"/>
                <a:ea typeface="JetBrains Mono"/>
                <a:cs typeface="JetBrains Mono"/>
                <a:sym typeface="JetBrains Mono"/>
              </a:defRPr>
            </a:pPr>
            <a:r>
              <a:t>## UI conventions</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Every interactive control has Name and</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AutomationProperties.AutomationId.</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PascalCase, ending with the control type:</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GreetButton, NameBox, PriorityCombo.</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Build before you finish:</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dotnet build src/SampleApp/SampleApp.csproj</a:t>
            </a:r>
          </a:p>
        </p:txBody>
      </p:sp>
      <p:sp>
        <p:nvSpPr>
          <p:cNvPr id="121" name="Text 8"/>
          <p:cNvSpPr txBox="1"/>
          <p:nvPr/>
        </p:nvSpPr>
        <p:spPr>
          <a:xfrm>
            <a:off x="5428207" y="4105821"/>
            <a:ext cx="5913686"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latin typeface="JetBrains Mono"/>
                <a:ea typeface="JetBrains Mono"/>
                <a:cs typeface="JetBrains Mono"/>
                <a:sym typeface="JetBrains Mono"/>
              </a:defRPr>
            </a:lvl1pPr>
          </a:lstStyle>
          <a:p>
            <a:pPr/>
            <a:r>
              <a:t>.github/instructions/axaml.instructions.md</a:t>
            </a:r>
          </a:p>
        </p:txBody>
      </p:sp>
      <p:sp>
        <p:nvSpPr>
          <p:cNvPr id="122" name="Text 9"/>
          <p:cNvSpPr txBox="1"/>
          <p:nvPr/>
        </p:nvSpPr>
        <p:spPr>
          <a:xfrm>
            <a:off x="5428207" y="4420741"/>
            <a:ext cx="5913686" cy="939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800"/>
              </a:lnSpc>
              <a:defRPr sz="1200">
                <a:solidFill>
                  <a:srgbClr val="D7DEEA"/>
                </a:solidFill>
                <a:latin typeface="JetBrains Mono"/>
                <a:ea typeface="JetBrains Mono"/>
                <a:cs typeface="JetBrains Mono"/>
                <a:sym typeface="JetBrains Mono"/>
              </a:defRPr>
            </a:pPr>
            <a:r>
              <a: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applyTo: </a:t>
            </a:r>
            <a:r>
              <a:rPr>
                <a:solidFill>
                  <a:schemeClr val="accent1"/>
                </a:solidFill>
              </a:rPr>
              <a:t>"**/*.axaml"</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Use compiled bindings and declare x:DataType.</a:t>
            </a:r>
          </a:p>
        </p:txBody>
      </p:sp>
      <p:sp>
        <p:nvSpPr>
          <p:cNvPr id="123" name="Text 10"/>
          <p:cNvSpPr txBox="1"/>
          <p:nvPr/>
        </p:nvSpPr>
        <p:spPr>
          <a:xfrm>
            <a:off x="812799" y="6238280"/>
            <a:ext cx="302782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defRPr>
            </a:lvl1pPr>
          </a:lstStyle>
          <a:p>
            <a:pPr/>
            <a:r>
              <a:t>Extensibilidad de GitHub Copilot App</a:t>
            </a:r>
          </a:p>
        </p:txBody>
      </p:sp>
      <p:sp>
        <p:nvSpPr>
          <p:cNvPr id="124" name="Text 11"/>
          <p:cNvSpPr txBox="1"/>
          <p:nvPr/>
        </p:nvSpPr>
        <p:spPr>
          <a:xfrm>
            <a:off x="11236920" y="6238280"/>
            <a:ext cx="14228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chemeClr val="accent6"/>
                </a:solidFill>
              </a:defRPr>
            </a:lvl1pPr>
          </a:lstStyle>
          <a:p>
            <a:pPr/>
            <a:r>
              <a:t>7</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1EA"/>
        </a:solidFill>
      </p:bgPr>
    </p:bg>
    <p:spTree>
      <p:nvGrpSpPr>
        <p:cNvPr id="1" name=""/>
        <p:cNvGrpSpPr/>
        <p:nvPr/>
      </p:nvGrpSpPr>
      <p:grpSpPr>
        <a:xfrm>
          <a:off x="0" y="0"/>
          <a:ext cx="0" cy="0"/>
          <a:chOff x="0" y="0"/>
          <a:chExt cx="0" cy="0"/>
        </a:xfrm>
      </p:grpSpPr>
      <p:grpSp>
        <p:nvGrpSpPr>
          <p:cNvPr id="130" name="Text 0"/>
          <p:cNvGrpSpPr/>
          <p:nvPr/>
        </p:nvGrpSpPr>
        <p:grpSpPr>
          <a:xfrm>
            <a:off x="812800" y="812800"/>
            <a:ext cx="887164" cy="314920"/>
            <a:chOff x="0" y="0"/>
            <a:chExt cx="887163" cy="314919"/>
          </a:xfrm>
        </p:grpSpPr>
        <p:sp>
          <p:nvSpPr>
            <p:cNvPr id="128" name="Rounded Rectangle"/>
            <p:cNvSpPr/>
            <p:nvPr/>
          </p:nvSpPr>
          <p:spPr>
            <a:xfrm>
              <a:off x="0" y="0"/>
              <a:ext cx="887164" cy="314920"/>
            </a:xfrm>
            <a:prstGeom prst="roundRect">
              <a:avLst>
                <a:gd name="adj" fmla="val 48393"/>
              </a:avLst>
            </a:prstGeom>
            <a:solidFill>
              <a:schemeClr val="accent1"/>
            </a:solidFill>
            <a:ln w="12700" cap="flat">
              <a:noFill/>
              <a:miter lim="400000"/>
            </a:ln>
            <a:effectLst/>
          </p:spPr>
          <p:txBody>
            <a:bodyPr wrap="square" lIns="45719" tIns="45719" rIns="45719" bIns="45719" numCol="1" anchor="ctr">
              <a:noAutofit/>
            </a:bodyPr>
            <a:lstStyle/>
            <a:p>
              <a:pPr algn="ctr">
                <a:lnSpc>
                  <a:spcPts val="1600"/>
                </a:lnSpc>
                <a:defRPr sz="1200">
                  <a:solidFill>
                    <a:srgbClr val="EEF0F4"/>
                  </a:solidFill>
                </a:defRPr>
              </a:pPr>
            </a:p>
          </p:txBody>
        </p:sp>
        <p:sp>
          <p:nvSpPr>
            <p:cNvPr id="129" name="DEMO 1"/>
            <p:cNvSpPr txBox="1"/>
            <p:nvPr/>
          </p:nvSpPr>
          <p:spPr>
            <a:xfrm>
              <a:off x="106981" y="44636"/>
              <a:ext cx="673201" cy="225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normAutofit fontScale="100000" lnSpcReduction="0"/>
            </a:bodyPr>
            <a:lstStyle>
              <a:lvl1pPr algn="ctr">
                <a:lnSpc>
                  <a:spcPts val="1600"/>
                </a:lnSpc>
                <a:defRPr b="1" spc="100" sz="1200">
                  <a:solidFill>
                    <a:srgbClr val="161A26"/>
                  </a:solidFill>
                </a:defRPr>
              </a:lvl1pPr>
            </a:lstStyle>
            <a:p>
              <a:pPr/>
              <a:r>
                <a:t>DEMO 1</a:t>
              </a:r>
            </a:p>
          </p:txBody>
        </p:sp>
      </p:grpSp>
      <p:sp>
        <p:nvSpPr>
          <p:cNvPr id="131" name="Text 1"/>
          <p:cNvSpPr txBox="1"/>
          <p:nvPr>
            <p:ph type="title"/>
          </p:nvPr>
        </p:nvSpPr>
        <p:spPr>
          <a:xfrm>
            <a:off x="812799" y="1229320"/>
            <a:ext cx="10883394" cy="472430"/>
          </a:xfrm>
          <a:prstGeom prst="rect">
            <a:avLst/>
          </a:prstGeom>
        </p:spPr>
        <p:txBody>
          <a:bodyPr/>
          <a:lstStyle>
            <a:lvl1pPr>
              <a:lnSpc>
                <a:spcPts val="3500"/>
              </a:lnSpc>
              <a:defRPr b="1">
                <a:solidFill>
                  <a:srgbClr val="161A26"/>
                </a:solidFill>
              </a:defRPr>
            </a:lvl1pPr>
          </a:lstStyle>
          <a:p>
            <a:pPr/>
            <a:r>
              <a:t>El mismo prompt, ahora con reglas</a:t>
            </a:r>
          </a:p>
        </p:txBody>
      </p:sp>
      <p:sp>
        <p:nvSpPr>
          <p:cNvPr id="132" name="Text 2"/>
          <p:cNvSpPr txBox="1"/>
          <p:nvPr/>
        </p:nvSpPr>
        <p:spPr>
          <a:xfrm>
            <a:off x="855712" y="1981149"/>
            <a:ext cx="4288017" cy="2363393"/>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marL="211088" indent="-211088">
              <a:lnSpc>
                <a:spcPts val="2200"/>
              </a:lnSpc>
              <a:buSzPct val="100000"/>
              <a:buAutoNum type="arabicPeriod" startAt="1"/>
              <a:defRPr sz="1500">
                <a:solidFill>
                  <a:srgbClr val="161A26"/>
                </a:solidFill>
              </a:defRPr>
            </a:pPr>
            <a:r>
              <a:t>Abre el proyecto 01-instructions en una sesión nueva.</a:t>
            </a:r>
            <a:endParaRPr>
              <a:solidFill>
                <a:srgbClr val="EEF0F4"/>
              </a:solidFill>
            </a:endParaRPr>
          </a:p>
          <a:p>
            <a:pPr marL="211088" indent="-211088">
              <a:lnSpc>
                <a:spcPts val="2200"/>
              </a:lnSpc>
              <a:buSzPct val="100000"/>
              <a:buAutoNum type="arabicPeriod" startAt="1"/>
              <a:defRPr sz="1500">
                <a:solidFill>
                  <a:srgbClr val="161A26"/>
                </a:solidFill>
              </a:defRPr>
            </a:pPr>
            <a:r>
              <a:t>Enseña los dos ficheros: basta con leer dos líneas.</a:t>
            </a:r>
            <a:endParaRPr>
              <a:solidFill>
                <a:srgbClr val="EEF0F4"/>
              </a:solidFill>
            </a:endParaRPr>
          </a:p>
          <a:p>
            <a:pPr marL="211088" indent="-211088">
              <a:lnSpc>
                <a:spcPts val="2200"/>
              </a:lnSpc>
              <a:buSzPct val="100000"/>
              <a:buAutoNum type="arabicPeriod" startAt="1"/>
              <a:defRPr sz="1500">
                <a:solidFill>
                  <a:srgbClr val="161A26"/>
                </a:solidFill>
              </a:defRPr>
            </a:pPr>
            <a:r>
              <a:t>Repite el prompt de la demo anterior.</a:t>
            </a:r>
          </a:p>
        </p:txBody>
      </p:sp>
      <p:sp>
        <p:nvSpPr>
          <p:cNvPr id="133" name="Shape 3"/>
          <p:cNvSpPr/>
          <p:nvPr/>
        </p:nvSpPr>
        <p:spPr>
          <a:xfrm>
            <a:off x="5329782" y="1981150"/>
            <a:ext cx="6049418" cy="2337992"/>
          </a:xfrm>
          <a:prstGeom prst="roundRect">
            <a:avLst>
              <a:gd name="adj" fmla="val 4346"/>
            </a:avLst>
          </a:prstGeom>
          <a:solidFill>
            <a:srgbClr val="161A26"/>
          </a:solidFill>
          <a:ln w="12700">
            <a:miter lim="400000"/>
          </a:ln>
        </p:spPr>
        <p:txBody>
          <a:bodyPr lIns="45719" rIns="45719"/>
          <a:lstStyle/>
          <a:p>
            <a:pPr>
              <a:defRPr>
                <a:solidFill>
                  <a:srgbClr val="EEF0F4"/>
                </a:solidFill>
              </a:defRPr>
            </a:pPr>
          </a:p>
        </p:txBody>
      </p:sp>
      <p:sp>
        <p:nvSpPr>
          <p:cNvPr id="134" name="Text 4"/>
          <p:cNvSpPr txBox="1"/>
          <p:nvPr/>
        </p:nvSpPr>
        <p:spPr>
          <a:xfrm>
            <a:off x="5583782" y="2235150"/>
            <a:ext cx="570766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1"/>
                </a:solidFill>
              </a:defRPr>
            </a:lvl1pPr>
          </a:lstStyle>
          <a:p>
            <a:pPr/>
            <a:r>
              <a:t>PROMPT</a:t>
            </a:r>
          </a:p>
        </p:txBody>
      </p:sp>
      <p:sp>
        <p:nvSpPr>
          <p:cNvPr id="135" name="Text 5"/>
          <p:cNvSpPr txBox="1"/>
          <p:nvPr/>
        </p:nvSpPr>
        <p:spPr>
          <a:xfrm>
            <a:off x="5583782" y="2550071"/>
            <a:ext cx="5707660" cy="685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200">
                <a:solidFill>
                  <a:srgbClr val="EEF0F4"/>
                </a:solidFill>
                <a:latin typeface="JetBrains Mono"/>
                <a:ea typeface="JetBrains Mono"/>
                <a:cs typeface="JetBrains Mono"/>
                <a:sym typeface="JetBrains Mono"/>
              </a:defRPr>
            </a:lvl1pPr>
          </a:lstStyle>
          <a:p>
            <a:pPr/>
            <a:r>
              <a:t>What rules should I follow when I change the UI in this repo? Answer in at most five short bullets. If the repo states no rules, say so.</a:t>
            </a:r>
          </a:p>
        </p:txBody>
      </p:sp>
      <p:sp>
        <p:nvSpPr>
          <p:cNvPr id="136" name="Text 6"/>
          <p:cNvSpPr txBox="1"/>
          <p:nvPr/>
        </p:nvSpPr>
        <p:spPr>
          <a:xfrm>
            <a:off x="5583782" y="3445421"/>
            <a:ext cx="570766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1"/>
                </a:solidFill>
              </a:defRPr>
            </a:lvl1pPr>
          </a:lstStyle>
          <a:p>
            <a:pPr/>
            <a:r>
              <a:t>QUÉ DEBERÍAS VER</a:t>
            </a:r>
          </a:p>
        </p:txBody>
      </p:sp>
      <p:sp>
        <p:nvSpPr>
          <p:cNvPr id="137" name="Text 7"/>
          <p:cNvSpPr txBox="1"/>
          <p:nvPr/>
        </p:nvSpPr>
        <p:spPr>
          <a:xfrm>
            <a:off x="5583782" y="3760341"/>
            <a:ext cx="5707660"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EEF0F4"/>
                </a:solidFill>
              </a:defRPr>
            </a:lvl1pPr>
          </a:lstStyle>
          <a:p>
            <a:pPr/>
            <a:r>
              <a:t>Lista nuestras reglas: ids PascalCase acabados en el tipo de control, no cambiar un id, texto en inglés, el build.</a:t>
            </a:r>
          </a:p>
        </p:txBody>
      </p:sp>
      <p:sp>
        <p:nvSpPr>
          <p:cNvPr id="138" name="Text 8"/>
          <p:cNvSpPr txBox="1"/>
          <p:nvPr/>
        </p:nvSpPr>
        <p:spPr>
          <a:xfrm>
            <a:off x="812799" y="4623941"/>
            <a:ext cx="10883394"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4A5263"/>
                </a:solidFill>
                <a:latin typeface="JetBrains Mono"/>
                <a:ea typeface="JetBrains Mono"/>
                <a:cs typeface="JetBrains Mono"/>
                <a:sym typeface="JetBrains Mono"/>
              </a:defRPr>
            </a:lvl1pPr>
          </a:lstStyle>
          <a:p>
            <a:pPr/>
            <a:r>
              <a:t>Proyecto: 01-instructions</a:t>
            </a:r>
          </a:p>
        </p:txBody>
      </p:sp>
      <p:sp>
        <p:nvSpPr>
          <p:cNvPr id="139" name="Text 9"/>
          <p:cNvSpPr txBox="1"/>
          <p:nvPr/>
        </p:nvSpPr>
        <p:spPr>
          <a:xfrm>
            <a:off x="812799" y="6238280"/>
            <a:ext cx="302782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C6470"/>
                </a:solidFill>
              </a:defRPr>
            </a:lvl1pPr>
          </a:lstStyle>
          <a:p>
            <a:pPr/>
            <a:r>
              <a:t>Extensibilidad de GitHub Copilot App</a:t>
            </a:r>
          </a:p>
        </p:txBody>
      </p:sp>
      <p:sp>
        <p:nvSpPr>
          <p:cNvPr id="140" name="Text 10"/>
          <p:cNvSpPr txBox="1"/>
          <p:nvPr/>
        </p:nvSpPr>
        <p:spPr>
          <a:xfrm>
            <a:off x="11236920" y="6238280"/>
            <a:ext cx="14228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rgbClr val="5C6470"/>
                </a:solidFill>
              </a:defRPr>
            </a:lvl1pPr>
          </a:lstStyle>
          <a:p>
            <a:pPr/>
            <a:r>
              <a:t>8</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4"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2"/>
                </a:solidFill>
              </a:defRPr>
            </a:lvl1pPr>
          </a:lstStyle>
          <a:p>
            <a:pPr/>
            <a:r>
              <a:t>PASO 2 · SKILLS</a:t>
            </a:r>
          </a:p>
        </p:txBody>
      </p:sp>
      <p:sp>
        <p:nvSpPr>
          <p:cNvPr id="145" name="Text 1"/>
          <p:cNvSpPr txBox="1"/>
          <p:nvPr>
            <p:ph type="title"/>
          </p:nvPr>
        </p:nvSpPr>
        <p:spPr>
          <a:xfrm>
            <a:off x="812799" y="1127720"/>
            <a:ext cx="10883394" cy="472430"/>
          </a:xfrm>
          <a:prstGeom prst="rect">
            <a:avLst/>
          </a:prstGeom>
        </p:spPr>
        <p:txBody>
          <a:bodyPr/>
          <a:lstStyle>
            <a:lvl1pPr>
              <a:lnSpc>
                <a:spcPts val="3500"/>
              </a:lnSpc>
              <a:defRPr b="1"/>
            </a:lvl1pPr>
          </a:lstStyle>
          <a:p>
            <a:pPr/>
            <a:r>
              <a:t>Procedimientos que se cargan bajo demanda</a:t>
            </a:r>
          </a:p>
        </p:txBody>
      </p:sp>
      <p:sp>
        <p:nvSpPr>
          <p:cNvPr id="146" name="Text 2"/>
          <p:cNvSpPr txBox="1"/>
          <p:nvPr/>
        </p:nvSpPr>
        <p:spPr>
          <a:xfrm>
            <a:off x="812800" y="1879550"/>
            <a:ext cx="4224090" cy="8255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EEF0F4"/>
                </a:solidFill>
              </a:defRPr>
            </a:lvl1pPr>
          </a:lstStyle>
          <a:p>
            <a:pPr/>
            <a:r>
              <a:t>Una carpeta con un SKILL.md. El agente solo ve el nombre y la descripción hasta que la tarea encaja.</a:t>
            </a:r>
          </a:p>
        </p:txBody>
      </p:sp>
      <p:sp>
        <p:nvSpPr>
          <p:cNvPr id="147" name="Text 3"/>
          <p:cNvSpPr txBox="1"/>
          <p:nvPr/>
        </p:nvSpPr>
        <p:spPr>
          <a:xfrm>
            <a:off x="812800" y="2832050"/>
            <a:ext cx="4224090"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Entonces carga el procedimiento completo, con los scripts y ficheros que lo acompañan.</a:t>
            </a:r>
          </a:p>
        </p:txBody>
      </p:sp>
      <p:sp>
        <p:nvSpPr>
          <p:cNvPr id="148" name="Text 4"/>
          <p:cNvSpPr txBox="1"/>
          <p:nvPr/>
        </p:nvSpPr>
        <p:spPr>
          <a:xfrm>
            <a:off x="812800" y="3517850"/>
            <a:ext cx="4224090"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Se activa sola según la descripción, o a mano con /nombre. Para listarlas: /skills list.</a:t>
            </a:r>
          </a:p>
        </p:txBody>
      </p:sp>
      <p:sp>
        <p:nvSpPr>
          <p:cNvPr id="149" name="Shape 5"/>
          <p:cNvSpPr/>
          <p:nvPr/>
        </p:nvSpPr>
        <p:spPr>
          <a:xfrm>
            <a:off x="5221832" y="1882725"/>
            <a:ext cx="6154193" cy="3242270"/>
          </a:xfrm>
          <a:prstGeom prst="roundRect">
            <a:avLst>
              <a:gd name="adj" fmla="val 3036"/>
            </a:avLst>
          </a:prstGeom>
          <a:solidFill>
            <a:srgbClr val="1A2133"/>
          </a:solidFill>
          <a:ln w="6350">
            <a:solidFill>
              <a:srgbClr val="2B3550"/>
            </a:solidFill>
          </a:ln>
        </p:spPr>
        <p:txBody>
          <a:bodyPr lIns="45719" rIns="45719"/>
          <a:lstStyle/>
          <a:p>
            <a:pPr>
              <a:defRPr>
                <a:solidFill>
                  <a:srgbClr val="EEF0F4"/>
                </a:solidFill>
              </a:defRPr>
            </a:pPr>
          </a:p>
        </p:txBody>
      </p:sp>
      <p:sp>
        <p:nvSpPr>
          <p:cNvPr id="150" name="Text 6"/>
          <p:cNvSpPr txBox="1"/>
          <p:nvPr/>
        </p:nvSpPr>
        <p:spPr>
          <a:xfrm>
            <a:off x="5428207" y="2089100"/>
            <a:ext cx="5913686"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latin typeface="JetBrains Mono"/>
                <a:ea typeface="JetBrains Mono"/>
                <a:cs typeface="JetBrains Mono"/>
                <a:sym typeface="JetBrains Mono"/>
              </a:defRPr>
            </a:lvl1pPr>
          </a:lstStyle>
          <a:p>
            <a:pPr/>
            <a:r>
              <a:t>.github/skills/avalonia-automation-ids/SKILL.md</a:t>
            </a:r>
          </a:p>
        </p:txBody>
      </p:sp>
      <p:sp>
        <p:nvSpPr>
          <p:cNvPr id="151" name="Text 7"/>
          <p:cNvSpPr txBox="1"/>
          <p:nvPr/>
        </p:nvSpPr>
        <p:spPr>
          <a:xfrm>
            <a:off x="5428207" y="2404021"/>
            <a:ext cx="5913686" cy="25400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800"/>
              </a:lnSpc>
              <a:defRPr sz="1200">
                <a:solidFill>
                  <a:srgbClr val="D7DEEA"/>
                </a:solidFill>
                <a:latin typeface="JetBrains Mono"/>
                <a:ea typeface="JetBrains Mono"/>
                <a:cs typeface="JetBrains Mono"/>
                <a:sym typeface="JetBrains Mono"/>
              </a:defRPr>
            </a:pPr>
            <a:r>
              <a: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name: </a:t>
            </a:r>
            <a:r>
              <a:rPr>
                <a:solidFill>
                  <a:schemeClr val="accent1"/>
                </a:solidFill>
              </a:rPr>
              <a:t>avalonia-automation-ids</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description: </a:t>
            </a:r>
            <a:r>
              <a:rPr>
                <a:solidFill>
                  <a:schemeClr val="accent1"/>
                </a:solidFill>
              </a:rPr>
              <a:t>Audits and fixes the AutomationIds</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a:t>
            </a:r>
            <a:r>
              <a:rPr>
                <a:solidFill>
                  <a:schemeClr val="accent1"/>
                </a:solidFill>
              </a:rPr>
              <a:t>in the AXAML views. Use it when preparing a</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a:t>
            </a:r>
            <a:r>
              <a:rPr>
                <a:solidFill>
                  <a:schemeClr val="accent1"/>
                </a:solidFill>
              </a:rPr>
              <a:t>screen for UI tests.</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1. Find the *.axaml files, skipping bin and obj.</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2. Inventory the interactive controls.</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3. Table: file, line, type, proposed id.</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4. Ask for confirmation before editing.</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5. Verify: build and check nothing is missing.</a:t>
            </a:r>
          </a:p>
        </p:txBody>
      </p:sp>
      <p:sp>
        <p:nvSpPr>
          <p:cNvPr id="152" name="Text 8"/>
          <p:cNvSpPr txBox="1"/>
          <p:nvPr/>
        </p:nvSpPr>
        <p:spPr>
          <a:xfrm>
            <a:off x="812799" y="6238280"/>
            <a:ext cx="302782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defRPr>
            </a:lvl1pPr>
          </a:lstStyle>
          <a:p>
            <a:pPr/>
            <a:r>
              <a:t>Extensibilidad de GitHub Copilot App</a:t>
            </a:r>
          </a:p>
        </p:txBody>
      </p:sp>
      <p:sp>
        <p:nvSpPr>
          <p:cNvPr id="153" name="Text 9"/>
          <p:cNvSpPr txBox="1"/>
          <p:nvPr/>
        </p:nvSpPr>
        <p:spPr>
          <a:xfrm>
            <a:off x="11236920" y="6238280"/>
            <a:ext cx="14228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chemeClr val="accent6"/>
                </a:solidFill>
              </a:defRPr>
            </a:lvl1pPr>
          </a:lstStyle>
          <a:p>
            <a:pPr/>
            <a:r>
              <a:t>9</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1EA"/>
        </a:solidFill>
      </p:bgPr>
    </p:bg>
    <p:spTree>
      <p:nvGrpSpPr>
        <p:cNvPr id="1" name=""/>
        <p:cNvGrpSpPr/>
        <p:nvPr/>
      </p:nvGrpSpPr>
      <p:grpSpPr>
        <a:xfrm>
          <a:off x="0" y="0"/>
          <a:ext cx="0" cy="0"/>
          <a:chOff x="0" y="0"/>
          <a:chExt cx="0" cy="0"/>
        </a:xfrm>
      </p:grpSpPr>
      <p:grpSp>
        <p:nvGrpSpPr>
          <p:cNvPr id="159" name="Text 0"/>
          <p:cNvGrpSpPr/>
          <p:nvPr/>
        </p:nvGrpSpPr>
        <p:grpSpPr>
          <a:xfrm>
            <a:off x="812800" y="812800"/>
            <a:ext cx="887164" cy="314920"/>
            <a:chOff x="0" y="0"/>
            <a:chExt cx="887163" cy="314919"/>
          </a:xfrm>
        </p:grpSpPr>
        <p:sp>
          <p:nvSpPr>
            <p:cNvPr id="157" name="Rounded Rectangle"/>
            <p:cNvSpPr/>
            <p:nvPr/>
          </p:nvSpPr>
          <p:spPr>
            <a:xfrm>
              <a:off x="0" y="0"/>
              <a:ext cx="887164" cy="314920"/>
            </a:xfrm>
            <a:prstGeom prst="roundRect">
              <a:avLst>
                <a:gd name="adj" fmla="val 48393"/>
              </a:avLst>
            </a:prstGeom>
            <a:solidFill>
              <a:schemeClr val="accent1"/>
            </a:solidFill>
            <a:ln w="12700" cap="flat">
              <a:noFill/>
              <a:miter lim="400000"/>
            </a:ln>
            <a:effectLst/>
          </p:spPr>
          <p:txBody>
            <a:bodyPr wrap="square" lIns="45719" tIns="45719" rIns="45719" bIns="45719" numCol="1" anchor="ctr">
              <a:noAutofit/>
            </a:bodyPr>
            <a:lstStyle/>
            <a:p>
              <a:pPr algn="ctr">
                <a:lnSpc>
                  <a:spcPts val="1600"/>
                </a:lnSpc>
                <a:defRPr sz="1200">
                  <a:solidFill>
                    <a:srgbClr val="EEF0F4"/>
                  </a:solidFill>
                </a:defRPr>
              </a:pPr>
            </a:p>
          </p:txBody>
        </p:sp>
        <p:sp>
          <p:nvSpPr>
            <p:cNvPr id="158" name="DEMO 2"/>
            <p:cNvSpPr txBox="1"/>
            <p:nvPr/>
          </p:nvSpPr>
          <p:spPr>
            <a:xfrm>
              <a:off x="106981" y="44636"/>
              <a:ext cx="673201" cy="225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normAutofit fontScale="100000" lnSpcReduction="0"/>
            </a:bodyPr>
            <a:lstStyle>
              <a:lvl1pPr algn="ctr">
                <a:lnSpc>
                  <a:spcPts val="1600"/>
                </a:lnSpc>
                <a:defRPr b="1" spc="100" sz="1200">
                  <a:solidFill>
                    <a:srgbClr val="161A26"/>
                  </a:solidFill>
                </a:defRPr>
              </a:lvl1pPr>
            </a:lstStyle>
            <a:p>
              <a:pPr/>
              <a:r>
                <a:t>DEMO 2</a:t>
              </a:r>
            </a:p>
          </p:txBody>
        </p:sp>
      </p:grpSp>
      <p:sp>
        <p:nvSpPr>
          <p:cNvPr id="160" name="Text 1"/>
          <p:cNvSpPr txBox="1"/>
          <p:nvPr>
            <p:ph type="title"/>
          </p:nvPr>
        </p:nvSpPr>
        <p:spPr>
          <a:xfrm>
            <a:off x="812799" y="1229320"/>
            <a:ext cx="10883394" cy="472430"/>
          </a:xfrm>
          <a:prstGeom prst="rect">
            <a:avLst/>
          </a:prstGeom>
        </p:spPr>
        <p:txBody>
          <a:bodyPr/>
          <a:lstStyle>
            <a:lvl1pPr>
              <a:lnSpc>
                <a:spcPts val="3500"/>
              </a:lnSpc>
              <a:defRPr b="1">
                <a:solidFill>
                  <a:srgbClr val="161A26"/>
                </a:solidFill>
              </a:defRPr>
            </a:lvl1pPr>
          </a:lstStyle>
          <a:p>
            <a:pPr/>
            <a:r>
              <a:t>Audita los AutomationId con una skill</a:t>
            </a:r>
          </a:p>
        </p:txBody>
      </p:sp>
      <p:sp>
        <p:nvSpPr>
          <p:cNvPr id="161" name="Shape 2"/>
          <p:cNvSpPr/>
          <p:nvPr/>
        </p:nvSpPr>
        <p:spPr>
          <a:xfrm>
            <a:off x="812800" y="1879550"/>
            <a:ext cx="4546600" cy="2444552"/>
          </a:xfrm>
          <a:prstGeom prst="roundRect">
            <a:avLst>
              <a:gd name="adj" fmla="val 4156"/>
            </a:avLst>
          </a:prstGeom>
          <a:solidFill>
            <a:srgbClr val="161A26"/>
          </a:solidFill>
          <a:ln w="12700">
            <a:miter lim="400000"/>
          </a:ln>
        </p:spPr>
        <p:txBody>
          <a:bodyPr lIns="45719" rIns="45719"/>
          <a:lstStyle/>
          <a:p>
            <a:pPr>
              <a:defRPr>
                <a:solidFill>
                  <a:srgbClr val="EEF0F4"/>
                </a:solidFill>
              </a:defRPr>
            </a:pPr>
          </a:p>
        </p:txBody>
      </p:sp>
      <p:sp>
        <p:nvSpPr>
          <p:cNvPr id="162" name="Text 3"/>
          <p:cNvSpPr txBox="1"/>
          <p:nvPr/>
        </p:nvSpPr>
        <p:spPr>
          <a:xfrm>
            <a:off x="1066799" y="2133550"/>
            <a:ext cx="415976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1"/>
                </a:solidFill>
              </a:defRPr>
            </a:lvl1pPr>
          </a:lstStyle>
          <a:p>
            <a:pPr/>
            <a:r>
              <a:t>PROMPT</a:t>
            </a:r>
          </a:p>
        </p:txBody>
      </p:sp>
      <p:sp>
        <p:nvSpPr>
          <p:cNvPr id="163" name="Text 4"/>
          <p:cNvSpPr txBox="1"/>
          <p:nvPr/>
        </p:nvSpPr>
        <p:spPr>
          <a:xfrm>
            <a:off x="1066799" y="2448471"/>
            <a:ext cx="4159760"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200">
                <a:solidFill>
                  <a:srgbClr val="EEF0F4"/>
                </a:solidFill>
                <a:latin typeface="JetBrains Mono"/>
                <a:ea typeface="JetBrains Mono"/>
                <a:cs typeface="JetBrains Mono"/>
                <a:sym typeface="JetBrains Mono"/>
              </a:defRPr>
            </a:lvl1pPr>
          </a:lstStyle>
          <a:p>
            <a:pPr/>
            <a:r>
              <a:t>Use the /avalonia-automation-ids skill to review src/SampleApp.</a:t>
            </a:r>
          </a:p>
        </p:txBody>
      </p:sp>
      <p:sp>
        <p:nvSpPr>
          <p:cNvPr id="164" name="Text 5"/>
          <p:cNvSpPr txBox="1"/>
          <p:nvPr/>
        </p:nvSpPr>
        <p:spPr>
          <a:xfrm>
            <a:off x="1066799" y="3115221"/>
            <a:ext cx="415976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1"/>
                </a:solidFill>
              </a:defRPr>
            </a:lvl1pPr>
          </a:lstStyle>
          <a:p>
            <a:pPr/>
            <a:r>
              <a:t>QUÉ DEBERÍAS VER</a:t>
            </a:r>
          </a:p>
        </p:txBody>
      </p:sp>
      <p:sp>
        <p:nvSpPr>
          <p:cNvPr id="165" name="Text 6"/>
          <p:cNvSpPr txBox="1"/>
          <p:nvPr/>
        </p:nvSpPr>
        <p:spPr>
          <a:xfrm>
            <a:off x="1066799" y="3430141"/>
            <a:ext cx="4159760" cy="66536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EEF0F4"/>
                </a:solidFill>
              </a:defRPr>
            </a:lvl1pPr>
          </a:lstStyle>
          <a:p>
            <a:pPr/>
            <a:r>
              <a:t>Una tabla con los cinco MenuItem sin identificador (File, Exit, View, Light theme y Dark theme) y un nombre propuesto para cada uno.</a:t>
            </a:r>
          </a:p>
        </p:txBody>
      </p:sp>
      <p:sp>
        <p:nvSpPr>
          <p:cNvPr id="166" name="Text 7"/>
          <p:cNvSpPr txBox="1"/>
          <p:nvPr/>
        </p:nvSpPr>
        <p:spPr>
          <a:xfrm>
            <a:off x="812800" y="4476501"/>
            <a:ext cx="4682998"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4A5263"/>
                </a:solidFill>
                <a:latin typeface="JetBrains Mono"/>
                <a:ea typeface="JetBrains Mono"/>
                <a:cs typeface="JetBrains Mono"/>
                <a:sym typeface="JetBrains Mono"/>
              </a:defRPr>
            </a:lvl1pPr>
          </a:lstStyle>
          <a:p>
            <a:pPr/>
            <a:r>
              <a:t>Proyecto: 02-skill</a:t>
            </a:r>
          </a:p>
        </p:txBody>
      </p:sp>
      <p:pic>
        <p:nvPicPr>
          <p:cNvPr id="167" name="Image 1" descr="Image 1"/>
          <p:cNvPicPr>
            <a:picLocks noChangeAspect="1"/>
          </p:cNvPicPr>
          <p:nvPr/>
        </p:nvPicPr>
        <p:blipFill>
          <a:blip r:embed="rId3">
            <a:extLst/>
          </a:blip>
          <a:srcRect l="0" t="0" r="0" b="0"/>
          <a:stretch>
            <a:fillRect/>
          </a:stretch>
        </p:blipFill>
        <p:spPr>
          <a:xfrm>
            <a:off x="5670550" y="1885900"/>
            <a:ext cx="5702300" cy="3429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440"/>
                </a:moveTo>
                <a:lnTo>
                  <a:pt x="21600" y="21160"/>
                </a:lnTo>
                <a:cubicBezTo>
                  <a:pt x="21600" y="21403"/>
                  <a:pt x="21482" y="21600"/>
                  <a:pt x="21335" y="21600"/>
                </a:cubicBezTo>
                <a:lnTo>
                  <a:pt x="265" y="21600"/>
                </a:lnTo>
                <a:cubicBezTo>
                  <a:pt x="118" y="21600"/>
                  <a:pt x="0" y="21403"/>
                  <a:pt x="0" y="21160"/>
                </a:cubicBezTo>
                <a:lnTo>
                  <a:pt x="0" y="440"/>
                </a:lnTo>
                <a:lnTo>
                  <a:pt x="1" y="395"/>
                </a:lnTo>
                <a:cubicBezTo>
                  <a:pt x="15" y="173"/>
                  <a:pt x="128" y="0"/>
                  <a:pt x="265" y="0"/>
                </a:cubicBezTo>
                <a:lnTo>
                  <a:pt x="21335" y="0"/>
                </a:lnTo>
                <a:cubicBezTo>
                  <a:pt x="21482" y="0"/>
                  <a:pt x="21600" y="197"/>
                  <a:pt x="21600" y="440"/>
                </a:cubicBezTo>
                <a:close/>
              </a:path>
            </a:pathLst>
          </a:custGeom>
          <a:ln w="12700">
            <a:miter lim="400000"/>
          </a:ln>
        </p:spPr>
      </p:pic>
      <p:sp>
        <p:nvSpPr>
          <p:cNvPr id="168" name="Shape 8"/>
          <p:cNvSpPr/>
          <p:nvPr/>
        </p:nvSpPr>
        <p:spPr>
          <a:xfrm>
            <a:off x="5667375" y="1882725"/>
            <a:ext cx="5708650" cy="3435351"/>
          </a:xfrm>
          <a:prstGeom prst="roundRect">
            <a:avLst>
              <a:gd name="adj" fmla="val 2126"/>
            </a:avLst>
          </a:prstGeom>
          <a:ln w="6350">
            <a:solidFill>
              <a:srgbClr val="D5D0C4"/>
            </a:solidFill>
          </a:ln>
        </p:spPr>
        <p:txBody>
          <a:bodyPr lIns="45719" rIns="45719"/>
          <a:lstStyle/>
          <a:p>
            <a:pPr>
              <a:defRPr>
                <a:solidFill>
                  <a:srgbClr val="EEF0F4"/>
                </a:solidFill>
              </a:defRPr>
            </a:pPr>
          </a:p>
        </p:txBody>
      </p:sp>
      <p:sp>
        <p:nvSpPr>
          <p:cNvPr id="169" name="Text 9"/>
          <p:cNvSpPr txBox="1"/>
          <p:nvPr/>
        </p:nvSpPr>
        <p:spPr>
          <a:xfrm>
            <a:off x="5664200" y="5397450"/>
            <a:ext cx="588645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C6470"/>
                </a:solidFill>
              </a:defRPr>
            </a:lvl1pPr>
          </a:lstStyle>
          <a:p>
            <a:pPr/>
            <a:r>
              <a:t>Captura real · la skill se carga y propone cinco identificadores</a:t>
            </a:r>
          </a:p>
        </p:txBody>
      </p:sp>
      <p:sp>
        <p:nvSpPr>
          <p:cNvPr id="170" name="Text 10"/>
          <p:cNvSpPr txBox="1"/>
          <p:nvPr/>
        </p:nvSpPr>
        <p:spPr>
          <a:xfrm>
            <a:off x="812799" y="6238280"/>
            <a:ext cx="302782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C6470"/>
                </a:solidFill>
              </a:defRPr>
            </a:lvl1pPr>
          </a:lstStyle>
          <a:p>
            <a:pPr/>
            <a:r>
              <a:t>Extensibilidad de GitHub Copilot App</a:t>
            </a:r>
          </a:p>
        </p:txBody>
      </p:sp>
      <p:sp>
        <p:nvSpPr>
          <p:cNvPr id="171" name="Text 11"/>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rgbClr val="5C6470"/>
                </a:solidFill>
              </a:defRPr>
            </a:lvl1pPr>
          </a:lstStyle>
          <a:p>
            <a:pPr/>
            <a:r>
              <a:t>10</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2"/>
                </a:solidFill>
              </a:defRPr>
            </a:lvl1pPr>
          </a:lstStyle>
          <a:p>
            <a:pPr/>
            <a:r>
              <a:t>PASO 3 · AGENTES PERSONALIZADOS</a:t>
            </a:r>
          </a:p>
        </p:txBody>
      </p:sp>
      <p:sp>
        <p:nvSpPr>
          <p:cNvPr id="176" name="Text 1"/>
          <p:cNvSpPr txBox="1"/>
          <p:nvPr>
            <p:ph type="title"/>
          </p:nvPr>
        </p:nvSpPr>
        <p:spPr>
          <a:xfrm>
            <a:off x="812799" y="1127720"/>
            <a:ext cx="10883394" cy="472430"/>
          </a:xfrm>
          <a:prstGeom prst="rect">
            <a:avLst/>
          </a:prstGeom>
        </p:spPr>
        <p:txBody>
          <a:bodyPr/>
          <a:lstStyle>
            <a:lvl1pPr>
              <a:lnSpc>
                <a:spcPts val="3500"/>
              </a:lnSpc>
              <a:defRPr b="1"/>
            </a:lvl1pPr>
          </a:lstStyle>
          <a:p>
            <a:pPr/>
            <a:r>
              <a:t>Un rol con herramientas acotadas</a:t>
            </a:r>
          </a:p>
        </p:txBody>
      </p:sp>
      <p:sp>
        <p:nvSpPr>
          <p:cNvPr id="177" name="Text 2"/>
          <p:cNvSpPr txBox="1"/>
          <p:nvPr/>
        </p:nvSpPr>
        <p:spPr>
          <a:xfrm>
            <a:off x="812800" y="1879550"/>
            <a:ext cx="4224090" cy="8255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EEF0F4"/>
                </a:solidFill>
              </a:defRPr>
            </a:lvl1pPr>
          </a:lstStyle>
          <a:p>
            <a:pPr/>
            <a:r>
              <a:t>Un fichero .agent.md define un especialista: qué sabe, cómo trabaja y qué herramientas puede tocar.</a:t>
            </a:r>
          </a:p>
        </p:txBody>
      </p:sp>
      <p:sp>
        <p:nvSpPr>
          <p:cNvPr id="178" name="Text 3"/>
          <p:cNvSpPr txBox="1"/>
          <p:nvPr/>
        </p:nvSpPr>
        <p:spPr>
          <a:xfrm>
            <a:off x="812800" y="2832050"/>
            <a:ext cx="4224090"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La lista tools es el límite real: con read y search, no puede editar ni ejecutar nada.</a:t>
            </a:r>
          </a:p>
        </p:txBody>
      </p:sp>
      <p:sp>
        <p:nvSpPr>
          <p:cNvPr id="179" name="Text 4"/>
          <p:cNvSpPr txBox="1"/>
          <p:nvPr/>
        </p:nvSpPr>
        <p:spPr>
          <a:xfrm>
            <a:off x="812800" y="3517850"/>
            <a:ext cx="4224090"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Elígelo con /agent o con el selector. Si omites tools, tiene todas.</a:t>
            </a:r>
          </a:p>
        </p:txBody>
      </p:sp>
      <p:sp>
        <p:nvSpPr>
          <p:cNvPr id="180" name="Shape 5"/>
          <p:cNvSpPr/>
          <p:nvPr/>
        </p:nvSpPr>
        <p:spPr>
          <a:xfrm>
            <a:off x="5221832" y="1882725"/>
            <a:ext cx="6154193" cy="3699470"/>
          </a:xfrm>
          <a:prstGeom prst="roundRect">
            <a:avLst>
              <a:gd name="adj" fmla="val 2661"/>
            </a:avLst>
          </a:prstGeom>
          <a:solidFill>
            <a:srgbClr val="1A2133"/>
          </a:solidFill>
          <a:ln w="6350">
            <a:solidFill>
              <a:srgbClr val="2B3550"/>
            </a:solidFill>
          </a:ln>
        </p:spPr>
        <p:txBody>
          <a:bodyPr lIns="45719" rIns="45719"/>
          <a:lstStyle/>
          <a:p>
            <a:pPr>
              <a:defRPr>
                <a:solidFill>
                  <a:srgbClr val="EEF0F4"/>
                </a:solidFill>
              </a:defRPr>
            </a:pPr>
          </a:p>
        </p:txBody>
      </p:sp>
      <p:sp>
        <p:nvSpPr>
          <p:cNvPr id="181" name="Text 6"/>
          <p:cNvSpPr txBox="1"/>
          <p:nvPr/>
        </p:nvSpPr>
        <p:spPr>
          <a:xfrm>
            <a:off x="5428207" y="2089100"/>
            <a:ext cx="5913686"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latin typeface="JetBrains Mono"/>
                <a:ea typeface="JetBrains Mono"/>
                <a:cs typeface="JetBrains Mono"/>
                <a:sym typeface="JetBrains Mono"/>
              </a:defRPr>
            </a:lvl1pPr>
          </a:lstStyle>
          <a:p>
            <a:pPr/>
            <a:r>
              <a:t>.github/agents/avalonia-ui-tester.agent.md</a:t>
            </a:r>
          </a:p>
        </p:txBody>
      </p:sp>
      <p:sp>
        <p:nvSpPr>
          <p:cNvPr id="182" name="Text 7"/>
          <p:cNvSpPr txBox="1"/>
          <p:nvPr/>
        </p:nvSpPr>
        <p:spPr>
          <a:xfrm>
            <a:off x="5428207" y="2404021"/>
            <a:ext cx="5913686" cy="2997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800"/>
              </a:lnSpc>
              <a:defRPr sz="1200">
                <a:solidFill>
                  <a:srgbClr val="D7DEEA"/>
                </a:solidFill>
                <a:latin typeface="JetBrains Mono"/>
                <a:ea typeface="JetBrains Mono"/>
                <a:cs typeface="JetBrains Mono"/>
                <a:sym typeface="JetBrains Mono"/>
              </a:defRPr>
            </a:pPr>
            <a:r>
              <a: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name: </a:t>
            </a:r>
            <a:r>
              <a:rPr>
                <a:solidFill>
                  <a:schemeClr val="accent1"/>
                </a:solidFill>
              </a:rPr>
              <a:t>avalonia-ui-tester</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description: </a:t>
            </a:r>
            <a:r>
              <a:rPr>
                <a:solidFill>
                  <a:schemeClr val="accent1"/>
                </a:solidFill>
              </a:rPr>
              <a:t>Specialist in testing Avalonia UIs.</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a:t>
            </a:r>
            <a:r>
              <a:rPr>
                <a:solidFill>
                  <a:schemeClr val="accent1"/>
                </a:solidFill>
              </a:rPr>
              <a:t>Designs UI test plans and reviews screens</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a:t>
            </a:r>
            <a:r>
              <a:rPr>
                <a:solidFill>
                  <a:schemeClr val="accent1"/>
                </a:solidFill>
              </a:rPr>
              <a:t>without changing production code.</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tools: </a:t>
            </a:r>
            <a:r>
              <a:rPr>
                <a:solidFill>
                  <a:schemeClr val="accent2"/>
                </a:solidFill>
              </a:rPr>
              <a:t>["read", "search"]</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You are a tester of desktop UIs built with Avalonia.</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Identify each control by its AutomationId.</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Each case: setup, steps and expected result.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If an id is missing, flag it as a blocker.</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Don't assume results: say what would</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have to run to verify it.</a:t>
            </a:r>
          </a:p>
        </p:txBody>
      </p:sp>
      <p:sp>
        <p:nvSpPr>
          <p:cNvPr id="183" name="Text 8"/>
          <p:cNvSpPr txBox="1"/>
          <p:nvPr/>
        </p:nvSpPr>
        <p:spPr>
          <a:xfrm>
            <a:off x="812799" y="6238280"/>
            <a:ext cx="302782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defRPr>
            </a:lvl1pPr>
          </a:lstStyle>
          <a:p>
            <a:pPr/>
            <a:r>
              <a:t>Extensibilidad de GitHub Copilot App</a:t>
            </a:r>
          </a:p>
        </p:txBody>
      </p:sp>
      <p:sp>
        <p:nvSpPr>
          <p:cNvPr id="184" name="Text 9"/>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chemeClr val="accent6"/>
                </a:solidFill>
              </a:defRPr>
            </a:lvl1pPr>
          </a:lstStyle>
          <a:p>
            <a:pPr/>
            <a:r>
              <a:t>11</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1EA"/>
        </a:solidFill>
      </p:bgPr>
    </p:bg>
    <p:spTree>
      <p:nvGrpSpPr>
        <p:cNvPr id="1" name=""/>
        <p:cNvGrpSpPr/>
        <p:nvPr/>
      </p:nvGrpSpPr>
      <p:grpSpPr>
        <a:xfrm>
          <a:off x="0" y="0"/>
          <a:ext cx="0" cy="0"/>
          <a:chOff x="0" y="0"/>
          <a:chExt cx="0" cy="0"/>
        </a:xfrm>
      </p:grpSpPr>
      <p:grpSp>
        <p:nvGrpSpPr>
          <p:cNvPr id="190" name="Text 0"/>
          <p:cNvGrpSpPr/>
          <p:nvPr/>
        </p:nvGrpSpPr>
        <p:grpSpPr>
          <a:xfrm>
            <a:off x="812800" y="812800"/>
            <a:ext cx="887164" cy="314920"/>
            <a:chOff x="0" y="0"/>
            <a:chExt cx="887163" cy="314919"/>
          </a:xfrm>
        </p:grpSpPr>
        <p:sp>
          <p:nvSpPr>
            <p:cNvPr id="188" name="Rounded Rectangle"/>
            <p:cNvSpPr/>
            <p:nvPr/>
          </p:nvSpPr>
          <p:spPr>
            <a:xfrm>
              <a:off x="0" y="0"/>
              <a:ext cx="887164" cy="314920"/>
            </a:xfrm>
            <a:prstGeom prst="roundRect">
              <a:avLst>
                <a:gd name="adj" fmla="val 48393"/>
              </a:avLst>
            </a:prstGeom>
            <a:solidFill>
              <a:schemeClr val="accent1"/>
            </a:solidFill>
            <a:ln w="12700" cap="flat">
              <a:noFill/>
              <a:miter lim="400000"/>
            </a:ln>
            <a:effectLst/>
          </p:spPr>
          <p:txBody>
            <a:bodyPr wrap="square" lIns="45719" tIns="45719" rIns="45719" bIns="45719" numCol="1" anchor="ctr">
              <a:noAutofit/>
            </a:bodyPr>
            <a:lstStyle/>
            <a:p>
              <a:pPr algn="ctr">
                <a:lnSpc>
                  <a:spcPts val="1600"/>
                </a:lnSpc>
                <a:defRPr sz="1200">
                  <a:solidFill>
                    <a:srgbClr val="EEF0F4"/>
                  </a:solidFill>
                </a:defRPr>
              </a:pPr>
            </a:p>
          </p:txBody>
        </p:sp>
        <p:sp>
          <p:nvSpPr>
            <p:cNvPr id="189" name="DEMO 3"/>
            <p:cNvSpPr txBox="1"/>
            <p:nvPr/>
          </p:nvSpPr>
          <p:spPr>
            <a:xfrm>
              <a:off x="106981" y="44636"/>
              <a:ext cx="673201" cy="225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normAutofit fontScale="100000" lnSpcReduction="0"/>
            </a:bodyPr>
            <a:lstStyle>
              <a:lvl1pPr algn="ctr">
                <a:lnSpc>
                  <a:spcPts val="1600"/>
                </a:lnSpc>
                <a:defRPr b="1" spc="100" sz="1200">
                  <a:solidFill>
                    <a:srgbClr val="161A26"/>
                  </a:solidFill>
                </a:defRPr>
              </a:lvl1pPr>
            </a:lstStyle>
            <a:p>
              <a:pPr/>
              <a:r>
                <a:t>DEMO 3</a:t>
              </a:r>
            </a:p>
          </p:txBody>
        </p:sp>
      </p:grpSp>
      <p:sp>
        <p:nvSpPr>
          <p:cNvPr id="191" name="Text 1"/>
          <p:cNvSpPr txBox="1"/>
          <p:nvPr>
            <p:ph type="title"/>
          </p:nvPr>
        </p:nvSpPr>
        <p:spPr>
          <a:xfrm>
            <a:off x="812799" y="1229320"/>
            <a:ext cx="10883394" cy="472430"/>
          </a:xfrm>
          <a:prstGeom prst="rect">
            <a:avLst/>
          </a:prstGeom>
        </p:spPr>
        <p:txBody>
          <a:bodyPr/>
          <a:lstStyle>
            <a:lvl1pPr>
              <a:lnSpc>
                <a:spcPts val="3500"/>
              </a:lnSpc>
              <a:defRPr b="1">
                <a:solidFill>
                  <a:srgbClr val="161A26"/>
                </a:solidFill>
              </a:defRPr>
            </a:lvl1pPr>
          </a:lstStyle>
          <a:p>
            <a:pPr/>
            <a:r>
              <a:t>Un tester que no puede tocar el código</a:t>
            </a:r>
          </a:p>
        </p:txBody>
      </p:sp>
      <p:sp>
        <p:nvSpPr>
          <p:cNvPr id="192" name="Shape 2"/>
          <p:cNvSpPr/>
          <p:nvPr/>
        </p:nvSpPr>
        <p:spPr>
          <a:xfrm>
            <a:off x="812800" y="1879550"/>
            <a:ext cx="4546600" cy="2444552"/>
          </a:xfrm>
          <a:prstGeom prst="roundRect">
            <a:avLst>
              <a:gd name="adj" fmla="val 4156"/>
            </a:avLst>
          </a:prstGeom>
          <a:solidFill>
            <a:srgbClr val="161A26"/>
          </a:solidFill>
          <a:ln w="12700">
            <a:miter lim="400000"/>
          </a:ln>
        </p:spPr>
        <p:txBody>
          <a:bodyPr lIns="45719" rIns="45719"/>
          <a:lstStyle/>
          <a:p>
            <a:pPr>
              <a:defRPr>
                <a:solidFill>
                  <a:srgbClr val="EEF0F4"/>
                </a:solidFill>
              </a:defRPr>
            </a:pPr>
          </a:p>
        </p:txBody>
      </p:sp>
      <p:sp>
        <p:nvSpPr>
          <p:cNvPr id="193" name="Text 3"/>
          <p:cNvSpPr txBox="1"/>
          <p:nvPr/>
        </p:nvSpPr>
        <p:spPr>
          <a:xfrm>
            <a:off x="1066799" y="2133550"/>
            <a:ext cx="415976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1"/>
                </a:solidFill>
              </a:defRPr>
            </a:lvl1pPr>
          </a:lstStyle>
          <a:p>
            <a:pPr/>
            <a:r>
              <a:t>PROMPT</a:t>
            </a:r>
          </a:p>
        </p:txBody>
      </p:sp>
      <p:sp>
        <p:nvSpPr>
          <p:cNvPr id="194" name="Text 4"/>
          <p:cNvSpPr txBox="1"/>
          <p:nvPr/>
        </p:nvSpPr>
        <p:spPr>
          <a:xfrm>
            <a:off x="1066799" y="2448471"/>
            <a:ext cx="4159760"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200">
                <a:solidFill>
                  <a:srgbClr val="EEF0F4"/>
                </a:solidFill>
                <a:latin typeface="JetBrains Mono"/>
                <a:ea typeface="JetBrains Mono"/>
                <a:cs typeface="JetBrains Mono"/>
                <a:sym typeface="JetBrains Mono"/>
              </a:defRPr>
            </a:lvl1pPr>
          </a:lstStyle>
          <a:p>
            <a:pPr/>
            <a:r>
              <a:t>Design the test plan for SampleApp's main screen, in English.</a:t>
            </a:r>
          </a:p>
        </p:txBody>
      </p:sp>
      <p:sp>
        <p:nvSpPr>
          <p:cNvPr id="195" name="Text 5"/>
          <p:cNvSpPr txBox="1"/>
          <p:nvPr/>
        </p:nvSpPr>
        <p:spPr>
          <a:xfrm>
            <a:off x="1066799" y="3115221"/>
            <a:ext cx="415976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1"/>
                </a:solidFill>
              </a:defRPr>
            </a:lvl1pPr>
          </a:lstStyle>
          <a:p>
            <a:pPr/>
            <a:r>
              <a:t>QUÉ DEBERÍAS VER</a:t>
            </a:r>
          </a:p>
        </p:txBody>
      </p:sp>
      <p:sp>
        <p:nvSpPr>
          <p:cNvPr id="196" name="Text 6"/>
          <p:cNvSpPr txBox="1"/>
          <p:nvPr/>
        </p:nvSpPr>
        <p:spPr>
          <a:xfrm>
            <a:off x="1066799" y="3430141"/>
            <a:ext cx="4159760" cy="66536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EEF0F4"/>
                </a:solidFill>
              </a:defRPr>
            </a:lvl1pPr>
          </a:lstStyle>
          <a:p>
            <a:pPr/>
            <a:r>
              <a:t>Una tabla de casos que nombra cada control por su AutomationId. Si le pides cambiar código, no puede: solo tiene read y search.</a:t>
            </a:r>
          </a:p>
        </p:txBody>
      </p:sp>
      <p:sp>
        <p:nvSpPr>
          <p:cNvPr id="197" name="Text 7"/>
          <p:cNvSpPr txBox="1"/>
          <p:nvPr/>
        </p:nvSpPr>
        <p:spPr>
          <a:xfrm>
            <a:off x="812800" y="4476501"/>
            <a:ext cx="4682998"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4A5263"/>
                </a:solidFill>
                <a:latin typeface="JetBrains Mono"/>
                <a:ea typeface="JetBrains Mono"/>
                <a:cs typeface="JetBrains Mono"/>
                <a:sym typeface="JetBrains Mono"/>
              </a:defRPr>
            </a:lvl1pPr>
          </a:lstStyle>
          <a:p>
            <a:pPr/>
            <a:r>
              <a:t>Proyecto: 03-agent</a:t>
            </a:r>
          </a:p>
        </p:txBody>
      </p:sp>
      <p:pic>
        <p:nvPicPr>
          <p:cNvPr id="198" name="Image 1" descr="Image 1"/>
          <p:cNvPicPr>
            <a:picLocks noChangeAspect="1"/>
          </p:cNvPicPr>
          <p:nvPr/>
        </p:nvPicPr>
        <p:blipFill>
          <a:blip r:embed="rId3">
            <a:extLst/>
          </a:blip>
          <a:srcRect l="0" t="0" r="0" b="0"/>
          <a:stretch>
            <a:fillRect/>
          </a:stretch>
        </p:blipFill>
        <p:spPr>
          <a:xfrm>
            <a:off x="5670550" y="1885900"/>
            <a:ext cx="5702300" cy="3429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440"/>
                </a:moveTo>
                <a:lnTo>
                  <a:pt x="21600" y="21160"/>
                </a:lnTo>
                <a:cubicBezTo>
                  <a:pt x="21600" y="21403"/>
                  <a:pt x="21482" y="21600"/>
                  <a:pt x="21335" y="21600"/>
                </a:cubicBezTo>
                <a:lnTo>
                  <a:pt x="265" y="21600"/>
                </a:lnTo>
                <a:cubicBezTo>
                  <a:pt x="118" y="21600"/>
                  <a:pt x="0" y="21403"/>
                  <a:pt x="0" y="21160"/>
                </a:cubicBezTo>
                <a:lnTo>
                  <a:pt x="0" y="440"/>
                </a:lnTo>
                <a:lnTo>
                  <a:pt x="1" y="395"/>
                </a:lnTo>
                <a:cubicBezTo>
                  <a:pt x="15" y="173"/>
                  <a:pt x="128" y="0"/>
                  <a:pt x="265" y="0"/>
                </a:cubicBezTo>
                <a:lnTo>
                  <a:pt x="21335" y="0"/>
                </a:lnTo>
                <a:cubicBezTo>
                  <a:pt x="21482" y="0"/>
                  <a:pt x="21600" y="197"/>
                  <a:pt x="21600" y="440"/>
                </a:cubicBezTo>
                <a:close/>
              </a:path>
            </a:pathLst>
          </a:custGeom>
          <a:ln w="12700">
            <a:miter lim="400000"/>
          </a:ln>
        </p:spPr>
      </p:pic>
      <p:sp>
        <p:nvSpPr>
          <p:cNvPr id="199" name="Shape 8"/>
          <p:cNvSpPr/>
          <p:nvPr/>
        </p:nvSpPr>
        <p:spPr>
          <a:xfrm>
            <a:off x="5667375" y="1882725"/>
            <a:ext cx="5708650" cy="3435351"/>
          </a:xfrm>
          <a:prstGeom prst="roundRect">
            <a:avLst>
              <a:gd name="adj" fmla="val 2126"/>
            </a:avLst>
          </a:prstGeom>
          <a:ln w="6350">
            <a:solidFill>
              <a:srgbClr val="D5D0C4"/>
            </a:solidFill>
          </a:ln>
        </p:spPr>
        <p:txBody>
          <a:bodyPr lIns="45719" rIns="45719"/>
          <a:lstStyle/>
          <a:p>
            <a:pPr>
              <a:defRPr>
                <a:solidFill>
                  <a:srgbClr val="EEF0F4"/>
                </a:solidFill>
              </a:defRPr>
            </a:pPr>
          </a:p>
        </p:txBody>
      </p:sp>
      <p:sp>
        <p:nvSpPr>
          <p:cNvPr id="200" name="Text 9"/>
          <p:cNvSpPr txBox="1"/>
          <p:nvPr/>
        </p:nvSpPr>
        <p:spPr>
          <a:xfrm>
            <a:off x="5664200" y="5397450"/>
            <a:ext cx="588645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C6470"/>
                </a:solidFill>
              </a:defRPr>
            </a:lvl1pPr>
          </a:lstStyle>
          <a:p>
            <a:pPr/>
            <a:r>
              <a:t>Captura real · el plan nombra cada control por su AutomationId</a:t>
            </a:r>
          </a:p>
        </p:txBody>
      </p:sp>
      <p:sp>
        <p:nvSpPr>
          <p:cNvPr id="201" name="Text 10"/>
          <p:cNvSpPr txBox="1"/>
          <p:nvPr/>
        </p:nvSpPr>
        <p:spPr>
          <a:xfrm>
            <a:off x="812799" y="6238280"/>
            <a:ext cx="302782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C6470"/>
                </a:solidFill>
              </a:defRPr>
            </a:lvl1pPr>
          </a:lstStyle>
          <a:p>
            <a:pPr/>
            <a:r>
              <a:t>Extensibilidad de GitHub Copilot App</a:t>
            </a:r>
          </a:p>
        </p:txBody>
      </p:sp>
      <p:sp>
        <p:nvSpPr>
          <p:cNvPr id="202" name="Text 11"/>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rgbClr val="5C6470"/>
                </a:solidFill>
              </a:defRPr>
            </a:lvl1pPr>
          </a:lstStyle>
          <a:p>
            <a:pPr/>
            <a:r>
              <a:t>12</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6"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2"/>
                </a:solidFill>
              </a:defRPr>
            </a:lvl1pPr>
          </a:lstStyle>
          <a:p>
            <a:pPr/>
            <a:r>
              <a:t>PASO 3 · AGENTES · UN MODELO POR ROL</a:t>
            </a:r>
          </a:p>
        </p:txBody>
      </p:sp>
      <p:sp>
        <p:nvSpPr>
          <p:cNvPr id="207" name="Text 1"/>
          <p:cNvSpPr txBox="1"/>
          <p:nvPr>
            <p:ph type="title"/>
          </p:nvPr>
        </p:nvSpPr>
        <p:spPr>
          <a:xfrm>
            <a:off x="812799" y="1127720"/>
            <a:ext cx="10883394" cy="472430"/>
          </a:xfrm>
          <a:prstGeom prst="rect">
            <a:avLst/>
          </a:prstGeom>
        </p:spPr>
        <p:txBody>
          <a:bodyPr/>
          <a:lstStyle>
            <a:lvl1pPr>
              <a:lnSpc>
                <a:spcPts val="3500"/>
              </a:lnSpc>
              <a:defRPr b="1"/>
            </a:lvl1pPr>
          </a:lstStyle>
          <a:p>
            <a:pPr/>
            <a:r>
              <a:t>HydraFusion: varios modelos, una respuesta</a:t>
            </a:r>
          </a:p>
        </p:txBody>
      </p:sp>
      <p:sp>
        <p:nvSpPr>
          <p:cNvPr id="208" name="Shape 2"/>
          <p:cNvSpPr/>
          <p:nvPr/>
        </p:nvSpPr>
        <p:spPr>
          <a:xfrm>
            <a:off x="815975" y="1831925"/>
            <a:ext cx="3380284" cy="1593851"/>
          </a:xfrm>
          <a:prstGeom prst="roundRect">
            <a:avLst>
              <a:gd name="adj" fmla="val 6175"/>
            </a:avLst>
          </a:prstGeom>
          <a:solidFill>
            <a:srgbClr val="1A2133"/>
          </a:solidFill>
          <a:ln w="6350">
            <a:solidFill>
              <a:srgbClr val="2B3550"/>
            </a:solidFill>
          </a:ln>
        </p:spPr>
        <p:txBody>
          <a:bodyPr lIns="45719" rIns="45719"/>
          <a:lstStyle/>
          <a:p>
            <a:pPr>
              <a:defRPr>
                <a:solidFill>
                  <a:srgbClr val="EEF0F4"/>
                </a:solidFill>
              </a:defRPr>
            </a:pPr>
          </a:p>
        </p:txBody>
      </p:sp>
      <p:sp>
        <p:nvSpPr>
          <p:cNvPr id="209" name="Text 3"/>
          <p:cNvSpPr txBox="1"/>
          <p:nvPr/>
        </p:nvSpPr>
        <p:spPr>
          <a:xfrm>
            <a:off x="1022349" y="2038300"/>
            <a:ext cx="3056562"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b="1" sz="2000">
                <a:solidFill>
                  <a:srgbClr val="EEF0F4"/>
                </a:solidFill>
                <a:latin typeface="Space Grotesk"/>
                <a:ea typeface="Space Grotesk"/>
                <a:cs typeface="Space Grotesk"/>
                <a:sym typeface="Space Grotesk"/>
              </a:defRPr>
            </a:lvl1pPr>
          </a:lstStyle>
          <a:p>
            <a:pPr/>
            <a:r>
              <a:t>Single</a:t>
            </a:r>
          </a:p>
        </p:txBody>
      </p:sp>
      <p:sp>
        <p:nvSpPr>
          <p:cNvPr id="210" name="Text 4"/>
          <p:cNvSpPr txBox="1"/>
          <p:nvPr/>
        </p:nvSpPr>
        <p:spPr>
          <a:xfrm>
            <a:off x="1022349" y="2419300"/>
            <a:ext cx="3056562"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Un modelo resuelve el turno cuando no hace falta más.</a:t>
            </a:r>
          </a:p>
        </p:txBody>
      </p:sp>
      <p:sp>
        <p:nvSpPr>
          <p:cNvPr id="211" name="Shape 5"/>
          <p:cNvSpPr/>
          <p:nvPr/>
        </p:nvSpPr>
        <p:spPr>
          <a:xfrm>
            <a:off x="4405808" y="1831925"/>
            <a:ext cx="3380334" cy="1593851"/>
          </a:xfrm>
          <a:prstGeom prst="roundRect">
            <a:avLst>
              <a:gd name="adj" fmla="val 6175"/>
            </a:avLst>
          </a:prstGeom>
          <a:solidFill>
            <a:srgbClr val="1A2133"/>
          </a:solidFill>
          <a:ln w="6350">
            <a:solidFill>
              <a:schemeClr val="accent2"/>
            </a:solidFill>
          </a:ln>
        </p:spPr>
        <p:txBody>
          <a:bodyPr lIns="45719" rIns="45719"/>
          <a:lstStyle/>
          <a:p>
            <a:pPr>
              <a:defRPr>
                <a:solidFill>
                  <a:srgbClr val="EEF0F4"/>
                </a:solidFill>
              </a:defRPr>
            </a:pPr>
          </a:p>
        </p:txBody>
      </p:sp>
      <p:sp>
        <p:nvSpPr>
          <p:cNvPr id="212" name="Text 6"/>
          <p:cNvSpPr txBox="1"/>
          <p:nvPr/>
        </p:nvSpPr>
        <p:spPr>
          <a:xfrm>
            <a:off x="4612183" y="2038300"/>
            <a:ext cx="3056613"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b="1" sz="2000">
                <a:solidFill>
                  <a:schemeClr val="accent2"/>
                </a:solidFill>
                <a:latin typeface="Space Grotesk"/>
                <a:ea typeface="Space Grotesk"/>
                <a:cs typeface="Space Grotesk"/>
                <a:sym typeface="Space Grotesk"/>
              </a:defRPr>
            </a:lvl1pPr>
          </a:lstStyle>
          <a:p>
            <a:pPr/>
            <a:r>
              <a:t>Cascade</a:t>
            </a:r>
          </a:p>
        </p:txBody>
      </p:sp>
      <p:sp>
        <p:nvSpPr>
          <p:cNvPr id="213" name="Text 7"/>
          <p:cNvSpPr txBox="1"/>
          <p:nvPr/>
        </p:nvSpPr>
        <p:spPr>
          <a:xfrm>
            <a:off x="4612183" y="2419300"/>
            <a:ext cx="3056613" cy="8255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Un modelo eficiente redacta. Un filtro de calidad lo acepta o lo pasa a uno más fuerte.</a:t>
            </a:r>
          </a:p>
        </p:txBody>
      </p:sp>
      <p:sp>
        <p:nvSpPr>
          <p:cNvPr id="214" name="Shape 8"/>
          <p:cNvSpPr/>
          <p:nvPr/>
        </p:nvSpPr>
        <p:spPr>
          <a:xfrm>
            <a:off x="7995691" y="1831925"/>
            <a:ext cx="3380334" cy="1593851"/>
          </a:xfrm>
          <a:prstGeom prst="roundRect">
            <a:avLst>
              <a:gd name="adj" fmla="val 6175"/>
            </a:avLst>
          </a:prstGeom>
          <a:solidFill>
            <a:srgbClr val="1A2133"/>
          </a:solidFill>
          <a:ln w="6350">
            <a:solidFill>
              <a:schemeClr val="accent1"/>
            </a:solidFill>
          </a:ln>
        </p:spPr>
        <p:txBody>
          <a:bodyPr lIns="45719" rIns="45719"/>
          <a:lstStyle/>
          <a:p>
            <a:pPr>
              <a:defRPr>
                <a:solidFill>
                  <a:srgbClr val="EEF0F4"/>
                </a:solidFill>
              </a:defRPr>
            </a:pPr>
          </a:p>
        </p:txBody>
      </p:sp>
      <p:sp>
        <p:nvSpPr>
          <p:cNvPr id="215" name="Text 9"/>
          <p:cNvSpPr txBox="1"/>
          <p:nvPr/>
        </p:nvSpPr>
        <p:spPr>
          <a:xfrm>
            <a:off x="8202066" y="2038300"/>
            <a:ext cx="3056612"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b="1" sz="2000">
                <a:solidFill>
                  <a:schemeClr val="accent1"/>
                </a:solidFill>
                <a:latin typeface="Space Grotesk"/>
                <a:ea typeface="Space Grotesk"/>
                <a:cs typeface="Space Grotesk"/>
                <a:sym typeface="Space Grotesk"/>
              </a:defRPr>
            </a:lvl1pPr>
          </a:lstStyle>
          <a:p>
            <a:pPr/>
            <a:r>
              <a:t>Critique</a:t>
            </a:r>
          </a:p>
        </p:txBody>
      </p:sp>
      <p:sp>
        <p:nvSpPr>
          <p:cNvPr id="216" name="Text 10"/>
          <p:cNvSpPr txBox="1"/>
          <p:nvPr/>
        </p:nvSpPr>
        <p:spPr>
          <a:xfrm>
            <a:off x="8202066" y="2419300"/>
            <a:ext cx="3056612" cy="8255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Un crítico de otra familia revisa sin herramientas y el autor lo corrige una vez.</a:t>
            </a:r>
          </a:p>
        </p:txBody>
      </p:sp>
      <p:sp>
        <p:nvSpPr>
          <p:cNvPr id="217" name="Shape 11"/>
          <p:cNvSpPr/>
          <p:nvPr/>
        </p:nvSpPr>
        <p:spPr>
          <a:xfrm>
            <a:off x="812800" y="3689300"/>
            <a:ext cx="10566401" cy="1"/>
          </a:xfrm>
          <a:prstGeom prst="line">
            <a:avLst/>
          </a:prstGeom>
          <a:ln w="12700">
            <a:solidFill>
              <a:srgbClr val="2B3550"/>
            </a:solidFill>
          </a:ln>
        </p:spPr>
        <p:txBody>
          <a:bodyPr lIns="45719" rIns="45719"/>
          <a:lstStyle/>
          <a:p>
            <a:pPr>
              <a:defRPr>
                <a:solidFill>
                  <a:srgbClr val="EEF0F4"/>
                </a:solidFill>
              </a:defRPr>
            </a:pPr>
          </a:p>
        </p:txBody>
      </p:sp>
      <p:sp>
        <p:nvSpPr>
          <p:cNvPr id="218" name="Text 12"/>
          <p:cNvSpPr txBox="1"/>
          <p:nvPr/>
        </p:nvSpPr>
        <p:spPr>
          <a:xfrm>
            <a:off x="812799" y="3848050"/>
            <a:ext cx="10883394"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defRPr>
            </a:lvl1pPr>
          </a:lstStyle>
          <a:p>
            <a:pPr/>
            <a:r>
              <a:t>Frente a Claude Opus 5 en solitario, según el blog de GitHub</a:t>
            </a:r>
          </a:p>
        </p:txBody>
      </p:sp>
      <p:sp>
        <p:nvSpPr>
          <p:cNvPr id="219" name="Text 13"/>
          <p:cNvSpPr txBox="1"/>
          <p:nvPr/>
        </p:nvSpPr>
        <p:spPr>
          <a:xfrm>
            <a:off x="812799" y="4162971"/>
            <a:ext cx="3488234"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800"/>
              </a:lnSpc>
              <a:defRPr b="1" sz="2000">
                <a:solidFill>
                  <a:schemeClr val="accent1"/>
                </a:solidFill>
                <a:latin typeface="Space Grotesk"/>
                <a:ea typeface="Space Grotesk"/>
                <a:cs typeface="Space Grotesk"/>
                <a:sym typeface="Space Grotesk"/>
              </a:defRPr>
            </a:lvl1pPr>
          </a:lstStyle>
          <a:p>
            <a:pPr/>
            <a:r>
              <a:t>−67 % de coste</a:t>
            </a:r>
          </a:p>
        </p:txBody>
      </p:sp>
      <p:sp>
        <p:nvSpPr>
          <p:cNvPr id="220" name="Text 14"/>
          <p:cNvSpPr txBox="1"/>
          <p:nvPr/>
        </p:nvSpPr>
        <p:spPr>
          <a:xfrm>
            <a:off x="812799" y="4543971"/>
            <a:ext cx="3488234"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A9B4C6"/>
                </a:solidFill>
              </a:defRPr>
            </a:lvl1pPr>
          </a:lstStyle>
          <a:p>
            <a:pPr/>
            <a:r>
              <a:t>TerminalBench 2.1 · +4,9 puntos</a:t>
            </a:r>
          </a:p>
        </p:txBody>
      </p:sp>
      <p:sp>
        <p:nvSpPr>
          <p:cNvPr id="221" name="Text 15"/>
          <p:cNvSpPr txBox="1"/>
          <p:nvPr/>
        </p:nvSpPr>
        <p:spPr>
          <a:xfrm>
            <a:off x="4402633" y="4162971"/>
            <a:ext cx="3488285"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800"/>
              </a:lnSpc>
              <a:defRPr b="1" sz="2000">
                <a:solidFill>
                  <a:schemeClr val="accent1"/>
                </a:solidFill>
                <a:latin typeface="Space Grotesk"/>
                <a:ea typeface="Space Grotesk"/>
                <a:cs typeface="Space Grotesk"/>
                <a:sym typeface="Space Grotesk"/>
              </a:defRPr>
            </a:lvl1pPr>
          </a:lstStyle>
          <a:p>
            <a:pPr/>
            <a:r>
              <a:t>−36 % de coste</a:t>
            </a:r>
          </a:p>
        </p:txBody>
      </p:sp>
      <p:sp>
        <p:nvSpPr>
          <p:cNvPr id="222" name="Text 16"/>
          <p:cNvSpPr txBox="1"/>
          <p:nvPr/>
        </p:nvSpPr>
        <p:spPr>
          <a:xfrm>
            <a:off x="4402633" y="4543971"/>
            <a:ext cx="3488285"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A9B4C6"/>
                </a:solidFill>
              </a:defRPr>
            </a:lvl1pPr>
          </a:lstStyle>
          <a:p>
            <a:pPr/>
            <a:r>
              <a:t>DeepSWE · −1,5 puntos</a:t>
            </a:r>
          </a:p>
        </p:txBody>
      </p:sp>
      <p:sp>
        <p:nvSpPr>
          <p:cNvPr id="223" name="Text 17"/>
          <p:cNvSpPr txBox="1"/>
          <p:nvPr/>
        </p:nvSpPr>
        <p:spPr>
          <a:xfrm>
            <a:off x="7992516" y="4162971"/>
            <a:ext cx="3488285"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800"/>
              </a:lnSpc>
              <a:defRPr b="1" sz="2000">
                <a:solidFill>
                  <a:schemeClr val="accent1"/>
                </a:solidFill>
                <a:latin typeface="Space Grotesk"/>
                <a:ea typeface="Space Grotesk"/>
                <a:cs typeface="Space Grotesk"/>
                <a:sym typeface="Space Grotesk"/>
              </a:defRPr>
            </a:lvl1pPr>
          </a:lstStyle>
          <a:p>
            <a:pPr/>
            <a:r>
              <a:t>−65 % de coste</a:t>
            </a:r>
          </a:p>
        </p:txBody>
      </p:sp>
      <p:sp>
        <p:nvSpPr>
          <p:cNvPr id="224" name="Text 18"/>
          <p:cNvSpPr txBox="1"/>
          <p:nvPr/>
        </p:nvSpPr>
        <p:spPr>
          <a:xfrm>
            <a:off x="7992516" y="4543971"/>
            <a:ext cx="3488285"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A9B4C6"/>
                </a:solidFill>
              </a:defRPr>
            </a:lvl1pPr>
          </a:lstStyle>
          <a:p>
            <a:pPr/>
            <a:r>
              <a:t>CheckpointBench · −0,1 puntos</a:t>
            </a:r>
          </a:p>
        </p:txBody>
      </p:sp>
      <p:sp>
        <p:nvSpPr>
          <p:cNvPr id="225" name="Text 19"/>
          <p:cNvSpPr txBox="1"/>
          <p:nvPr/>
        </p:nvSpPr>
        <p:spPr>
          <a:xfrm>
            <a:off x="812799" y="5011291"/>
            <a:ext cx="10883394"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latin typeface="JetBrains Mono"/>
                <a:ea typeface="JetBrains Mono"/>
                <a:cs typeface="JetBrains Mono"/>
                <a:sym typeface="JetBrains Mono"/>
              </a:defRPr>
            </a:lvl1pPr>
          </a:lstStyle>
          <a:p>
            <a:pPr/>
            <a:r>
              <a:t>Preview en Copilot CLI · /experimental on · /model → HydraFusion (Research Preview)</a:t>
            </a:r>
          </a:p>
        </p:txBody>
      </p:sp>
      <p:sp>
        <p:nvSpPr>
          <p:cNvPr id="226" name="Text 20"/>
          <p:cNvSpPr txBox="1"/>
          <p:nvPr/>
        </p:nvSpPr>
        <p:spPr>
          <a:xfrm>
            <a:off x="812799" y="6238280"/>
            <a:ext cx="302782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defRPr>
            </a:lvl1pPr>
          </a:lstStyle>
          <a:p>
            <a:pPr/>
            <a:r>
              <a:t>Extensibilidad de GitHub Copilot App</a:t>
            </a:r>
          </a:p>
        </p:txBody>
      </p:sp>
      <p:sp>
        <p:nvSpPr>
          <p:cNvPr id="227" name="Text 21"/>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chemeClr val="accent6"/>
                </a:solidFill>
              </a:defRPr>
            </a:lvl1pPr>
          </a:lstStyle>
          <a:p>
            <a:pPr/>
            <a:r>
              <a:t>13</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1"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2"/>
                </a:solidFill>
              </a:defRPr>
            </a:lvl1pPr>
          </a:lstStyle>
          <a:p>
            <a:pPr/>
            <a:r>
              <a:t>PASO 3 · AGENTES · UN MODELO POR ROL</a:t>
            </a:r>
          </a:p>
        </p:txBody>
      </p:sp>
      <p:sp>
        <p:nvSpPr>
          <p:cNvPr id="232" name="Text 1"/>
          <p:cNvSpPr txBox="1"/>
          <p:nvPr>
            <p:ph type="title"/>
          </p:nvPr>
        </p:nvSpPr>
        <p:spPr>
          <a:xfrm>
            <a:off x="812799" y="1127720"/>
            <a:ext cx="10883394" cy="472430"/>
          </a:xfrm>
          <a:prstGeom prst="rect">
            <a:avLst/>
          </a:prstGeom>
        </p:spPr>
        <p:txBody>
          <a:bodyPr/>
          <a:lstStyle>
            <a:lvl1pPr>
              <a:lnSpc>
                <a:spcPts val="3500"/>
              </a:lnSpc>
              <a:defRPr b="1"/>
            </a:lvl1pPr>
          </a:lstStyle>
          <a:p>
            <a:pPr/>
            <a:r>
              <a:t>Una jerarquía: cada agente con su propio modelo</a:t>
            </a:r>
          </a:p>
        </p:txBody>
      </p:sp>
      <p:sp>
        <p:nvSpPr>
          <p:cNvPr id="233" name="Shape 2"/>
          <p:cNvSpPr/>
          <p:nvPr/>
        </p:nvSpPr>
        <p:spPr>
          <a:xfrm>
            <a:off x="815975" y="1882775"/>
            <a:ext cx="4565650" cy="1517650"/>
          </a:xfrm>
          <a:prstGeom prst="roundRect">
            <a:avLst>
              <a:gd name="adj" fmla="val 6485"/>
            </a:avLst>
          </a:prstGeom>
          <a:solidFill>
            <a:srgbClr val="1A2133"/>
          </a:solidFill>
          <a:ln w="6350">
            <a:solidFill>
              <a:srgbClr val="EEF0F4"/>
            </a:solidFill>
          </a:ln>
        </p:spPr>
        <p:txBody>
          <a:bodyPr lIns="45719" rIns="45719"/>
          <a:lstStyle/>
          <a:p>
            <a:pPr>
              <a:defRPr>
                <a:solidFill>
                  <a:srgbClr val="EEF0F4"/>
                </a:solidFill>
              </a:defRPr>
            </a:pPr>
          </a:p>
        </p:txBody>
      </p:sp>
      <p:sp>
        <p:nvSpPr>
          <p:cNvPr id="234" name="Text 3"/>
          <p:cNvSpPr txBox="1"/>
          <p:nvPr/>
        </p:nvSpPr>
        <p:spPr>
          <a:xfrm>
            <a:off x="1022350" y="2225080"/>
            <a:ext cx="4277487"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b="1" sz="2000">
                <a:solidFill>
                  <a:srgbClr val="EEF0F4"/>
                </a:solidFill>
                <a:latin typeface="Space Grotesk"/>
                <a:ea typeface="Space Grotesk"/>
                <a:cs typeface="Space Grotesk"/>
                <a:sym typeface="Space Grotesk"/>
              </a:defRPr>
            </a:lvl1pPr>
          </a:lstStyle>
          <a:p>
            <a:pPr/>
            <a:r>
              <a:t>orchestrator</a:t>
            </a:r>
          </a:p>
        </p:txBody>
      </p:sp>
      <p:sp>
        <p:nvSpPr>
          <p:cNvPr id="235" name="Text 4"/>
          <p:cNvSpPr txBox="1"/>
          <p:nvPr/>
        </p:nvSpPr>
        <p:spPr>
          <a:xfrm>
            <a:off x="1022350" y="2580680"/>
            <a:ext cx="4277487"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A9B4C6"/>
                </a:solidFill>
              </a:defRPr>
            </a:lvl1pPr>
          </a:lstStyle>
          <a:p>
            <a:pPr/>
            <a:r>
              <a:t>Modelo de la sesión · agent, read, search, todo</a:t>
            </a:r>
          </a:p>
        </p:txBody>
      </p:sp>
      <p:sp>
        <p:nvSpPr>
          <p:cNvPr id="236" name="Text 5"/>
          <p:cNvSpPr txBox="1"/>
          <p:nvPr/>
        </p:nvSpPr>
        <p:spPr>
          <a:xfrm>
            <a:off x="1022350" y="2844800"/>
            <a:ext cx="4277487"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A9B4C6"/>
                </a:solidFill>
              </a:defRPr>
            </a:lvl1pPr>
          </a:lstStyle>
          <a:p>
            <a:pPr/>
            <a:r>
              <a:t>Reparte el trabajo. No escribe código.</a:t>
            </a:r>
          </a:p>
        </p:txBody>
      </p:sp>
      <p:sp>
        <p:nvSpPr>
          <p:cNvPr id="237" name="Shape 6"/>
          <p:cNvSpPr/>
          <p:nvPr/>
        </p:nvSpPr>
        <p:spPr>
          <a:xfrm>
            <a:off x="5692775" y="1882775"/>
            <a:ext cx="5683250" cy="1517650"/>
          </a:xfrm>
          <a:prstGeom prst="roundRect">
            <a:avLst>
              <a:gd name="adj" fmla="val 6485"/>
            </a:avLst>
          </a:prstGeom>
          <a:solidFill>
            <a:srgbClr val="1A2133"/>
          </a:solidFill>
          <a:ln w="6350">
            <a:solidFill>
              <a:srgbClr val="2B3550"/>
            </a:solidFill>
          </a:ln>
        </p:spPr>
        <p:txBody>
          <a:bodyPr lIns="45719" rIns="45719"/>
          <a:lstStyle/>
          <a:p>
            <a:pPr>
              <a:defRPr>
                <a:solidFill>
                  <a:srgbClr val="EEF0F4"/>
                </a:solidFill>
              </a:defRPr>
            </a:pPr>
          </a:p>
        </p:txBody>
      </p:sp>
      <p:sp>
        <p:nvSpPr>
          <p:cNvPr id="238" name="Text 7"/>
          <p:cNvSpPr txBox="1"/>
          <p:nvPr/>
        </p:nvSpPr>
        <p:spPr>
          <a:xfrm>
            <a:off x="5899149" y="2038349"/>
            <a:ext cx="5428617" cy="237284"/>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z="1100">
                <a:solidFill>
                  <a:schemeClr val="accent1"/>
                </a:solidFill>
              </a:defRPr>
            </a:lvl1pPr>
          </a:lstStyle>
          <a:p>
            <a:pPr/>
            <a:r>
              <a:t>coder.agent.md: el modelo es un campo</a:t>
            </a:r>
          </a:p>
        </p:txBody>
      </p:sp>
      <p:sp>
        <p:nvSpPr>
          <p:cNvPr id="239" name="Text 8"/>
          <p:cNvSpPr txBox="1"/>
          <p:nvPr/>
        </p:nvSpPr>
        <p:spPr>
          <a:xfrm>
            <a:off x="5899149" y="2301032"/>
            <a:ext cx="5428617" cy="70653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700"/>
              </a:lnSpc>
              <a:defRPr sz="1100">
                <a:solidFill>
                  <a:srgbClr val="D7DEEA"/>
                </a:solidFill>
                <a:latin typeface="JetBrains Mono"/>
                <a:ea typeface="JetBrains Mono"/>
                <a:cs typeface="JetBrains Mono"/>
                <a:sym typeface="JetBrains Mono"/>
              </a:defRPr>
            </a:pPr>
            <a:r>
              <a:t>name: coder</a:t>
            </a:r>
            <a:endParaRPr>
              <a:solidFill>
                <a:srgbClr val="EEF0F4"/>
              </a:solidFill>
            </a:endParaRPr>
          </a:p>
          <a:p>
            <a:pPr>
              <a:lnSpc>
                <a:spcPts val="1700"/>
              </a:lnSpc>
              <a:defRPr sz="1100">
                <a:solidFill>
                  <a:schemeClr val="accent2"/>
                </a:solidFill>
                <a:latin typeface="JetBrains Mono"/>
                <a:ea typeface="JetBrains Mono"/>
                <a:cs typeface="JetBrains Mono"/>
                <a:sym typeface="JetBrains Mono"/>
              </a:defRPr>
            </a:pPr>
            <a:r>
              <a:t>model</a:t>
            </a:r>
            <a:r>
              <a:rPr>
                <a:solidFill>
                  <a:srgbClr val="D7DEEA"/>
                </a:solidFill>
              </a:rPr>
              <a:t>: </a:t>
            </a:r>
            <a:r>
              <a:rPr>
                <a:solidFill>
                  <a:schemeClr val="accent1"/>
                </a:solidFill>
              </a:rPr>
              <a:t>gpt-5.3-codex</a:t>
            </a:r>
            <a:endParaRPr>
              <a:solidFill>
                <a:srgbClr val="EEF0F4"/>
              </a:solidFill>
            </a:endParaRPr>
          </a:p>
          <a:p>
            <a:pPr>
              <a:lnSpc>
                <a:spcPts val="1700"/>
              </a:lnSpc>
              <a:defRPr sz="1100">
                <a:solidFill>
                  <a:srgbClr val="D7DEEA"/>
                </a:solidFill>
                <a:latin typeface="JetBrains Mono"/>
                <a:ea typeface="JetBrains Mono"/>
                <a:cs typeface="JetBrains Mono"/>
                <a:sym typeface="JetBrains Mono"/>
              </a:defRPr>
            </a:pPr>
            <a:r>
              <a:t>tools: [</a:t>
            </a:r>
            <a:r>
              <a:rPr>
                <a:solidFill>
                  <a:schemeClr val="accent1"/>
                </a:solidFill>
              </a:rPr>
              <a:t>"read"</a:t>
            </a:r>
            <a:r>
              <a:t>, </a:t>
            </a:r>
            <a:r>
              <a:rPr>
                <a:solidFill>
                  <a:schemeClr val="accent1"/>
                </a:solidFill>
              </a:rPr>
              <a:t>"edit"</a:t>
            </a:r>
            <a:r>
              <a:t>, </a:t>
            </a:r>
            <a:r>
              <a:rPr>
                <a:solidFill>
                  <a:schemeClr val="accent1"/>
                </a:solidFill>
              </a:rPr>
              <a:t>"search"</a:t>
            </a:r>
            <a:r>
              <a:t>, </a:t>
            </a:r>
            <a:r>
              <a:rPr>
                <a:solidFill>
                  <a:schemeClr val="accent1"/>
                </a:solidFill>
              </a:rPr>
              <a:t>"execute"</a:t>
            </a:r>
            <a:r>
              <a:t>]</a:t>
            </a:r>
          </a:p>
        </p:txBody>
      </p:sp>
      <p:sp>
        <p:nvSpPr>
          <p:cNvPr id="240" name="Text 9"/>
          <p:cNvSpPr txBox="1"/>
          <p:nvPr/>
        </p:nvSpPr>
        <p:spPr>
          <a:xfrm>
            <a:off x="5899149" y="3032967"/>
            <a:ext cx="5428617" cy="237283"/>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100">
                <a:solidFill>
                  <a:srgbClr val="A9B4C6"/>
                </a:solidFill>
              </a:defRPr>
            </a:lvl1pPr>
          </a:lstStyle>
          <a:p>
            <a:pPr/>
            <a:r>
              <a:t>Si ese modelo no está en tu cuenta, el agente no arranca.</a:t>
            </a:r>
          </a:p>
        </p:txBody>
      </p:sp>
      <p:pic>
        <p:nvPicPr>
          <p:cNvPr id="241" name="Image 0" descr="Image 0"/>
          <p:cNvPicPr>
            <a:picLocks noChangeAspect="1"/>
          </p:cNvPicPr>
          <p:nvPr/>
        </p:nvPicPr>
        <p:blipFill>
          <a:blip r:embed="rId3">
            <a:extLst/>
          </a:blip>
          <a:stretch>
            <a:fillRect/>
          </a:stretch>
        </p:blipFill>
        <p:spPr>
          <a:xfrm>
            <a:off x="2298700" y="3365500"/>
            <a:ext cx="838200" cy="546100"/>
          </a:xfrm>
          <a:prstGeom prst="rect">
            <a:avLst/>
          </a:prstGeom>
          <a:ln w="12700">
            <a:miter lim="400000"/>
          </a:ln>
        </p:spPr>
      </p:pic>
      <p:pic>
        <p:nvPicPr>
          <p:cNvPr id="242" name="Image 1" descr="Image 1"/>
          <p:cNvPicPr>
            <a:picLocks noChangeAspect="1"/>
          </p:cNvPicPr>
          <p:nvPr/>
        </p:nvPicPr>
        <p:blipFill>
          <a:blip r:embed="rId4">
            <a:extLst/>
          </a:blip>
          <a:stretch>
            <a:fillRect/>
          </a:stretch>
        </p:blipFill>
        <p:spPr>
          <a:xfrm>
            <a:off x="3060700" y="3365500"/>
            <a:ext cx="3073400" cy="546100"/>
          </a:xfrm>
          <a:prstGeom prst="rect">
            <a:avLst/>
          </a:prstGeom>
          <a:ln w="12700">
            <a:miter lim="400000"/>
          </a:ln>
        </p:spPr>
      </p:pic>
      <p:pic>
        <p:nvPicPr>
          <p:cNvPr id="243" name="Image 2" descr="Image 2"/>
          <p:cNvPicPr>
            <a:picLocks noChangeAspect="1"/>
          </p:cNvPicPr>
          <p:nvPr/>
        </p:nvPicPr>
        <p:blipFill>
          <a:blip r:embed="rId5">
            <a:extLst/>
          </a:blip>
          <a:stretch>
            <a:fillRect/>
          </a:stretch>
        </p:blipFill>
        <p:spPr>
          <a:xfrm>
            <a:off x="3060700" y="3365500"/>
            <a:ext cx="6832600" cy="546100"/>
          </a:xfrm>
          <a:prstGeom prst="rect">
            <a:avLst/>
          </a:prstGeom>
          <a:ln w="12700">
            <a:miter lim="400000"/>
          </a:ln>
        </p:spPr>
      </p:pic>
      <p:sp>
        <p:nvSpPr>
          <p:cNvPr id="244" name="Shape 10"/>
          <p:cNvSpPr/>
          <p:nvPr/>
        </p:nvSpPr>
        <p:spPr>
          <a:xfrm>
            <a:off x="819150" y="3879850"/>
            <a:ext cx="3035300" cy="1485900"/>
          </a:xfrm>
          <a:prstGeom prst="roundRect">
            <a:avLst>
              <a:gd name="adj" fmla="val 6410"/>
            </a:avLst>
          </a:prstGeom>
          <a:solidFill>
            <a:srgbClr val="1A2133"/>
          </a:solidFill>
          <a:ln w="12700">
            <a:solidFill>
              <a:schemeClr val="accent2"/>
            </a:solidFill>
          </a:ln>
        </p:spPr>
        <p:txBody>
          <a:bodyPr lIns="45719" rIns="45719"/>
          <a:lstStyle/>
          <a:p>
            <a:pPr>
              <a:defRPr>
                <a:solidFill>
                  <a:srgbClr val="EEF0F4"/>
                </a:solidFill>
              </a:defRPr>
            </a:pPr>
          </a:p>
        </p:txBody>
      </p:sp>
      <p:sp>
        <p:nvSpPr>
          <p:cNvPr id="245" name="Text 11"/>
          <p:cNvSpPr txBox="1"/>
          <p:nvPr/>
        </p:nvSpPr>
        <p:spPr>
          <a:xfrm>
            <a:off x="1028700" y="4064000"/>
            <a:ext cx="2694686"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2"/>
                </a:solidFill>
              </a:defRPr>
            </a:lvl1pPr>
          </a:lstStyle>
          <a:p>
            <a:pPr/>
            <a:r>
              <a:t>1 · PLAN</a:t>
            </a:r>
          </a:p>
        </p:txBody>
      </p:sp>
      <p:sp>
        <p:nvSpPr>
          <p:cNvPr id="246" name="Text 12"/>
          <p:cNvSpPr txBox="1"/>
          <p:nvPr/>
        </p:nvSpPr>
        <p:spPr>
          <a:xfrm>
            <a:off x="1028700" y="4328119"/>
            <a:ext cx="2694686"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b="1" sz="2000">
                <a:solidFill>
                  <a:srgbClr val="EEF0F4"/>
                </a:solidFill>
                <a:latin typeface="Space Grotesk"/>
                <a:ea typeface="Space Grotesk"/>
                <a:cs typeface="Space Grotesk"/>
                <a:sym typeface="Space Grotesk"/>
              </a:defRPr>
            </a:lvl1pPr>
          </a:lstStyle>
          <a:p>
            <a:pPr/>
            <a:r>
              <a:t>planner</a:t>
            </a:r>
          </a:p>
        </p:txBody>
      </p:sp>
      <p:sp>
        <p:nvSpPr>
          <p:cNvPr id="247" name="Text 13"/>
          <p:cNvSpPr txBox="1"/>
          <p:nvPr/>
        </p:nvSpPr>
        <p:spPr>
          <a:xfrm>
            <a:off x="1028700" y="4683719"/>
            <a:ext cx="2694686"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200">
                <a:solidFill>
                  <a:schemeClr val="accent2"/>
                </a:solidFill>
                <a:latin typeface="JetBrains Mono"/>
                <a:ea typeface="JetBrains Mono"/>
                <a:cs typeface="JetBrains Mono"/>
                <a:sym typeface="JetBrains Mono"/>
              </a:defRPr>
            </a:lvl1pPr>
          </a:lstStyle>
          <a:p>
            <a:pPr/>
            <a:r>
              <a:t>claude-sonnet-5.5</a:t>
            </a:r>
          </a:p>
        </p:txBody>
      </p:sp>
      <p:sp>
        <p:nvSpPr>
          <p:cNvPr id="248" name="Text 14"/>
          <p:cNvSpPr txBox="1"/>
          <p:nvPr/>
        </p:nvSpPr>
        <p:spPr>
          <a:xfrm>
            <a:off x="1028700" y="4963119"/>
            <a:ext cx="2694686"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A9B4C6"/>
                </a:solidFill>
              </a:defRPr>
            </a:lvl1pPr>
          </a:lstStyle>
          <a:p>
            <a:pPr/>
            <a:r>
              <a:t>read, search · solo lectura</a:t>
            </a:r>
          </a:p>
        </p:txBody>
      </p:sp>
      <p:sp>
        <p:nvSpPr>
          <p:cNvPr id="249" name="Shape 15"/>
          <p:cNvSpPr/>
          <p:nvPr/>
        </p:nvSpPr>
        <p:spPr>
          <a:xfrm>
            <a:off x="4578350" y="3879850"/>
            <a:ext cx="3035300" cy="1485900"/>
          </a:xfrm>
          <a:prstGeom prst="roundRect">
            <a:avLst>
              <a:gd name="adj" fmla="val 6410"/>
            </a:avLst>
          </a:prstGeom>
          <a:solidFill>
            <a:srgbClr val="1A2133"/>
          </a:solidFill>
          <a:ln w="12700">
            <a:solidFill>
              <a:schemeClr val="accent1"/>
            </a:solidFill>
          </a:ln>
        </p:spPr>
        <p:txBody>
          <a:bodyPr lIns="45719" rIns="45719"/>
          <a:lstStyle/>
          <a:p>
            <a:pPr>
              <a:defRPr>
                <a:solidFill>
                  <a:srgbClr val="EEF0F4"/>
                </a:solidFill>
              </a:defRPr>
            </a:pPr>
          </a:p>
        </p:txBody>
      </p:sp>
      <p:sp>
        <p:nvSpPr>
          <p:cNvPr id="250" name="Text 16"/>
          <p:cNvSpPr txBox="1"/>
          <p:nvPr/>
        </p:nvSpPr>
        <p:spPr>
          <a:xfrm>
            <a:off x="4787900" y="4064000"/>
            <a:ext cx="2694686"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1"/>
                </a:solidFill>
              </a:defRPr>
            </a:lvl1pPr>
          </a:lstStyle>
          <a:p>
            <a:pPr/>
            <a:r>
              <a:t>2 · CÓDIGO</a:t>
            </a:r>
          </a:p>
        </p:txBody>
      </p:sp>
      <p:sp>
        <p:nvSpPr>
          <p:cNvPr id="251" name="Text 17"/>
          <p:cNvSpPr txBox="1"/>
          <p:nvPr/>
        </p:nvSpPr>
        <p:spPr>
          <a:xfrm>
            <a:off x="4787900" y="4328119"/>
            <a:ext cx="2694686"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b="1" sz="2000">
                <a:solidFill>
                  <a:srgbClr val="EEF0F4"/>
                </a:solidFill>
                <a:latin typeface="Space Grotesk"/>
                <a:ea typeface="Space Grotesk"/>
                <a:cs typeface="Space Grotesk"/>
                <a:sym typeface="Space Grotesk"/>
              </a:defRPr>
            </a:lvl1pPr>
          </a:lstStyle>
          <a:p>
            <a:pPr/>
            <a:r>
              <a:t>coder</a:t>
            </a:r>
          </a:p>
        </p:txBody>
      </p:sp>
      <p:sp>
        <p:nvSpPr>
          <p:cNvPr id="252" name="Text 18"/>
          <p:cNvSpPr txBox="1"/>
          <p:nvPr/>
        </p:nvSpPr>
        <p:spPr>
          <a:xfrm>
            <a:off x="4787900" y="4683719"/>
            <a:ext cx="2694686"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200">
                <a:solidFill>
                  <a:schemeClr val="accent1"/>
                </a:solidFill>
                <a:latin typeface="JetBrains Mono"/>
                <a:ea typeface="JetBrains Mono"/>
                <a:cs typeface="JetBrains Mono"/>
                <a:sym typeface="JetBrains Mono"/>
              </a:defRPr>
            </a:lvl1pPr>
          </a:lstStyle>
          <a:p>
            <a:pPr/>
            <a:r>
              <a:t>gpt-5.3-codex</a:t>
            </a:r>
          </a:p>
        </p:txBody>
      </p:sp>
      <p:sp>
        <p:nvSpPr>
          <p:cNvPr id="253" name="Text 19"/>
          <p:cNvSpPr txBox="1"/>
          <p:nvPr/>
        </p:nvSpPr>
        <p:spPr>
          <a:xfrm>
            <a:off x="4787900" y="4963119"/>
            <a:ext cx="2694686"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A9B4C6"/>
                </a:solidFill>
              </a:defRPr>
            </a:lvl1pPr>
          </a:lstStyle>
          <a:p>
            <a:pPr/>
            <a:r>
              <a:t>read, edit, search, execute</a:t>
            </a:r>
          </a:p>
        </p:txBody>
      </p:sp>
      <p:sp>
        <p:nvSpPr>
          <p:cNvPr id="254" name="Shape 20"/>
          <p:cNvSpPr/>
          <p:nvPr/>
        </p:nvSpPr>
        <p:spPr>
          <a:xfrm>
            <a:off x="8337550" y="3879850"/>
            <a:ext cx="3035300" cy="1485900"/>
          </a:xfrm>
          <a:prstGeom prst="roundRect">
            <a:avLst>
              <a:gd name="adj" fmla="val 6410"/>
            </a:avLst>
          </a:prstGeom>
          <a:solidFill>
            <a:srgbClr val="1A2133"/>
          </a:solidFill>
          <a:ln w="12700">
            <a:solidFill>
              <a:schemeClr val="accent5"/>
            </a:solidFill>
          </a:ln>
        </p:spPr>
        <p:txBody>
          <a:bodyPr lIns="45719" rIns="45719"/>
          <a:lstStyle/>
          <a:p>
            <a:pPr>
              <a:defRPr>
                <a:solidFill>
                  <a:srgbClr val="EEF0F4"/>
                </a:solidFill>
              </a:defRPr>
            </a:pPr>
          </a:p>
        </p:txBody>
      </p:sp>
      <p:sp>
        <p:nvSpPr>
          <p:cNvPr id="255" name="Text 21"/>
          <p:cNvSpPr txBox="1"/>
          <p:nvPr/>
        </p:nvSpPr>
        <p:spPr>
          <a:xfrm>
            <a:off x="8547100" y="4064000"/>
            <a:ext cx="2694686"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5"/>
                </a:solidFill>
              </a:defRPr>
            </a:lvl1pPr>
          </a:lstStyle>
          <a:p>
            <a:pPr/>
            <a:r>
              <a:t>3 · REVISIÓN</a:t>
            </a:r>
          </a:p>
        </p:txBody>
      </p:sp>
      <p:sp>
        <p:nvSpPr>
          <p:cNvPr id="256" name="Text 22"/>
          <p:cNvSpPr txBox="1"/>
          <p:nvPr/>
        </p:nvSpPr>
        <p:spPr>
          <a:xfrm>
            <a:off x="8547100" y="4328119"/>
            <a:ext cx="2694686"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b="1" sz="2000">
                <a:solidFill>
                  <a:srgbClr val="EEF0F4"/>
                </a:solidFill>
                <a:latin typeface="Space Grotesk"/>
                <a:ea typeface="Space Grotesk"/>
                <a:cs typeface="Space Grotesk"/>
                <a:sym typeface="Space Grotesk"/>
              </a:defRPr>
            </a:lvl1pPr>
          </a:lstStyle>
          <a:p>
            <a:pPr/>
            <a:r>
              <a:t>reviewer</a:t>
            </a:r>
          </a:p>
        </p:txBody>
      </p:sp>
      <p:sp>
        <p:nvSpPr>
          <p:cNvPr id="257" name="Text 23"/>
          <p:cNvSpPr txBox="1"/>
          <p:nvPr/>
        </p:nvSpPr>
        <p:spPr>
          <a:xfrm>
            <a:off x="8547100" y="4683719"/>
            <a:ext cx="2694686"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200">
                <a:solidFill>
                  <a:schemeClr val="accent5"/>
                </a:solidFill>
                <a:latin typeface="JetBrains Mono"/>
                <a:ea typeface="JetBrains Mono"/>
                <a:cs typeface="JetBrains Mono"/>
                <a:sym typeface="JetBrains Mono"/>
              </a:defRPr>
            </a:lvl1pPr>
          </a:lstStyle>
          <a:p>
            <a:pPr/>
            <a:r>
              <a:t>gemini-3.8-flash</a:t>
            </a:r>
          </a:p>
        </p:txBody>
      </p:sp>
      <p:sp>
        <p:nvSpPr>
          <p:cNvPr id="258" name="Text 24"/>
          <p:cNvSpPr txBox="1"/>
          <p:nvPr/>
        </p:nvSpPr>
        <p:spPr>
          <a:xfrm>
            <a:off x="8547100" y="4963119"/>
            <a:ext cx="2694686"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A9B4C6"/>
                </a:solidFill>
              </a:defRPr>
            </a:lvl1pPr>
          </a:lstStyle>
          <a:p>
            <a:pPr/>
            <a:r>
              <a:t>read, search · otra familia</a:t>
            </a:r>
          </a:p>
        </p:txBody>
      </p:sp>
      <p:sp>
        <p:nvSpPr>
          <p:cNvPr id="259" name="Text 25"/>
          <p:cNvSpPr txBox="1"/>
          <p:nvPr/>
        </p:nvSpPr>
        <p:spPr>
          <a:xfrm>
            <a:off x="812799" y="5511800"/>
            <a:ext cx="10883394" cy="29210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EEF0F4"/>
                </a:solidFill>
              </a:defRPr>
            </a:lvl1pPr>
          </a:lstStyle>
          <a:p>
            <a:pPr/>
            <a:r>
              <a:t>Si el reviewer pide cambios, el coder tiene una ronda más. Nunca dos.</a:t>
            </a:r>
          </a:p>
        </p:txBody>
      </p:sp>
      <p:sp>
        <p:nvSpPr>
          <p:cNvPr id="260" name="Text 26"/>
          <p:cNvSpPr txBox="1"/>
          <p:nvPr/>
        </p:nvSpPr>
        <p:spPr>
          <a:xfrm>
            <a:off x="812799" y="6238280"/>
            <a:ext cx="3501987"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defRPr>
            </a:lvl1pPr>
          </a:lstStyle>
          <a:p>
            <a:pPr/>
            <a:r>
              <a:t>.github/agents/ · cuatro ficheros .agent.md</a:t>
            </a:r>
          </a:p>
        </p:txBody>
      </p:sp>
      <p:sp>
        <p:nvSpPr>
          <p:cNvPr id="261" name="Text 27"/>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chemeClr val="accent6"/>
                </a:solidFill>
              </a:defRPr>
            </a:lvl1pPr>
          </a:lstStyle>
          <a:p>
            <a:pPr/>
            <a:r>
              <a:t>14</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1EA"/>
        </a:solidFill>
      </p:bgPr>
    </p:bg>
    <p:spTree>
      <p:nvGrpSpPr>
        <p:cNvPr id="1" name=""/>
        <p:cNvGrpSpPr/>
        <p:nvPr/>
      </p:nvGrpSpPr>
      <p:grpSpPr>
        <a:xfrm>
          <a:off x="0" y="0"/>
          <a:ext cx="0" cy="0"/>
          <a:chOff x="0" y="0"/>
          <a:chExt cx="0" cy="0"/>
        </a:xfrm>
      </p:grpSpPr>
      <p:grpSp>
        <p:nvGrpSpPr>
          <p:cNvPr id="267" name="Text 0"/>
          <p:cNvGrpSpPr/>
          <p:nvPr/>
        </p:nvGrpSpPr>
        <p:grpSpPr>
          <a:xfrm>
            <a:off x="812800" y="812800"/>
            <a:ext cx="1000870" cy="314920"/>
            <a:chOff x="0" y="0"/>
            <a:chExt cx="1000869" cy="314919"/>
          </a:xfrm>
        </p:grpSpPr>
        <p:sp>
          <p:nvSpPr>
            <p:cNvPr id="265" name="Rounded Rectangle"/>
            <p:cNvSpPr/>
            <p:nvPr/>
          </p:nvSpPr>
          <p:spPr>
            <a:xfrm>
              <a:off x="0" y="0"/>
              <a:ext cx="1000870" cy="314920"/>
            </a:xfrm>
            <a:prstGeom prst="roundRect">
              <a:avLst>
                <a:gd name="adj" fmla="val 48393"/>
              </a:avLst>
            </a:prstGeom>
            <a:solidFill>
              <a:schemeClr val="accent1"/>
            </a:solidFill>
            <a:ln w="12700" cap="flat">
              <a:noFill/>
              <a:miter lim="400000"/>
            </a:ln>
            <a:effectLst/>
          </p:spPr>
          <p:txBody>
            <a:bodyPr wrap="square" lIns="45719" tIns="45719" rIns="45719" bIns="45719" numCol="1" anchor="ctr">
              <a:noAutofit/>
            </a:bodyPr>
            <a:lstStyle/>
            <a:p>
              <a:pPr algn="ctr">
                <a:lnSpc>
                  <a:spcPts val="1600"/>
                </a:lnSpc>
                <a:defRPr sz="1200">
                  <a:solidFill>
                    <a:srgbClr val="EEF0F4"/>
                  </a:solidFill>
                </a:defRPr>
              </a:pPr>
            </a:p>
          </p:txBody>
        </p:sp>
        <p:sp>
          <p:nvSpPr>
            <p:cNvPr id="266" name="DEMO 3B"/>
            <p:cNvSpPr txBox="1"/>
            <p:nvPr/>
          </p:nvSpPr>
          <p:spPr>
            <a:xfrm>
              <a:off x="102455" y="44636"/>
              <a:ext cx="795959" cy="225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normAutofit fontScale="100000" lnSpcReduction="0"/>
            </a:bodyPr>
            <a:lstStyle>
              <a:lvl1pPr algn="ctr">
                <a:lnSpc>
                  <a:spcPts val="1600"/>
                </a:lnSpc>
                <a:defRPr b="1" spc="100" sz="1200">
                  <a:solidFill>
                    <a:srgbClr val="161A26"/>
                  </a:solidFill>
                </a:defRPr>
              </a:lvl1pPr>
            </a:lstStyle>
            <a:p>
              <a:pPr/>
              <a:r>
                <a:t>DEMO 3B</a:t>
              </a:r>
            </a:p>
          </p:txBody>
        </p:sp>
      </p:grpSp>
      <p:sp>
        <p:nvSpPr>
          <p:cNvPr id="268" name="Text 1"/>
          <p:cNvSpPr txBox="1"/>
          <p:nvPr>
            <p:ph type="title"/>
          </p:nvPr>
        </p:nvSpPr>
        <p:spPr>
          <a:xfrm>
            <a:off x="812799" y="1229320"/>
            <a:ext cx="10883394" cy="472430"/>
          </a:xfrm>
          <a:prstGeom prst="rect">
            <a:avLst/>
          </a:prstGeom>
        </p:spPr>
        <p:txBody>
          <a:bodyPr/>
          <a:lstStyle>
            <a:lvl1pPr>
              <a:lnSpc>
                <a:spcPts val="3500"/>
              </a:lnSpc>
              <a:defRPr b="1">
                <a:solidFill>
                  <a:srgbClr val="161A26"/>
                </a:solidFill>
              </a:defRPr>
            </a:lvl1pPr>
          </a:lstStyle>
          <a:p>
            <a:pPr/>
            <a:r>
              <a:t>Tres modelos para un botón Reset</a:t>
            </a:r>
          </a:p>
        </p:txBody>
      </p:sp>
      <p:sp>
        <p:nvSpPr>
          <p:cNvPr id="269" name="Shape 2"/>
          <p:cNvSpPr/>
          <p:nvPr/>
        </p:nvSpPr>
        <p:spPr>
          <a:xfrm>
            <a:off x="812800" y="1879550"/>
            <a:ext cx="4546600" cy="2444552"/>
          </a:xfrm>
          <a:prstGeom prst="roundRect">
            <a:avLst>
              <a:gd name="adj" fmla="val 4156"/>
            </a:avLst>
          </a:prstGeom>
          <a:solidFill>
            <a:srgbClr val="161A26"/>
          </a:solidFill>
          <a:ln w="12700">
            <a:miter lim="400000"/>
          </a:ln>
        </p:spPr>
        <p:txBody>
          <a:bodyPr lIns="45719" rIns="45719"/>
          <a:lstStyle/>
          <a:p>
            <a:pPr>
              <a:defRPr>
                <a:solidFill>
                  <a:srgbClr val="EEF0F4"/>
                </a:solidFill>
              </a:defRPr>
            </a:pPr>
          </a:p>
        </p:txBody>
      </p:sp>
      <p:sp>
        <p:nvSpPr>
          <p:cNvPr id="270" name="Text 3"/>
          <p:cNvSpPr txBox="1"/>
          <p:nvPr/>
        </p:nvSpPr>
        <p:spPr>
          <a:xfrm>
            <a:off x="1066799" y="2133550"/>
            <a:ext cx="415976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1"/>
                </a:solidFill>
              </a:defRPr>
            </a:lvl1pPr>
          </a:lstStyle>
          <a:p>
            <a:pPr/>
            <a:r>
              <a:t>PROMPT</a:t>
            </a:r>
          </a:p>
        </p:txBody>
      </p:sp>
      <p:sp>
        <p:nvSpPr>
          <p:cNvPr id="271" name="Text 4"/>
          <p:cNvSpPr txBox="1"/>
          <p:nvPr/>
        </p:nvSpPr>
        <p:spPr>
          <a:xfrm>
            <a:off x="1066799" y="2448471"/>
            <a:ext cx="4159760"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200">
                <a:solidFill>
                  <a:srgbClr val="EEF0F4"/>
                </a:solidFill>
                <a:latin typeface="JetBrains Mono"/>
                <a:ea typeface="JetBrains Mono"/>
                <a:cs typeface="JetBrains Mono"/>
                <a:sym typeface="JetBrains Mono"/>
              </a:defRPr>
            </a:lvl1pPr>
          </a:lstStyle>
          <a:p>
            <a:pPr/>
            <a:r>
              <a:t>Add a Reset button next to SampleApp's counter that sets it to zero.</a:t>
            </a:r>
          </a:p>
        </p:txBody>
      </p:sp>
      <p:sp>
        <p:nvSpPr>
          <p:cNvPr id="272" name="Text 5"/>
          <p:cNvSpPr txBox="1"/>
          <p:nvPr/>
        </p:nvSpPr>
        <p:spPr>
          <a:xfrm>
            <a:off x="1066799" y="3115221"/>
            <a:ext cx="415976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1"/>
                </a:solidFill>
              </a:defRPr>
            </a:lvl1pPr>
          </a:lstStyle>
          <a:p>
            <a:pPr/>
            <a:r>
              <a:t>QUÉ DEBERÍAS VER</a:t>
            </a:r>
          </a:p>
        </p:txBody>
      </p:sp>
      <p:sp>
        <p:nvSpPr>
          <p:cNvPr id="273" name="Text 6"/>
          <p:cNvSpPr txBox="1"/>
          <p:nvPr/>
        </p:nvSpPr>
        <p:spPr>
          <a:xfrm>
            <a:off x="1066799" y="3430141"/>
            <a:ext cx="4159760" cy="66536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EEF0F4"/>
                </a:solidFill>
              </a:defRPr>
            </a:lvl1pPr>
          </a:lstStyle>
          <a:p>
            <a:pPr/>
            <a:r>
              <a:t>Tres subagentes en orden: planner, coder y reviewer. Al final, una tabla con el modelo de cada fase y el veredicto.</a:t>
            </a:r>
          </a:p>
        </p:txBody>
      </p:sp>
      <p:sp>
        <p:nvSpPr>
          <p:cNvPr id="274" name="Text 7"/>
          <p:cNvSpPr txBox="1"/>
          <p:nvPr/>
        </p:nvSpPr>
        <p:spPr>
          <a:xfrm>
            <a:off x="812800" y="4476501"/>
            <a:ext cx="4682998"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4A5263"/>
                </a:solidFill>
                <a:latin typeface="JetBrains Mono"/>
                <a:ea typeface="JetBrains Mono"/>
                <a:cs typeface="JetBrains Mono"/>
                <a:sym typeface="JetBrains Mono"/>
              </a:defRPr>
            </a:lvl1pPr>
          </a:lstStyle>
          <a:p>
            <a:pPr/>
            <a:r>
              <a:t>Proyecto: 03b-hierarchy · agente: orchestrator</a:t>
            </a:r>
          </a:p>
        </p:txBody>
      </p:sp>
      <p:pic>
        <p:nvPicPr>
          <p:cNvPr id="275" name="Image 1" descr="Image 1"/>
          <p:cNvPicPr>
            <a:picLocks noChangeAspect="1"/>
          </p:cNvPicPr>
          <p:nvPr/>
        </p:nvPicPr>
        <p:blipFill>
          <a:blip r:embed="rId3">
            <a:extLst/>
          </a:blip>
          <a:stretch>
            <a:fillRect/>
          </a:stretch>
        </p:blipFill>
        <p:spPr>
          <a:xfrm>
            <a:off x="5667375" y="1882725"/>
            <a:ext cx="5708650" cy="3435351"/>
          </a:xfrm>
          <a:prstGeom prst="rect">
            <a:avLst/>
          </a:prstGeom>
          <a:ln w="12700">
            <a:miter lim="400000"/>
          </a:ln>
        </p:spPr>
      </p:pic>
      <p:sp>
        <p:nvSpPr>
          <p:cNvPr id="276" name="Shape 8"/>
          <p:cNvSpPr/>
          <p:nvPr/>
        </p:nvSpPr>
        <p:spPr>
          <a:xfrm>
            <a:off x="5667375" y="1882725"/>
            <a:ext cx="5708650" cy="3435351"/>
          </a:xfrm>
          <a:prstGeom prst="roundRect">
            <a:avLst>
              <a:gd name="adj" fmla="val 2126"/>
            </a:avLst>
          </a:prstGeom>
          <a:ln w="6350">
            <a:solidFill>
              <a:srgbClr val="D5D0C4"/>
            </a:solidFill>
          </a:ln>
        </p:spPr>
        <p:txBody>
          <a:bodyPr lIns="45719" rIns="45719"/>
          <a:lstStyle/>
          <a:p>
            <a:pPr>
              <a:defRPr>
                <a:solidFill>
                  <a:srgbClr val="EEF0F4"/>
                </a:solidFill>
              </a:defRPr>
            </a:pPr>
          </a:p>
        </p:txBody>
      </p:sp>
      <p:sp>
        <p:nvSpPr>
          <p:cNvPr id="277" name="Text 9"/>
          <p:cNvSpPr txBox="1"/>
          <p:nvPr/>
        </p:nvSpPr>
        <p:spPr>
          <a:xfrm>
            <a:off x="5664200" y="5397450"/>
            <a:ext cx="588645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C6470"/>
                </a:solidFill>
              </a:defRPr>
            </a:lvl1pPr>
          </a:lstStyle>
          <a:p>
            <a:pPr/>
            <a:r>
              <a:t>Captura real · planner, coder y reviewer, cada uno con su modelo</a:t>
            </a:r>
          </a:p>
        </p:txBody>
      </p:sp>
      <p:sp>
        <p:nvSpPr>
          <p:cNvPr id="278" name="Text 10"/>
          <p:cNvSpPr txBox="1"/>
          <p:nvPr/>
        </p:nvSpPr>
        <p:spPr>
          <a:xfrm>
            <a:off x="812799" y="6238280"/>
            <a:ext cx="302782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C6470"/>
                </a:solidFill>
              </a:defRPr>
            </a:lvl1pPr>
          </a:lstStyle>
          <a:p>
            <a:pPr/>
            <a:r>
              <a:t>Extensibilidad de GitHub Copilot App</a:t>
            </a:r>
          </a:p>
        </p:txBody>
      </p:sp>
      <p:sp>
        <p:nvSpPr>
          <p:cNvPr id="279" name="Text 11"/>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rgbClr val="5C6470"/>
                </a:solidFill>
              </a:defRPr>
            </a:lvl1pPr>
          </a:lstStyle>
          <a:p>
            <a:pPr/>
            <a:r>
              <a:t>15</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3"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2"/>
                </a:solidFill>
              </a:defRPr>
            </a:lvl1pPr>
          </a:lstStyle>
          <a:p>
            <a:pPr/>
            <a:r>
              <a:t>PASO 4 · SERVIDORES MCP</a:t>
            </a:r>
          </a:p>
        </p:txBody>
      </p:sp>
      <p:sp>
        <p:nvSpPr>
          <p:cNvPr id="284" name="Text 1"/>
          <p:cNvSpPr txBox="1"/>
          <p:nvPr>
            <p:ph type="title"/>
          </p:nvPr>
        </p:nvSpPr>
        <p:spPr>
          <a:xfrm>
            <a:off x="812799" y="1127720"/>
            <a:ext cx="10883394" cy="472430"/>
          </a:xfrm>
          <a:prstGeom prst="rect">
            <a:avLst/>
          </a:prstGeom>
        </p:spPr>
        <p:txBody>
          <a:bodyPr/>
          <a:lstStyle>
            <a:lvl1pPr>
              <a:lnSpc>
                <a:spcPts val="3500"/>
              </a:lnSpc>
              <a:defRPr b="1"/>
            </a:lvl1pPr>
          </a:lstStyle>
          <a:p>
            <a:pPr/>
            <a:r>
              <a:t>Nuevas capacidades mediante un protocolo abierto</a:t>
            </a:r>
          </a:p>
        </p:txBody>
      </p:sp>
      <p:sp>
        <p:nvSpPr>
          <p:cNvPr id="285" name="Text 2"/>
          <p:cNvSpPr txBox="1"/>
          <p:nvPr/>
        </p:nvSpPr>
        <p:spPr>
          <a:xfrm>
            <a:off x="812800" y="1828750"/>
            <a:ext cx="4224090" cy="8255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EEF0F4"/>
                </a:solidFill>
              </a:defRPr>
            </a:lvl1pPr>
          </a:lstStyle>
          <a:p>
            <a:pPr/>
            <a:r>
              <a:t>Un servidor MCP es un proceso que publica herramientas. El agente las descubre y las llama por JSON-RPC.</a:t>
            </a:r>
          </a:p>
        </p:txBody>
      </p:sp>
      <p:sp>
        <p:nvSpPr>
          <p:cNvPr id="286" name="Text 3"/>
          <p:cNvSpPr txBox="1"/>
          <p:nvPr/>
        </p:nvSpPr>
        <p:spPr>
          <a:xfrm>
            <a:off x="812800" y="2781250"/>
            <a:ext cx="4224090" cy="8255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Local por stdio o remoto por HTTP. En la CLI: .mcp.json o /mcp add. En la app: Customize &gt; MCP.</a:t>
            </a:r>
          </a:p>
        </p:txBody>
      </p:sp>
      <p:sp>
        <p:nvSpPr>
          <p:cNvPr id="287" name="Text 4"/>
          <p:cNvSpPr txBox="1"/>
          <p:nvPr/>
        </p:nvSpPr>
        <p:spPr>
          <a:xfrm>
            <a:off x="812800" y="3733750"/>
            <a:ext cx="4224090"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No hay magia: una descripción con su esquema y tres respuestas.</a:t>
            </a:r>
          </a:p>
        </p:txBody>
      </p:sp>
      <p:sp>
        <p:nvSpPr>
          <p:cNvPr id="288" name="Shape 5"/>
          <p:cNvSpPr/>
          <p:nvPr/>
        </p:nvSpPr>
        <p:spPr>
          <a:xfrm>
            <a:off x="5221832" y="1831925"/>
            <a:ext cx="6154193" cy="3887392"/>
          </a:xfrm>
          <a:prstGeom prst="roundRect">
            <a:avLst>
              <a:gd name="adj" fmla="val 2532"/>
            </a:avLst>
          </a:prstGeom>
          <a:solidFill>
            <a:srgbClr val="1A2133"/>
          </a:solidFill>
          <a:ln w="6350">
            <a:solidFill>
              <a:srgbClr val="2B3550"/>
            </a:solidFill>
          </a:ln>
        </p:spPr>
        <p:txBody>
          <a:bodyPr lIns="45719" rIns="45719"/>
          <a:lstStyle/>
          <a:p>
            <a:pPr>
              <a:defRPr>
                <a:solidFill>
                  <a:srgbClr val="EEF0F4"/>
                </a:solidFill>
              </a:defRPr>
            </a:pPr>
          </a:p>
        </p:txBody>
      </p:sp>
      <p:sp>
        <p:nvSpPr>
          <p:cNvPr id="289" name="Text 6"/>
          <p:cNvSpPr txBox="1"/>
          <p:nvPr/>
        </p:nvSpPr>
        <p:spPr>
          <a:xfrm>
            <a:off x="5428207" y="2038300"/>
            <a:ext cx="5913686"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latin typeface="JetBrains Mono"/>
                <a:ea typeface="JetBrains Mono"/>
                <a:cs typeface="JetBrains Mono"/>
                <a:sym typeface="JetBrains Mono"/>
              </a:defRPr>
            </a:lvl1pPr>
          </a:lstStyle>
          <a:p>
            <a:pPr/>
            <a:r>
              <a:t>.mcp.json</a:t>
            </a:r>
          </a:p>
        </p:txBody>
      </p:sp>
      <p:sp>
        <p:nvSpPr>
          <p:cNvPr id="290" name="Text 7"/>
          <p:cNvSpPr txBox="1"/>
          <p:nvPr/>
        </p:nvSpPr>
        <p:spPr>
          <a:xfrm>
            <a:off x="5428207" y="2353221"/>
            <a:ext cx="5913686" cy="939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800"/>
              </a:lnSpc>
              <a:defRPr sz="1200">
                <a:solidFill>
                  <a:srgbClr val="D7DEEA"/>
                </a:solidFill>
                <a:latin typeface="JetBrains Mono"/>
                <a:ea typeface="JetBrains Mono"/>
                <a:cs typeface="JetBrains Mono"/>
                <a:sym typeface="JetBrains Mono"/>
              </a:defRPr>
            </a:pPr>
            <a:r>
              <a:t>{ "mcpServers": { </a:t>
            </a:r>
            <a:r>
              <a:rPr>
                <a:solidFill>
                  <a:schemeClr val="accent1"/>
                </a:solidFill>
              </a:rPr>
              <a:t>"axaml-inspector"</a:t>
            </a:r>
            <a:r>
              <a:t>: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"type": "local", "command": "node",</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"args": ["tools/axaml-inspector/server.mjs"],</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"tools": ["*"] } } }</a:t>
            </a:r>
          </a:p>
        </p:txBody>
      </p:sp>
      <p:sp>
        <p:nvSpPr>
          <p:cNvPr id="291" name="Text 8"/>
          <p:cNvSpPr txBox="1"/>
          <p:nvPr/>
        </p:nvSpPr>
        <p:spPr>
          <a:xfrm>
            <a:off x="5428207" y="3369221"/>
            <a:ext cx="5913686"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latin typeface="JetBrains Mono"/>
                <a:ea typeface="JetBrains Mono"/>
                <a:cs typeface="JetBrains Mono"/>
                <a:sym typeface="JetBrains Mono"/>
              </a:defRPr>
            </a:lvl1pPr>
          </a:lstStyle>
          <a:p>
            <a:pPr/>
            <a:r>
              <a:t>tools/axaml-inspector/server.mjs</a:t>
            </a:r>
          </a:p>
        </p:txBody>
      </p:sp>
      <p:sp>
        <p:nvSpPr>
          <p:cNvPr id="292" name="Text 9"/>
          <p:cNvSpPr txBox="1"/>
          <p:nvPr/>
        </p:nvSpPr>
        <p:spPr>
          <a:xfrm>
            <a:off x="5428207" y="3684141"/>
            <a:ext cx="5913686" cy="1854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800"/>
              </a:lnSpc>
              <a:defRPr sz="1200">
                <a:solidFill>
                  <a:schemeClr val="accent2"/>
                </a:solidFill>
                <a:latin typeface="JetBrains Mono"/>
                <a:ea typeface="JetBrains Mono"/>
                <a:cs typeface="JetBrains Mono"/>
                <a:sym typeface="JetBrains Mono"/>
              </a:defRPr>
            </a:pPr>
            <a:r>
              <a:t>const</a:t>
            </a:r>
            <a:r>
              <a:rPr>
                <a:solidFill>
                  <a:srgbClr val="D7DEEA"/>
                </a:solidFill>
              </a:rPr>
              <a:t> TOOLS = [{ name: </a:t>
            </a:r>
            <a:r>
              <a:rPr>
                <a:solidFill>
                  <a:schemeClr val="accent1"/>
                </a:solidFill>
              </a:rPr>
              <a:t>"find_missing_automation_ids"</a:t>
            </a:r>
            <a:r>
              <a:rPr>
                <a:solidFill>
                  <a:srgbClr val="D7DEEA"/>
                </a:solidFill>
              </a:rPr>
              <a: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description: </a:t>
            </a:r>
            <a:r>
              <a:rPr>
                <a:solidFill>
                  <a:schemeClr val="accent1"/>
                </a:solidFill>
              </a:rPr>
              <a:t>"Controls without an AutomationId…"</a:t>
            </a:r>
            <a:r>
              <a: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inputSchema: { type: "object", properties: { path } } }];</a:t>
            </a:r>
            <a:endParaRPr>
              <a:solidFill>
                <a:srgbClr val="EEF0F4"/>
              </a:solidFill>
            </a:endParaRPr>
          </a:p>
          <a:p>
            <a:pPr>
              <a:lnSpc>
                <a:spcPts val="1800"/>
              </a:lnSpc>
              <a:defRPr sz="1200">
                <a:solidFill>
                  <a:schemeClr val="accent2"/>
                </a:solidFill>
                <a:latin typeface="JetBrains Mono"/>
                <a:ea typeface="JetBrains Mono"/>
                <a:cs typeface="JetBrains Mono"/>
                <a:sym typeface="JetBrains Mono"/>
              </a:defRPr>
            </a:pPr>
            <a:r>
              <a:t>switch</a:t>
            </a:r>
            <a:r>
              <a:rPr>
                <a:solidFill>
                  <a:srgbClr val="D7DEEA"/>
                </a:solidFill>
              </a:rPr>
              <a:t> (method)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a:t>
            </a:r>
            <a:r>
              <a:rPr>
                <a:solidFill>
                  <a:schemeClr val="accent2"/>
                </a:solidFill>
              </a:rPr>
              <a:t>case</a:t>
            </a:r>
            <a:r>
              <a:t> </a:t>
            </a:r>
            <a:r>
              <a:rPr>
                <a:solidFill>
                  <a:schemeClr val="accent1"/>
                </a:solidFill>
              </a:rPr>
              <a:t>"initialize"</a:t>
            </a:r>
            <a:r>
              <a:t>: </a:t>
            </a:r>
            <a:r>
              <a:rPr>
                <a:solidFill>
                  <a:schemeClr val="accent6"/>
                </a:solidFill>
              </a:rPr>
              <a:t>// introduces itself</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a:t>
            </a:r>
            <a:r>
              <a:rPr>
                <a:solidFill>
                  <a:schemeClr val="accent2"/>
                </a:solidFill>
              </a:rPr>
              <a:t>case</a:t>
            </a:r>
            <a:r>
              <a:t> </a:t>
            </a:r>
            <a:r>
              <a:rPr>
                <a:solidFill>
                  <a:schemeClr val="accent1"/>
                </a:solidFill>
              </a:rPr>
              <a:t>"tools/list"</a:t>
            </a:r>
            <a:r>
              <a:t>: </a:t>
            </a:r>
            <a:r>
              <a:rPr>
                <a:solidFill>
                  <a:schemeClr val="accent6"/>
                </a:solidFill>
              </a:rPr>
              <a:t>// returns TOOLS</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a:t>
            </a:r>
            <a:r>
              <a:rPr>
                <a:solidFill>
                  <a:schemeClr val="accent2"/>
                </a:solidFill>
              </a:rPr>
              <a:t>case</a:t>
            </a:r>
            <a:r>
              <a:t> </a:t>
            </a:r>
            <a:r>
              <a:rPr>
                <a:solidFill>
                  <a:schemeClr val="accent1"/>
                </a:solidFill>
              </a:rPr>
              <a:t>"tools/call"</a:t>
            </a:r>
            <a:r>
              <a:t>: </a:t>
            </a:r>
            <a:r>
              <a:rPr>
                <a:solidFill>
                  <a:schemeClr val="accent6"/>
                </a:solidFill>
              </a:rPr>
              <a:t>// runs and replies</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a:t>
            </a:r>
          </a:p>
        </p:txBody>
      </p:sp>
      <p:sp>
        <p:nvSpPr>
          <p:cNvPr id="293" name="Text 10"/>
          <p:cNvSpPr txBox="1"/>
          <p:nvPr/>
        </p:nvSpPr>
        <p:spPr>
          <a:xfrm>
            <a:off x="812800" y="6238280"/>
            <a:ext cx="4744462"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defRPr>
            </a:lvl1pPr>
          </a:lstStyle>
          <a:p>
            <a:pPr/>
            <a:r>
              <a:t>Extracto simplificado de tools/axaml-inspector/server.mjs</a:t>
            </a:r>
          </a:p>
        </p:txBody>
      </p:sp>
      <p:sp>
        <p:nvSpPr>
          <p:cNvPr id="294" name="Text 11"/>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chemeClr val="accent6"/>
                </a:solidFill>
              </a:defRPr>
            </a:lvl1pPr>
          </a:lstStyle>
          <a:p>
            <a:pPr/>
            <a:r>
              <a:t>16</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1EA"/>
        </a:solidFill>
      </p:bgPr>
    </p:bg>
    <p:spTree>
      <p:nvGrpSpPr>
        <p:cNvPr id="1" name=""/>
        <p:cNvGrpSpPr/>
        <p:nvPr/>
      </p:nvGrpSpPr>
      <p:grpSpPr>
        <a:xfrm>
          <a:off x="0" y="0"/>
          <a:ext cx="0" cy="0"/>
          <a:chOff x="0" y="0"/>
          <a:chExt cx="0" cy="0"/>
        </a:xfrm>
      </p:grpSpPr>
      <p:grpSp>
        <p:nvGrpSpPr>
          <p:cNvPr id="300" name="Text 0"/>
          <p:cNvGrpSpPr/>
          <p:nvPr/>
        </p:nvGrpSpPr>
        <p:grpSpPr>
          <a:xfrm>
            <a:off x="812800" y="812800"/>
            <a:ext cx="887164" cy="314920"/>
            <a:chOff x="0" y="0"/>
            <a:chExt cx="887163" cy="314919"/>
          </a:xfrm>
        </p:grpSpPr>
        <p:sp>
          <p:nvSpPr>
            <p:cNvPr id="298" name="Rounded Rectangle"/>
            <p:cNvSpPr/>
            <p:nvPr/>
          </p:nvSpPr>
          <p:spPr>
            <a:xfrm>
              <a:off x="0" y="0"/>
              <a:ext cx="887164" cy="314920"/>
            </a:xfrm>
            <a:prstGeom prst="roundRect">
              <a:avLst>
                <a:gd name="adj" fmla="val 48393"/>
              </a:avLst>
            </a:prstGeom>
            <a:solidFill>
              <a:schemeClr val="accent1"/>
            </a:solidFill>
            <a:ln w="12700" cap="flat">
              <a:noFill/>
              <a:miter lim="400000"/>
            </a:ln>
            <a:effectLst/>
          </p:spPr>
          <p:txBody>
            <a:bodyPr wrap="square" lIns="45719" tIns="45719" rIns="45719" bIns="45719" numCol="1" anchor="ctr">
              <a:noAutofit/>
            </a:bodyPr>
            <a:lstStyle/>
            <a:p>
              <a:pPr algn="ctr">
                <a:lnSpc>
                  <a:spcPts val="1600"/>
                </a:lnSpc>
                <a:defRPr sz="1200">
                  <a:solidFill>
                    <a:srgbClr val="EEF0F4"/>
                  </a:solidFill>
                </a:defRPr>
              </a:pPr>
            </a:p>
          </p:txBody>
        </p:sp>
        <p:sp>
          <p:nvSpPr>
            <p:cNvPr id="299" name="DEMO 4"/>
            <p:cNvSpPr txBox="1"/>
            <p:nvPr/>
          </p:nvSpPr>
          <p:spPr>
            <a:xfrm>
              <a:off x="106981" y="44636"/>
              <a:ext cx="673201" cy="225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normAutofit fontScale="100000" lnSpcReduction="0"/>
            </a:bodyPr>
            <a:lstStyle>
              <a:lvl1pPr algn="ctr">
                <a:lnSpc>
                  <a:spcPts val="1600"/>
                </a:lnSpc>
                <a:defRPr b="1" spc="100" sz="1200">
                  <a:solidFill>
                    <a:srgbClr val="161A26"/>
                  </a:solidFill>
                </a:defRPr>
              </a:lvl1pPr>
            </a:lstStyle>
            <a:p>
              <a:pPr/>
              <a:r>
                <a:t>DEMO 4</a:t>
              </a:r>
            </a:p>
          </p:txBody>
        </p:sp>
      </p:grpSp>
      <p:sp>
        <p:nvSpPr>
          <p:cNvPr id="301" name="Text 1"/>
          <p:cNvSpPr txBox="1"/>
          <p:nvPr>
            <p:ph type="title"/>
          </p:nvPr>
        </p:nvSpPr>
        <p:spPr>
          <a:xfrm>
            <a:off x="812799" y="1229320"/>
            <a:ext cx="10883394" cy="472430"/>
          </a:xfrm>
          <a:prstGeom prst="rect">
            <a:avLst/>
          </a:prstGeom>
        </p:spPr>
        <p:txBody>
          <a:bodyPr/>
          <a:lstStyle>
            <a:lvl1pPr>
              <a:lnSpc>
                <a:spcPts val="3500"/>
              </a:lnSpc>
              <a:defRPr b="1">
                <a:solidFill>
                  <a:srgbClr val="161A26"/>
                </a:solidFill>
              </a:defRPr>
            </a:lvl1pPr>
          </a:lstStyle>
          <a:p>
            <a:pPr/>
            <a:r>
              <a:t>Una herramienta nueva desde tu propio servidor</a:t>
            </a:r>
          </a:p>
        </p:txBody>
      </p:sp>
      <p:sp>
        <p:nvSpPr>
          <p:cNvPr id="302" name="Shape 2"/>
          <p:cNvSpPr/>
          <p:nvPr/>
        </p:nvSpPr>
        <p:spPr>
          <a:xfrm>
            <a:off x="812800" y="1879550"/>
            <a:ext cx="4546600" cy="2231232"/>
          </a:xfrm>
          <a:prstGeom prst="roundRect">
            <a:avLst>
              <a:gd name="adj" fmla="val 4554"/>
            </a:avLst>
          </a:prstGeom>
          <a:solidFill>
            <a:srgbClr val="161A26"/>
          </a:solidFill>
          <a:ln w="12700">
            <a:miter lim="400000"/>
          </a:ln>
        </p:spPr>
        <p:txBody>
          <a:bodyPr lIns="45719" rIns="45719"/>
          <a:lstStyle/>
          <a:p>
            <a:pPr>
              <a:defRPr>
                <a:solidFill>
                  <a:srgbClr val="EEF0F4"/>
                </a:solidFill>
              </a:defRPr>
            </a:pPr>
          </a:p>
        </p:txBody>
      </p:sp>
      <p:sp>
        <p:nvSpPr>
          <p:cNvPr id="303" name="Text 3"/>
          <p:cNvSpPr txBox="1"/>
          <p:nvPr/>
        </p:nvSpPr>
        <p:spPr>
          <a:xfrm>
            <a:off x="1066799" y="2133550"/>
            <a:ext cx="415976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1"/>
                </a:solidFill>
              </a:defRPr>
            </a:lvl1pPr>
          </a:lstStyle>
          <a:p>
            <a:pPr/>
            <a:r>
              <a:t>PROMPT</a:t>
            </a:r>
          </a:p>
        </p:txBody>
      </p:sp>
      <p:sp>
        <p:nvSpPr>
          <p:cNvPr id="304" name="Text 4"/>
          <p:cNvSpPr txBox="1"/>
          <p:nvPr/>
        </p:nvSpPr>
        <p:spPr>
          <a:xfrm>
            <a:off x="1066799" y="2448471"/>
            <a:ext cx="4159760"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200">
                <a:solidFill>
                  <a:srgbClr val="EEF0F4"/>
                </a:solidFill>
                <a:latin typeface="JetBrains Mono"/>
                <a:ea typeface="JetBrains Mono"/>
                <a:cs typeface="JetBrains Mono"/>
                <a:sym typeface="JetBrains Mono"/>
              </a:defRPr>
            </a:lvl1pPr>
          </a:lstStyle>
          <a:p>
            <a:pPr/>
            <a:r>
              <a:t>Which SampleApp controls have no AutomationId? Use axaml-inspector.</a:t>
            </a:r>
          </a:p>
        </p:txBody>
      </p:sp>
      <p:sp>
        <p:nvSpPr>
          <p:cNvPr id="305" name="Text 5"/>
          <p:cNvSpPr txBox="1"/>
          <p:nvPr/>
        </p:nvSpPr>
        <p:spPr>
          <a:xfrm>
            <a:off x="1066799" y="3115221"/>
            <a:ext cx="415976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1"/>
                </a:solidFill>
              </a:defRPr>
            </a:lvl1pPr>
          </a:lstStyle>
          <a:p>
            <a:pPr/>
            <a:r>
              <a:t>QUÉ DEBERÍAS VER</a:t>
            </a:r>
          </a:p>
        </p:txBody>
      </p:sp>
      <p:sp>
        <p:nvSpPr>
          <p:cNvPr id="306" name="Text 6"/>
          <p:cNvSpPr txBox="1"/>
          <p:nvPr/>
        </p:nvSpPr>
        <p:spPr>
          <a:xfrm>
            <a:off x="1066799" y="3430141"/>
            <a:ext cx="4159760" cy="4520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EEF0F4"/>
                </a:solidFill>
              </a:defRPr>
            </a:lvl1pPr>
          </a:lstStyle>
          <a:p>
            <a:pPr/>
            <a:r>
              <a:t>Una llamada nativa, Find Missing Automation Ids, y los cinco menús sin identificador.</a:t>
            </a:r>
          </a:p>
        </p:txBody>
      </p:sp>
      <p:sp>
        <p:nvSpPr>
          <p:cNvPr id="307" name="Text 7"/>
          <p:cNvSpPr txBox="1"/>
          <p:nvPr/>
        </p:nvSpPr>
        <p:spPr>
          <a:xfrm>
            <a:off x="812800" y="4263182"/>
            <a:ext cx="4682998"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859536">
              <a:lnSpc>
                <a:spcPts val="1500"/>
              </a:lnSpc>
              <a:defRPr sz="1128">
                <a:solidFill>
                  <a:srgbClr val="4A5263"/>
                </a:solidFill>
                <a:latin typeface="JetBrains Mono"/>
                <a:ea typeface="JetBrains Mono"/>
                <a:cs typeface="JetBrains Mono"/>
                <a:sym typeface="JetBrains Mono"/>
              </a:defRPr>
            </a:lvl1pPr>
          </a:lstStyle>
          <a:p>
            <a:pPr/>
            <a:r>
              <a:t>Proyecto: 04-mcp · copilot mcp add axaml-inspector -- node …/server.mjs</a:t>
            </a:r>
          </a:p>
        </p:txBody>
      </p:sp>
      <p:pic>
        <p:nvPicPr>
          <p:cNvPr id="308" name="Image 1" descr="Image 1"/>
          <p:cNvPicPr>
            <a:picLocks noChangeAspect="1"/>
          </p:cNvPicPr>
          <p:nvPr/>
        </p:nvPicPr>
        <p:blipFill>
          <a:blip r:embed="rId3">
            <a:extLst/>
          </a:blip>
          <a:srcRect l="0" t="0" r="0" b="0"/>
          <a:stretch>
            <a:fillRect/>
          </a:stretch>
        </p:blipFill>
        <p:spPr>
          <a:xfrm>
            <a:off x="5670550" y="1885900"/>
            <a:ext cx="5702300" cy="3429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440"/>
                </a:moveTo>
                <a:lnTo>
                  <a:pt x="21600" y="21160"/>
                </a:lnTo>
                <a:cubicBezTo>
                  <a:pt x="21600" y="21403"/>
                  <a:pt x="21482" y="21600"/>
                  <a:pt x="21335" y="21600"/>
                </a:cubicBezTo>
                <a:lnTo>
                  <a:pt x="265" y="21600"/>
                </a:lnTo>
                <a:cubicBezTo>
                  <a:pt x="118" y="21600"/>
                  <a:pt x="0" y="21403"/>
                  <a:pt x="0" y="21160"/>
                </a:cubicBezTo>
                <a:lnTo>
                  <a:pt x="0" y="440"/>
                </a:lnTo>
                <a:lnTo>
                  <a:pt x="1" y="395"/>
                </a:lnTo>
                <a:cubicBezTo>
                  <a:pt x="15" y="173"/>
                  <a:pt x="128" y="0"/>
                  <a:pt x="265" y="0"/>
                </a:cubicBezTo>
                <a:lnTo>
                  <a:pt x="21335" y="0"/>
                </a:lnTo>
                <a:cubicBezTo>
                  <a:pt x="21482" y="0"/>
                  <a:pt x="21600" y="197"/>
                  <a:pt x="21600" y="440"/>
                </a:cubicBezTo>
                <a:close/>
              </a:path>
            </a:pathLst>
          </a:custGeom>
          <a:ln w="12700">
            <a:miter lim="400000"/>
          </a:ln>
        </p:spPr>
      </p:pic>
      <p:sp>
        <p:nvSpPr>
          <p:cNvPr id="309" name="Shape 8"/>
          <p:cNvSpPr/>
          <p:nvPr/>
        </p:nvSpPr>
        <p:spPr>
          <a:xfrm>
            <a:off x="5667375" y="1882725"/>
            <a:ext cx="5708650" cy="3435351"/>
          </a:xfrm>
          <a:prstGeom prst="roundRect">
            <a:avLst>
              <a:gd name="adj" fmla="val 2126"/>
            </a:avLst>
          </a:prstGeom>
          <a:ln w="6350">
            <a:solidFill>
              <a:srgbClr val="D5D0C4"/>
            </a:solidFill>
          </a:ln>
        </p:spPr>
        <p:txBody>
          <a:bodyPr lIns="45719" rIns="45719"/>
          <a:lstStyle/>
          <a:p>
            <a:pPr>
              <a:defRPr>
                <a:solidFill>
                  <a:srgbClr val="EEF0F4"/>
                </a:solidFill>
              </a:defRPr>
            </a:pPr>
          </a:p>
        </p:txBody>
      </p:sp>
      <p:sp>
        <p:nvSpPr>
          <p:cNvPr id="310" name="Text 9"/>
          <p:cNvSpPr txBox="1"/>
          <p:nvPr/>
        </p:nvSpPr>
        <p:spPr>
          <a:xfrm>
            <a:off x="5664200" y="5397450"/>
            <a:ext cx="588645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C6470"/>
                </a:solidFill>
              </a:defRPr>
            </a:lvl1pPr>
          </a:lstStyle>
          <a:p>
            <a:pPr/>
            <a:r>
              <a:t>Captura real · una llamada nativa al servidor axaml-inspector</a:t>
            </a:r>
          </a:p>
        </p:txBody>
      </p:sp>
      <p:sp>
        <p:nvSpPr>
          <p:cNvPr id="311" name="Text 10"/>
          <p:cNvSpPr txBox="1"/>
          <p:nvPr/>
        </p:nvSpPr>
        <p:spPr>
          <a:xfrm>
            <a:off x="812799" y="6238280"/>
            <a:ext cx="302782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C6470"/>
                </a:solidFill>
              </a:defRPr>
            </a:lvl1pPr>
          </a:lstStyle>
          <a:p>
            <a:pPr/>
            <a:r>
              <a:t>Extensibilidad de GitHub Copilot App</a:t>
            </a:r>
          </a:p>
        </p:txBody>
      </p:sp>
      <p:sp>
        <p:nvSpPr>
          <p:cNvPr id="312" name="Text 11"/>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rgbClr val="5C6470"/>
                </a:solidFill>
              </a:defRPr>
            </a:lvl1pPr>
          </a:lstStyle>
          <a:p>
            <a:pPr/>
            <a:r>
              <a:t>17</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6"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2"/>
                </a:solidFill>
              </a:defRPr>
            </a:lvl1pPr>
          </a:lstStyle>
          <a:p>
            <a:pPr/>
            <a:r>
              <a:t>PASO 5 · SERVIDORES LSP</a:t>
            </a:r>
          </a:p>
        </p:txBody>
      </p:sp>
      <p:sp>
        <p:nvSpPr>
          <p:cNvPr id="317" name="Text 1"/>
          <p:cNvSpPr txBox="1"/>
          <p:nvPr>
            <p:ph type="title"/>
          </p:nvPr>
        </p:nvSpPr>
        <p:spPr>
          <a:xfrm>
            <a:off x="812799" y="1127720"/>
            <a:ext cx="10883394" cy="472430"/>
          </a:xfrm>
          <a:prstGeom prst="rect">
            <a:avLst/>
          </a:prstGeom>
        </p:spPr>
        <p:txBody>
          <a:bodyPr/>
          <a:lstStyle>
            <a:lvl1pPr>
              <a:lnSpc>
                <a:spcPts val="3500"/>
              </a:lnSpc>
              <a:defRPr b="1"/>
            </a:lvl1pPr>
          </a:lstStyle>
          <a:p>
            <a:pPr/>
            <a:r>
              <a:t>El código, como lo entiende tu editor</a:t>
            </a:r>
          </a:p>
        </p:txBody>
      </p:sp>
      <p:sp>
        <p:nvSpPr>
          <p:cNvPr id="318" name="Text 2"/>
          <p:cNvSpPr txBox="1"/>
          <p:nvPr/>
        </p:nvSpPr>
        <p:spPr>
          <a:xfrm>
            <a:off x="812800" y="1879550"/>
            <a:ext cx="4224090" cy="8255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EEF0F4"/>
                </a:solidFill>
              </a:defRPr>
            </a:lvl1pPr>
          </a:lstStyle>
          <a:p>
            <a:pPr/>
            <a:r>
              <a:t>Un servidor de lenguaje responde con precisión de compilador: dónde se define un símbolo, quién lo usa y cómo renombrarlo.</a:t>
            </a:r>
          </a:p>
        </p:txBody>
      </p:sp>
      <p:sp>
        <p:nvSpPr>
          <p:cNvPr id="319" name="Text 3"/>
          <p:cNvSpPr txBox="1"/>
          <p:nvPr/>
        </p:nvSpPr>
        <p:spPr>
          <a:xfrm>
            <a:off x="812800" y="2832050"/>
            <a:ext cx="4224090" cy="8255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Se declara en .github/lsp.json para el equipo o en ~/.copilot/lsp-config.json para ti. Compruébalo con /lsp.</a:t>
            </a:r>
          </a:p>
        </p:txBody>
      </p:sp>
      <p:sp>
        <p:nvSpPr>
          <p:cNvPr id="320" name="Text 4"/>
          <p:cNvSpPr txBox="1"/>
          <p:nvPr/>
        </p:nvSpPr>
        <p:spPr>
          <a:xfrm>
            <a:off x="812800" y="3784550"/>
            <a:ext cx="4224090" cy="8255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MCP añade herramientas nuevas. LSP mejora las que el agente ya usa para leer y cambiar código.</a:t>
            </a:r>
          </a:p>
        </p:txBody>
      </p:sp>
      <p:sp>
        <p:nvSpPr>
          <p:cNvPr id="321" name="Shape 5"/>
          <p:cNvSpPr/>
          <p:nvPr/>
        </p:nvSpPr>
        <p:spPr>
          <a:xfrm>
            <a:off x="5221832" y="1882725"/>
            <a:ext cx="6154193" cy="3242270"/>
          </a:xfrm>
          <a:prstGeom prst="roundRect">
            <a:avLst>
              <a:gd name="adj" fmla="val 3036"/>
            </a:avLst>
          </a:prstGeom>
          <a:solidFill>
            <a:srgbClr val="1A2133"/>
          </a:solidFill>
          <a:ln w="6350">
            <a:solidFill>
              <a:srgbClr val="2B3550"/>
            </a:solidFill>
          </a:ln>
        </p:spPr>
        <p:txBody>
          <a:bodyPr lIns="45719" rIns="45719"/>
          <a:lstStyle/>
          <a:p>
            <a:pPr>
              <a:defRPr>
                <a:solidFill>
                  <a:srgbClr val="EEF0F4"/>
                </a:solidFill>
              </a:defRPr>
            </a:pPr>
          </a:p>
        </p:txBody>
      </p:sp>
      <p:sp>
        <p:nvSpPr>
          <p:cNvPr id="322" name="Text 6"/>
          <p:cNvSpPr txBox="1"/>
          <p:nvPr/>
        </p:nvSpPr>
        <p:spPr>
          <a:xfrm>
            <a:off x="5428207" y="2089100"/>
            <a:ext cx="5913686"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latin typeface="JetBrains Mono"/>
                <a:ea typeface="JetBrains Mono"/>
                <a:cs typeface="JetBrains Mono"/>
                <a:sym typeface="JetBrains Mono"/>
              </a:defRPr>
            </a:lvl1pPr>
          </a:lstStyle>
          <a:p>
            <a:pPr/>
            <a:r>
              <a:t>.github/lsp.json</a:t>
            </a:r>
          </a:p>
        </p:txBody>
      </p:sp>
      <p:sp>
        <p:nvSpPr>
          <p:cNvPr id="323" name="Text 7"/>
          <p:cNvSpPr txBox="1"/>
          <p:nvPr/>
        </p:nvSpPr>
        <p:spPr>
          <a:xfrm>
            <a:off x="5428207" y="2404021"/>
            <a:ext cx="5913686" cy="25400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800"/>
              </a:lnSpc>
              <a:defRPr sz="1200">
                <a:solidFill>
                  <a:srgbClr val="D7DEEA"/>
                </a:solidFill>
                <a:latin typeface="JetBrains Mono"/>
                <a:ea typeface="JetBrains Mono"/>
                <a:cs typeface="JetBrains Mono"/>
                <a:sym typeface="JetBrains Mono"/>
              </a:defRPr>
            </a:pPr>
            <a:r>
              <a: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"lspServers":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a:t>
            </a:r>
            <a:r>
              <a:rPr>
                <a:solidFill>
                  <a:schemeClr val="accent1"/>
                </a:solidFill>
              </a:rPr>
              <a:t>"csharp"</a:t>
            </a:r>
            <a:r>
              <a:t>: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"command": "dotnet",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"args": ["dnx", "roslyn-language-server",</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"--yes", "--prerelease",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"--stdio", "--autoLoadProjects"],</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"fileExtensions": { </a:t>
            </a:r>
            <a:r>
              <a:rPr>
                <a:solidFill>
                  <a:schemeClr val="accent1"/>
                </a:solidFill>
              </a:rPr>
              <a:t>".cs"</a:t>
            </a:r>
            <a:r>
              <a:t>: "csharp"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a:t>
            </a:r>
          </a:p>
        </p:txBody>
      </p:sp>
      <p:sp>
        <p:nvSpPr>
          <p:cNvPr id="324" name="Text 8"/>
          <p:cNvSpPr txBox="1"/>
          <p:nvPr/>
        </p:nvSpPr>
        <p:spPr>
          <a:xfrm>
            <a:off x="812799" y="6238280"/>
            <a:ext cx="5197318"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defRPr>
            </a:lvl1pPr>
          </a:lstStyle>
          <a:p>
            <a:pPr/>
            <a:r>
              <a:t>Fuente: GitHub Docs, Adding LSP servers for GitHub Copilot CLI</a:t>
            </a:r>
          </a:p>
        </p:txBody>
      </p:sp>
      <p:sp>
        <p:nvSpPr>
          <p:cNvPr id="325" name="Text 9"/>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chemeClr val="accent6"/>
                </a:solidFill>
              </a:defRPr>
            </a:lvl1pPr>
          </a:lstStyle>
          <a:p>
            <a:pPr/>
            <a:r>
              <a:t>18</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1EA"/>
        </a:solidFill>
      </p:bgPr>
    </p:bg>
    <p:spTree>
      <p:nvGrpSpPr>
        <p:cNvPr id="1" name=""/>
        <p:cNvGrpSpPr/>
        <p:nvPr/>
      </p:nvGrpSpPr>
      <p:grpSpPr>
        <a:xfrm>
          <a:off x="0" y="0"/>
          <a:ext cx="0" cy="0"/>
          <a:chOff x="0" y="0"/>
          <a:chExt cx="0" cy="0"/>
        </a:xfrm>
      </p:grpSpPr>
      <p:grpSp>
        <p:nvGrpSpPr>
          <p:cNvPr id="331" name="Text 0"/>
          <p:cNvGrpSpPr/>
          <p:nvPr/>
        </p:nvGrpSpPr>
        <p:grpSpPr>
          <a:xfrm>
            <a:off x="812800" y="812800"/>
            <a:ext cx="887164" cy="314920"/>
            <a:chOff x="0" y="0"/>
            <a:chExt cx="887163" cy="314919"/>
          </a:xfrm>
        </p:grpSpPr>
        <p:sp>
          <p:nvSpPr>
            <p:cNvPr id="329" name="Rounded Rectangle"/>
            <p:cNvSpPr/>
            <p:nvPr/>
          </p:nvSpPr>
          <p:spPr>
            <a:xfrm>
              <a:off x="0" y="0"/>
              <a:ext cx="887164" cy="314920"/>
            </a:xfrm>
            <a:prstGeom prst="roundRect">
              <a:avLst>
                <a:gd name="adj" fmla="val 48393"/>
              </a:avLst>
            </a:prstGeom>
            <a:solidFill>
              <a:schemeClr val="accent1"/>
            </a:solidFill>
            <a:ln w="12700" cap="flat">
              <a:noFill/>
              <a:miter lim="400000"/>
            </a:ln>
            <a:effectLst/>
          </p:spPr>
          <p:txBody>
            <a:bodyPr wrap="square" lIns="45719" tIns="45719" rIns="45719" bIns="45719" numCol="1" anchor="ctr">
              <a:noAutofit/>
            </a:bodyPr>
            <a:lstStyle/>
            <a:p>
              <a:pPr algn="ctr">
                <a:lnSpc>
                  <a:spcPts val="1600"/>
                </a:lnSpc>
                <a:defRPr sz="1200">
                  <a:solidFill>
                    <a:srgbClr val="EEF0F4"/>
                  </a:solidFill>
                </a:defRPr>
              </a:pPr>
            </a:p>
          </p:txBody>
        </p:sp>
        <p:sp>
          <p:nvSpPr>
            <p:cNvPr id="330" name="DEMO 5"/>
            <p:cNvSpPr txBox="1"/>
            <p:nvPr/>
          </p:nvSpPr>
          <p:spPr>
            <a:xfrm>
              <a:off x="106981" y="44636"/>
              <a:ext cx="673201" cy="225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normAutofit fontScale="100000" lnSpcReduction="0"/>
            </a:bodyPr>
            <a:lstStyle>
              <a:lvl1pPr algn="ctr">
                <a:lnSpc>
                  <a:spcPts val="1600"/>
                </a:lnSpc>
                <a:defRPr b="1" spc="100" sz="1200">
                  <a:solidFill>
                    <a:srgbClr val="161A26"/>
                  </a:solidFill>
                </a:defRPr>
              </a:lvl1pPr>
            </a:lstStyle>
            <a:p>
              <a:pPr/>
              <a:r>
                <a:t>DEMO 5</a:t>
              </a:r>
            </a:p>
          </p:txBody>
        </p:sp>
      </p:grpSp>
      <p:sp>
        <p:nvSpPr>
          <p:cNvPr id="332" name="Text 1"/>
          <p:cNvSpPr txBox="1"/>
          <p:nvPr>
            <p:ph type="title"/>
          </p:nvPr>
        </p:nvSpPr>
        <p:spPr>
          <a:xfrm>
            <a:off x="812799" y="1229320"/>
            <a:ext cx="10883394" cy="472430"/>
          </a:xfrm>
          <a:prstGeom prst="rect">
            <a:avLst/>
          </a:prstGeom>
        </p:spPr>
        <p:txBody>
          <a:bodyPr/>
          <a:lstStyle>
            <a:lvl1pPr>
              <a:lnSpc>
                <a:spcPts val="3500"/>
              </a:lnSpc>
              <a:defRPr b="1">
                <a:solidFill>
                  <a:srgbClr val="161A26"/>
                </a:solidFill>
              </a:defRPr>
            </a:lvl1pPr>
          </a:lstStyle>
          <a:p>
            <a:pPr/>
            <a:r>
              <a:t>Referencias reales, no coincidencias de texto</a:t>
            </a:r>
          </a:p>
        </p:txBody>
      </p:sp>
      <p:sp>
        <p:nvSpPr>
          <p:cNvPr id="333" name="Text 2"/>
          <p:cNvSpPr txBox="1"/>
          <p:nvPr/>
        </p:nvSpPr>
        <p:spPr>
          <a:xfrm>
            <a:off x="855712" y="1981149"/>
            <a:ext cx="4288017" cy="2363393"/>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marL="211088" indent="-211088">
              <a:lnSpc>
                <a:spcPts val="2200"/>
              </a:lnSpc>
              <a:buSzPct val="100000"/>
              <a:buAutoNum type="arabicPeriod" startAt="1"/>
              <a:defRPr sz="1500">
                <a:solidFill>
                  <a:srgbClr val="161A26"/>
                </a:solidFill>
              </a:defRPr>
            </a:pPr>
            <a:r>
              <a:t>Abre el proyecto 05-lsp y comprueba el servidor con /lsp test csharp.</a:t>
            </a:r>
            <a:endParaRPr>
              <a:solidFill>
                <a:srgbClr val="EEF0F4"/>
              </a:solidFill>
            </a:endParaRPr>
          </a:p>
          <a:p>
            <a:pPr marL="211088" indent="-211088">
              <a:lnSpc>
                <a:spcPts val="2200"/>
              </a:lnSpc>
              <a:buSzPct val="100000"/>
              <a:buAutoNum type="arabicPeriod" startAt="1"/>
              <a:defRPr sz="1500">
                <a:solidFill>
                  <a:srgbClr val="161A26"/>
                </a:solidFill>
              </a:defRPr>
            </a:pPr>
            <a:r>
              <a:t>Haz la pregunta.</a:t>
            </a:r>
            <a:endParaRPr>
              <a:solidFill>
                <a:srgbClr val="EEF0F4"/>
              </a:solidFill>
            </a:endParaRPr>
          </a:p>
          <a:p>
            <a:pPr marL="211088" indent="-211088">
              <a:lnSpc>
                <a:spcPts val="2200"/>
              </a:lnSpc>
              <a:buSzPct val="100000"/>
              <a:buAutoNum type="arabicPeriod" startAt="1"/>
              <a:defRPr sz="1500">
                <a:solidFill>
                  <a:srgbClr val="161A26"/>
                </a:solidFill>
              </a:defRPr>
            </a:pPr>
            <a:r>
              <a:t>Compara con una búsqueda de texto de la misma palabra.</a:t>
            </a:r>
          </a:p>
        </p:txBody>
      </p:sp>
      <p:sp>
        <p:nvSpPr>
          <p:cNvPr id="334" name="Shape 3"/>
          <p:cNvSpPr/>
          <p:nvPr/>
        </p:nvSpPr>
        <p:spPr>
          <a:xfrm>
            <a:off x="5329782" y="1981150"/>
            <a:ext cx="6049418" cy="2337992"/>
          </a:xfrm>
          <a:prstGeom prst="roundRect">
            <a:avLst>
              <a:gd name="adj" fmla="val 4346"/>
            </a:avLst>
          </a:prstGeom>
          <a:solidFill>
            <a:srgbClr val="161A26"/>
          </a:solidFill>
          <a:ln w="12700">
            <a:miter lim="400000"/>
          </a:ln>
        </p:spPr>
        <p:txBody>
          <a:bodyPr lIns="45719" rIns="45719"/>
          <a:lstStyle/>
          <a:p>
            <a:pPr>
              <a:defRPr>
                <a:solidFill>
                  <a:srgbClr val="EEF0F4"/>
                </a:solidFill>
              </a:defRPr>
            </a:pPr>
          </a:p>
        </p:txBody>
      </p:sp>
      <p:sp>
        <p:nvSpPr>
          <p:cNvPr id="335" name="Text 4"/>
          <p:cNvSpPr txBox="1"/>
          <p:nvPr/>
        </p:nvSpPr>
        <p:spPr>
          <a:xfrm>
            <a:off x="5583782" y="2235150"/>
            <a:ext cx="570766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1"/>
                </a:solidFill>
              </a:defRPr>
            </a:lvl1pPr>
          </a:lstStyle>
          <a:p>
            <a:pPr/>
            <a:r>
              <a:t>PROMPT</a:t>
            </a:r>
          </a:p>
        </p:txBody>
      </p:sp>
      <p:sp>
        <p:nvSpPr>
          <p:cNvPr id="336" name="Text 5"/>
          <p:cNvSpPr txBox="1"/>
          <p:nvPr/>
        </p:nvSpPr>
        <p:spPr>
          <a:xfrm>
            <a:off x="5583782" y="2550071"/>
            <a:ext cx="5707660"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200">
                <a:solidFill>
                  <a:srgbClr val="EEF0F4"/>
                </a:solidFill>
                <a:latin typeface="JetBrains Mono"/>
                <a:ea typeface="JetBrains Mono"/>
                <a:cs typeface="JetBrains Mono"/>
                <a:sym typeface="JetBrains Mono"/>
              </a:defRPr>
            </a:lvl1pPr>
          </a:lstStyle>
          <a:p>
            <a:pPr/>
            <a:r>
              <a:t>Where is UseCopilotAvalonia defined and who calls it? Use the language server, not a text search.</a:t>
            </a:r>
          </a:p>
        </p:txBody>
      </p:sp>
      <p:sp>
        <p:nvSpPr>
          <p:cNvPr id="337" name="Text 6"/>
          <p:cNvSpPr txBox="1"/>
          <p:nvPr/>
        </p:nvSpPr>
        <p:spPr>
          <a:xfrm>
            <a:off x="5583782" y="3216821"/>
            <a:ext cx="570766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1"/>
                </a:solidFill>
              </a:defRPr>
            </a:lvl1pPr>
          </a:lstStyle>
          <a:p>
            <a:pPr/>
            <a:r>
              <a:t>QUÉ DEBERÍAS VER</a:t>
            </a:r>
          </a:p>
        </p:txBody>
      </p:sp>
      <p:sp>
        <p:nvSpPr>
          <p:cNvPr id="338" name="Text 7"/>
          <p:cNvSpPr txBox="1"/>
          <p:nvPr/>
        </p:nvSpPr>
        <p:spPr>
          <a:xfrm>
            <a:off x="5583782" y="3531741"/>
            <a:ext cx="5707660"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EEF0F4"/>
                </a:solidFill>
              </a:defRPr>
            </a:lvl1pPr>
          </a:lstStyle>
          <a:p>
            <a:pPr/>
            <a:r>
              <a:t>Una definición y una llamada. Una búsqueda de texto devuelve 13 líneas en 7 ficheros, entre docs y comentarios.</a:t>
            </a:r>
          </a:p>
        </p:txBody>
      </p:sp>
      <p:sp>
        <p:nvSpPr>
          <p:cNvPr id="339" name="Text 8"/>
          <p:cNvSpPr txBox="1"/>
          <p:nvPr/>
        </p:nvSpPr>
        <p:spPr>
          <a:xfrm>
            <a:off x="812799" y="4623941"/>
            <a:ext cx="10883394"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4A5263"/>
                </a:solidFill>
                <a:latin typeface="JetBrains Mono"/>
                <a:ea typeface="JetBrains Mono"/>
                <a:cs typeface="JetBrains Mono"/>
                <a:sym typeface="JetBrains Mono"/>
              </a:defRPr>
            </a:lvl1pPr>
          </a:lstStyle>
          <a:p>
            <a:pPr/>
            <a:r>
              <a:t>Proyecto: 05-lsp · requiere el SDK de .NET 10</a:t>
            </a:r>
          </a:p>
        </p:txBody>
      </p:sp>
      <p:sp>
        <p:nvSpPr>
          <p:cNvPr id="340" name="Text 9"/>
          <p:cNvSpPr txBox="1"/>
          <p:nvPr/>
        </p:nvSpPr>
        <p:spPr>
          <a:xfrm>
            <a:off x="812799" y="6238280"/>
            <a:ext cx="302782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C6470"/>
                </a:solidFill>
              </a:defRPr>
            </a:lvl1pPr>
          </a:lstStyle>
          <a:p>
            <a:pPr/>
            <a:r>
              <a:t>Extensibilidad de GitHub Copilot App</a:t>
            </a:r>
          </a:p>
        </p:txBody>
      </p:sp>
      <p:sp>
        <p:nvSpPr>
          <p:cNvPr id="341" name="Text 10"/>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rgbClr val="5C6470"/>
                </a:solidFill>
              </a:defRPr>
            </a:lvl1pPr>
          </a:lstStyle>
          <a:p>
            <a:pPr/>
            <a:r>
              <a:t>19</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5"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2"/>
                </a:solidFill>
              </a:defRPr>
            </a:lvl1pPr>
          </a:lstStyle>
          <a:p>
            <a:pPr/>
            <a:r>
              <a:t>PASO 6 · HOOKS</a:t>
            </a:r>
          </a:p>
        </p:txBody>
      </p:sp>
      <p:sp>
        <p:nvSpPr>
          <p:cNvPr id="346" name="Text 1"/>
          <p:cNvSpPr txBox="1"/>
          <p:nvPr>
            <p:ph type="title"/>
          </p:nvPr>
        </p:nvSpPr>
        <p:spPr>
          <a:xfrm>
            <a:off x="812799" y="1127720"/>
            <a:ext cx="10883394" cy="472430"/>
          </a:xfrm>
          <a:prstGeom prst="rect">
            <a:avLst/>
          </a:prstGeom>
        </p:spPr>
        <p:txBody>
          <a:bodyPr/>
          <a:lstStyle>
            <a:lvl1pPr>
              <a:lnSpc>
                <a:spcPts val="3500"/>
              </a:lnSpc>
              <a:defRPr b="1"/>
            </a:lvl1pPr>
          </a:lstStyle>
          <a:p>
            <a:pPr/>
            <a:r>
              <a:t>Guardarraíles que no dependen del modelo</a:t>
            </a:r>
          </a:p>
        </p:txBody>
      </p:sp>
      <p:sp>
        <p:nvSpPr>
          <p:cNvPr id="347" name="Text 2"/>
          <p:cNvSpPr txBox="1"/>
          <p:nvPr/>
        </p:nvSpPr>
        <p:spPr>
          <a:xfrm>
            <a:off x="812800" y="1828750"/>
            <a:ext cx="4224090" cy="8255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EEF0F4"/>
                </a:solidFill>
              </a:defRPr>
            </a:lvl1pPr>
          </a:lstStyle>
          <a:p>
            <a:pPr/>
            <a:r>
              <a:t>Un hook es un comando que Copilot ejecuta en un punto de la sesión: al empezar, antes o después de cada herramienta, al terminar.</a:t>
            </a:r>
          </a:p>
        </p:txBody>
      </p:sp>
      <p:sp>
        <p:nvSpPr>
          <p:cNvPr id="348" name="Text 3"/>
          <p:cNvSpPr txBox="1"/>
          <p:nvPr/>
        </p:nvSpPr>
        <p:spPr>
          <a:xfrm>
            <a:off x="812800" y="2781250"/>
            <a:ext cx="4224090" cy="8255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preToolUse recibe la herramienta y sus argumentos por stdin. Si responde deny, la herramienta no se ejecuta.</a:t>
            </a:r>
          </a:p>
        </p:txBody>
      </p:sp>
      <p:sp>
        <p:nvSpPr>
          <p:cNvPr id="349" name="Text 4"/>
          <p:cNvSpPr txBox="1"/>
          <p:nvPr/>
        </p:nvSpPr>
        <p:spPr>
          <a:xfrm>
            <a:off x="812800" y="3733750"/>
            <a:ext cx="4224090" cy="8255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Las reglas son una lista de denegación: force push, git reset --hard, rm -rf y escrituras en .github/workflows o LICENSE.</a:t>
            </a:r>
          </a:p>
        </p:txBody>
      </p:sp>
      <p:sp>
        <p:nvSpPr>
          <p:cNvPr id="350" name="Text 5"/>
          <p:cNvSpPr txBox="1"/>
          <p:nvPr/>
        </p:nvSpPr>
        <p:spPr>
          <a:xfrm>
            <a:off x="812800" y="4686250"/>
            <a:ext cx="4224090"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EEF0F4"/>
                </a:solidFill>
              </a:defRPr>
            </a:lvl1pPr>
          </a:lstStyle>
          <a:p>
            <a:pPr/>
            <a:r>
              <a:t>No se le pide al modelo que cumpla: lo que está en la lista se detiene. No es una sandbox.</a:t>
            </a:r>
          </a:p>
        </p:txBody>
      </p:sp>
      <p:sp>
        <p:nvSpPr>
          <p:cNvPr id="351" name="Shape 6"/>
          <p:cNvSpPr/>
          <p:nvPr/>
        </p:nvSpPr>
        <p:spPr>
          <a:xfrm>
            <a:off x="5221832" y="1831925"/>
            <a:ext cx="6154193" cy="3658792"/>
          </a:xfrm>
          <a:prstGeom prst="roundRect">
            <a:avLst>
              <a:gd name="adj" fmla="val 2690"/>
            </a:avLst>
          </a:prstGeom>
          <a:solidFill>
            <a:srgbClr val="1A2133"/>
          </a:solidFill>
          <a:ln w="6350">
            <a:solidFill>
              <a:srgbClr val="2B3550"/>
            </a:solidFill>
          </a:ln>
        </p:spPr>
        <p:txBody>
          <a:bodyPr lIns="45719" rIns="45719"/>
          <a:lstStyle/>
          <a:p>
            <a:pPr>
              <a:defRPr>
                <a:solidFill>
                  <a:srgbClr val="EEF0F4"/>
                </a:solidFill>
              </a:defRPr>
            </a:pPr>
          </a:p>
        </p:txBody>
      </p:sp>
      <p:sp>
        <p:nvSpPr>
          <p:cNvPr id="352" name="Text 7"/>
          <p:cNvSpPr txBox="1"/>
          <p:nvPr/>
        </p:nvSpPr>
        <p:spPr>
          <a:xfrm>
            <a:off x="5428207" y="2038300"/>
            <a:ext cx="5913686"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latin typeface="JetBrains Mono"/>
                <a:ea typeface="JetBrains Mono"/>
                <a:cs typeface="JetBrains Mono"/>
                <a:sym typeface="JetBrains Mono"/>
              </a:defRPr>
            </a:lvl1pPr>
          </a:lstStyle>
          <a:p>
            <a:pPr/>
            <a:r>
              <a:t>.github/hooks/guardrails.json</a:t>
            </a:r>
          </a:p>
        </p:txBody>
      </p:sp>
      <p:sp>
        <p:nvSpPr>
          <p:cNvPr id="353" name="Text 8"/>
          <p:cNvSpPr txBox="1"/>
          <p:nvPr/>
        </p:nvSpPr>
        <p:spPr>
          <a:xfrm>
            <a:off x="5428207" y="2353221"/>
            <a:ext cx="5913686" cy="939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800"/>
              </a:lnSpc>
              <a:defRPr sz="1200">
                <a:solidFill>
                  <a:srgbClr val="D7DEEA"/>
                </a:solidFill>
                <a:latin typeface="JetBrains Mono"/>
                <a:ea typeface="JetBrains Mono"/>
                <a:cs typeface="JetBrains Mono"/>
                <a:sym typeface="JetBrains Mono"/>
              </a:defRPr>
            </a:pPr>
            <a:r>
              <a:t>{ "version": 1, "hooks": { </a:t>
            </a:r>
            <a:r>
              <a:rPr>
                <a:solidFill>
                  <a:schemeClr val="accent1"/>
                </a:solidFill>
              </a:rPr>
              <a:t>"preToolUse"</a:t>
            </a:r>
            <a:r>
              <a:t>: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"type": "command", "timeoutSec": 10,</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"bash": "node .github/hooks/guard.mjs",</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"powershell": "node .github/hooks/guard.mjs" }] } }</a:t>
            </a:r>
          </a:p>
        </p:txBody>
      </p:sp>
      <p:sp>
        <p:nvSpPr>
          <p:cNvPr id="354" name="Text 9"/>
          <p:cNvSpPr txBox="1"/>
          <p:nvPr/>
        </p:nvSpPr>
        <p:spPr>
          <a:xfrm>
            <a:off x="5428207" y="3369221"/>
            <a:ext cx="5913686"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latin typeface="JetBrains Mono"/>
                <a:ea typeface="JetBrains Mono"/>
                <a:cs typeface="JetBrains Mono"/>
                <a:sym typeface="JetBrains Mono"/>
              </a:defRPr>
            </a:lvl1pPr>
          </a:lstStyle>
          <a:p>
            <a:pPr/>
            <a:r>
              <a:t>.github/hooks/guard.mjs</a:t>
            </a:r>
          </a:p>
        </p:txBody>
      </p:sp>
      <p:sp>
        <p:nvSpPr>
          <p:cNvPr id="355" name="Text 10"/>
          <p:cNvSpPr txBox="1"/>
          <p:nvPr/>
        </p:nvSpPr>
        <p:spPr>
          <a:xfrm>
            <a:off x="5428207" y="3684141"/>
            <a:ext cx="5913686" cy="16256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800"/>
              </a:lnSpc>
              <a:defRPr sz="1200">
                <a:solidFill>
                  <a:schemeClr val="accent2"/>
                </a:solidFill>
                <a:latin typeface="JetBrains Mono"/>
                <a:ea typeface="JetBrains Mono"/>
                <a:cs typeface="JetBrains Mono"/>
                <a:sym typeface="JetBrains Mono"/>
              </a:defRPr>
            </a:pPr>
            <a:r>
              <a:t>const</a:t>
            </a:r>
            <a:r>
              <a:rPr>
                <a:solidFill>
                  <a:srgbClr val="D7DEEA"/>
                </a:solidFill>
              </a:rPr>
              <a:t> input = JSON.parse(</a:t>
            </a:r>
            <a:r>
              <a:t>await</a:t>
            </a:r>
            <a:r>
              <a:rPr>
                <a:solidFill>
                  <a:srgbClr val="D7DEEA"/>
                </a:solidFill>
              </a:rPr>
              <a:t> readStdin());</a:t>
            </a:r>
            <a:endParaRPr>
              <a:solidFill>
                <a:srgbClr val="EEF0F4"/>
              </a:solidFill>
            </a:endParaRPr>
          </a:p>
          <a:p>
            <a:pPr>
              <a:lnSpc>
                <a:spcPts val="1800"/>
              </a:lnSpc>
              <a:defRPr sz="1200">
                <a:solidFill>
                  <a:schemeClr val="accent2"/>
                </a:solidFill>
                <a:latin typeface="JetBrains Mono"/>
                <a:ea typeface="JetBrains Mono"/>
                <a:cs typeface="JetBrains Mono"/>
                <a:sym typeface="JetBrains Mono"/>
              </a:defRPr>
            </a:pPr>
            <a:r>
              <a:t>const</a:t>
            </a:r>
            <a:r>
              <a:rPr>
                <a:solidFill>
                  <a:srgbClr val="D7DEEA"/>
                </a:solidFill>
              </a:rPr>
              <a:t> args = parseArgs(input.toolArgs);</a:t>
            </a:r>
            <a:endParaRPr>
              <a:solidFill>
                <a:srgbClr val="EEF0F4"/>
              </a:solidFill>
            </a:endParaRPr>
          </a:p>
          <a:p>
            <a:pPr>
              <a:lnSpc>
                <a:spcPts val="1800"/>
              </a:lnSpc>
              <a:defRPr sz="1200">
                <a:solidFill>
                  <a:schemeClr val="accent2"/>
                </a:solidFill>
                <a:latin typeface="JetBrains Mono"/>
                <a:ea typeface="JetBrains Mono"/>
                <a:cs typeface="JetBrains Mono"/>
                <a:sym typeface="JetBrains Mono"/>
              </a:defRPr>
            </a:pPr>
            <a:r>
              <a:t>const</a:t>
            </a:r>
            <a:r>
              <a:rPr>
                <a:solidFill>
                  <a:srgbClr val="D7DEEA"/>
                </a:solidFill>
              </a:rPr>
              <a:t> reason = decide(input.toolName, args);</a:t>
            </a:r>
            <a:endParaRPr>
              <a:solidFill>
                <a:srgbClr val="EEF0F4"/>
              </a:solidFill>
            </a:endParaRPr>
          </a:p>
          <a:p>
            <a:pPr>
              <a:lnSpc>
                <a:spcPts val="1800"/>
              </a:lnSpc>
              <a:defRPr sz="1200">
                <a:solidFill>
                  <a:schemeClr val="accent2"/>
                </a:solidFill>
                <a:latin typeface="JetBrains Mono"/>
                <a:ea typeface="JetBrains Mono"/>
                <a:cs typeface="JetBrains Mono"/>
                <a:sym typeface="JetBrains Mono"/>
              </a:defRPr>
            </a:pPr>
            <a:r>
              <a:t>if</a:t>
            </a:r>
            <a:r>
              <a:rPr>
                <a:solidFill>
                  <a:srgbClr val="D7DEEA"/>
                </a:solidFill>
              </a:rPr>
              <a:t> (reason) process.stdout.write(JSON.stringify({</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permissionDecision: </a:t>
            </a:r>
            <a:r>
              <a:rPr>
                <a:solidFill>
                  <a:schemeClr val="accent1"/>
                </a:solidFill>
              </a:rPr>
              <a:t>"deny"</a:t>
            </a:r>
            <a:r>
              <a: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permissionDecisionReason: reason }));</a:t>
            </a:r>
            <a:endParaRPr>
              <a:solidFill>
                <a:srgbClr val="EEF0F4"/>
              </a:solidFill>
            </a:endParaRPr>
          </a:p>
          <a:p>
            <a:pPr>
              <a:lnSpc>
                <a:spcPts val="1800"/>
              </a:lnSpc>
              <a:defRPr sz="1200">
                <a:solidFill>
                  <a:schemeClr val="accent6"/>
                </a:solidFill>
                <a:latin typeface="JetBrains Mono"/>
                <a:ea typeface="JetBrains Mono"/>
                <a:cs typeface="JetBrains Mono"/>
                <a:sym typeface="JetBrains Mono"/>
              </a:defRPr>
            </a:pPr>
            <a:r>
              <a:t>// No output: the tool goes ahead.</a:t>
            </a:r>
          </a:p>
        </p:txBody>
      </p:sp>
      <p:sp>
        <p:nvSpPr>
          <p:cNvPr id="356" name="Text 11"/>
          <p:cNvSpPr txBox="1"/>
          <p:nvPr/>
        </p:nvSpPr>
        <p:spPr>
          <a:xfrm>
            <a:off x="812799" y="6238280"/>
            <a:ext cx="2987935"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defRPr>
            </a:lvl1pPr>
          </a:lstStyle>
          <a:p>
            <a:pPr/>
            <a:r>
              <a:t>Extracto de .github/hooks/guard.mjs</a:t>
            </a:r>
          </a:p>
        </p:txBody>
      </p:sp>
      <p:sp>
        <p:nvSpPr>
          <p:cNvPr id="357" name="Text 12"/>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chemeClr val="accent6"/>
                </a:solidFill>
              </a:defRPr>
            </a:lvl1pPr>
          </a:lstStyle>
          <a:p>
            <a:pPr/>
            <a:r>
              <a:t>20</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1EA"/>
        </a:solidFill>
      </p:bgPr>
    </p:bg>
    <p:spTree>
      <p:nvGrpSpPr>
        <p:cNvPr id="1" name=""/>
        <p:cNvGrpSpPr/>
        <p:nvPr/>
      </p:nvGrpSpPr>
      <p:grpSpPr>
        <a:xfrm>
          <a:off x="0" y="0"/>
          <a:ext cx="0" cy="0"/>
          <a:chOff x="0" y="0"/>
          <a:chExt cx="0" cy="0"/>
        </a:xfrm>
      </p:grpSpPr>
      <p:grpSp>
        <p:nvGrpSpPr>
          <p:cNvPr id="363" name="Text 0"/>
          <p:cNvGrpSpPr/>
          <p:nvPr/>
        </p:nvGrpSpPr>
        <p:grpSpPr>
          <a:xfrm>
            <a:off x="812800" y="812800"/>
            <a:ext cx="887164" cy="314920"/>
            <a:chOff x="0" y="0"/>
            <a:chExt cx="887163" cy="314919"/>
          </a:xfrm>
        </p:grpSpPr>
        <p:sp>
          <p:nvSpPr>
            <p:cNvPr id="361" name="Rounded Rectangle"/>
            <p:cNvSpPr/>
            <p:nvPr/>
          </p:nvSpPr>
          <p:spPr>
            <a:xfrm>
              <a:off x="0" y="0"/>
              <a:ext cx="887164" cy="314920"/>
            </a:xfrm>
            <a:prstGeom prst="roundRect">
              <a:avLst>
                <a:gd name="adj" fmla="val 48393"/>
              </a:avLst>
            </a:prstGeom>
            <a:solidFill>
              <a:schemeClr val="accent1"/>
            </a:solidFill>
            <a:ln w="12700" cap="flat">
              <a:noFill/>
              <a:miter lim="400000"/>
            </a:ln>
            <a:effectLst/>
          </p:spPr>
          <p:txBody>
            <a:bodyPr wrap="square" lIns="45719" tIns="45719" rIns="45719" bIns="45719" numCol="1" anchor="ctr">
              <a:noAutofit/>
            </a:bodyPr>
            <a:lstStyle/>
            <a:p>
              <a:pPr algn="ctr">
                <a:lnSpc>
                  <a:spcPts val="1600"/>
                </a:lnSpc>
                <a:defRPr sz="1200">
                  <a:solidFill>
                    <a:srgbClr val="EEF0F4"/>
                  </a:solidFill>
                </a:defRPr>
              </a:pPr>
            </a:p>
          </p:txBody>
        </p:sp>
        <p:sp>
          <p:nvSpPr>
            <p:cNvPr id="362" name="DEMO 6"/>
            <p:cNvSpPr txBox="1"/>
            <p:nvPr/>
          </p:nvSpPr>
          <p:spPr>
            <a:xfrm>
              <a:off x="106981" y="44636"/>
              <a:ext cx="673201" cy="225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normAutofit fontScale="100000" lnSpcReduction="0"/>
            </a:bodyPr>
            <a:lstStyle>
              <a:lvl1pPr algn="ctr">
                <a:lnSpc>
                  <a:spcPts val="1600"/>
                </a:lnSpc>
                <a:defRPr b="1" spc="100" sz="1200">
                  <a:solidFill>
                    <a:srgbClr val="161A26"/>
                  </a:solidFill>
                </a:defRPr>
              </a:lvl1pPr>
            </a:lstStyle>
            <a:p>
              <a:pPr/>
              <a:r>
                <a:t>DEMO 6</a:t>
              </a:r>
            </a:p>
          </p:txBody>
        </p:sp>
      </p:grpSp>
      <p:sp>
        <p:nvSpPr>
          <p:cNvPr id="364" name="Text 1"/>
          <p:cNvSpPr txBox="1"/>
          <p:nvPr>
            <p:ph type="title"/>
          </p:nvPr>
        </p:nvSpPr>
        <p:spPr>
          <a:xfrm>
            <a:off x="812799" y="1229320"/>
            <a:ext cx="10883394" cy="472430"/>
          </a:xfrm>
          <a:prstGeom prst="rect">
            <a:avLst/>
          </a:prstGeom>
        </p:spPr>
        <p:txBody>
          <a:bodyPr/>
          <a:lstStyle>
            <a:lvl1pPr>
              <a:lnSpc>
                <a:spcPts val="3500"/>
              </a:lnSpc>
              <a:defRPr b="1">
                <a:solidFill>
                  <a:srgbClr val="161A26"/>
                </a:solidFill>
              </a:defRPr>
            </a:lvl1pPr>
          </a:lstStyle>
          <a:p>
            <a:pPr/>
            <a:r>
              <a:t>Un rm -rf que nunca se ejecuta</a:t>
            </a:r>
          </a:p>
        </p:txBody>
      </p:sp>
      <p:sp>
        <p:nvSpPr>
          <p:cNvPr id="365" name="Shape 2"/>
          <p:cNvSpPr/>
          <p:nvPr/>
        </p:nvSpPr>
        <p:spPr>
          <a:xfrm>
            <a:off x="812800" y="1879550"/>
            <a:ext cx="4546600" cy="2673152"/>
          </a:xfrm>
          <a:prstGeom prst="roundRect">
            <a:avLst>
              <a:gd name="adj" fmla="val 3801"/>
            </a:avLst>
          </a:prstGeom>
          <a:solidFill>
            <a:srgbClr val="161A26"/>
          </a:solidFill>
          <a:ln w="12700">
            <a:miter lim="400000"/>
          </a:ln>
        </p:spPr>
        <p:txBody>
          <a:bodyPr lIns="45719" rIns="45719"/>
          <a:lstStyle/>
          <a:p>
            <a:pPr>
              <a:defRPr>
                <a:solidFill>
                  <a:srgbClr val="EEF0F4"/>
                </a:solidFill>
              </a:defRPr>
            </a:pPr>
          </a:p>
        </p:txBody>
      </p:sp>
      <p:sp>
        <p:nvSpPr>
          <p:cNvPr id="366" name="Text 3"/>
          <p:cNvSpPr txBox="1"/>
          <p:nvPr/>
        </p:nvSpPr>
        <p:spPr>
          <a:xfrm>
            <a:off x="1066799" y="2133550"/>
            <a:ext cx="415976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1"/>
                </a:solidFill>
              </a:defRPr>
            </a:lvl1pPr>
          </a:lstStyle>
          <a:p>
            <a:pPr/>
            <a:r>
              <a:t>PROMPT</a:t>
            </a:r>
          </a:p>
        </p:txBody>
      </p:sp>
      <p:sp>
        <p:nvSpPr>
          <p:cNvPr id="367" name="Text 4"/>
          <p:cNvSpPr txBox="1"/>
          <p:nvPr/>
        </p:nvSpPr>
        <p:spPr>
          <a:xfrm>
            <a:off x="1066799" y="2448471"/>
            <a:ext cx="4159760" cy="711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200">
                <a:solidFill>
                  <a:srgbClr val="EEF0F4"/>
                </a:solidFill>
                <a:latin typeface="JetBrains Mono"/>
                <a:ea typeface="JetBrains Mono"/>
                <a:cs typeface="JetBrains Mono"/>
                <a:sym typeface="JetBrains Mono"/>
              </a:defRPr>
            </a:lvl1pPr>
          </a:lstStyle>
          <a:p>
            <a:pPr/>
            <a:r>
              <a:t>Create a tmp-demo folder with a text file inside, then delete it with rm -rf tmp-demo.</a:t>
            </a:r>
          </a:p>
        </p:txBody>
      </p:sp>
      <p:sp>
        <p:nvSpPr>
          <p:cNvPr id="368" name="Text 5"/>
          <p:cNvSpPr txBox="1"/>
          <p:nvPr/>
        </p:nvSpPr>
        <p:spPr>
          <a:xfrm>
            <a:off x="1066799" y="3343821"/>
            <a:ext cx="415976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1"/>
                </a:solidFill>
              </a:defRPr>
            </a:lvl1pPr>
          </a:lstStyle>
          <a:p>
            <a:pPr/>
            <a:r>
              <a:t>QUÉ DEBERÍAS VER</a:t>
            </a:r>
          </a:p>
        </p:txBody>
      </p:sp>
      <p:sp>
        <p:nvSpPr>
          <p:cNvPr id="369" name="Text 6"/>
          <p:cNvSpPr txBox="1"/>
          <p:nvPr/>
        </p:nvSpPr>
        <p:spPr>
          <a:xfrm>
            <a:off x="1066799" y="3658741"/>
            <a:ext cx="4159760" cy="66536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EEF0F4"/>
                </a:solidFill>
              </a:defRPr>
            </a:lvl1pPr>
          </a:lstStyle>
          <a:p>
            <a:pPr/>
            <a:r>
              <a:t>El rm -rf se deniega antes de ejecutarse y el log registra DENY. Luego el agente puede rodearlo.</a:t>
            </a:r>
          </a:p>
        </p:txBody>
      </p:sp>
      <p:sp>
        <p:nvSpPr>
          <p:cNvPr id="370" name="Text 7"/>
          <p:cNvSpPr txBox="1"/>
          <p:nvPr/>
        </p:nvSpPr>
        <p:spPr>
          <a:xfrm>
            <a:off x="812800" y="4705101"/>
            <a:ext cx="4682998" cy="4520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4A5263"/>
                </a:solidFill>
                <a:latin typeface="JetBrains Mono"/>
                <a:ea typeface="JetBrains Mono"/>
                <a:cs typeface="JetBrains Mono"/>
                <a:sym typeface="JetBrains Mono"/>
              </a:defRPr>
            </a:lvl1pPr>
          </a:lstStyle>
          <a:p>
            <a:pPr/>
            <a:r>
              <a:t>Proyecto: 06-hooks · tail -5 "$TMPDIR/copilot-talk-audit.log"</a:t>
            </a:r>
          </a:p>
        </p:txBody>
      </p:sp>
      <p:pic>
        <p:nvPicPr>
          <p:cNvPr id="371" name="Image 1" descr="Image 1"/>
          <p:cNvPicPr>
            <a:picLocks noChangeAspect="1"/>
          </p:cNvPicPr>
          <p:nvPr/>
        </p:nvPicPr>
        <p:blipFill>
          <a:blip r:embed="rId3">
            <a:extLst/>
          </a:blip>
          <a:srcRect l="0" t="0" r="0" b="0"/>
          <a:stretch>
            <a:fillRect/>
          </a:stretch>
        </p:blipFill>
        <p:spPr>
          <a:xfrm>
            <a:off x="5670550" y="1885900"/>
            <a:ext cx="5702300" cy="3429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440"/>
                </a:moveTo>
                <a:lnTo>
                  <a:pt x="21600" y="21160"/>
                </a:lnTo>
                <a:cubicBezTo>
                  <a:pt x="21600" y="21403"/>
                  <a:pt x="21482" y="21600"/>
                  <a:pt x="21335" y="21600"/>
                </a:cubicBezTo>
                <a:lnTo>
                  <a:pt x="265" y="21600"/>
                </a:lnTo>
                <a:cubicBezTo>
                  <a:pt x="118" y="21600"/>
                  <a:pt x="0" y="21403"/>
                  <a:pt x="0" y="21160"/>
                </a:cubicBezTo>
                <a:lnTo>
                  <a:pt x="0" y="440"/>
                </a:lnTo>
                <a:lnTo>
                  <a:pt x="1" y="395"/>
                </a:lnTo>
                <a:cubicBezTo>
                  <a:pt x="15" y="173"/>
                  <a:pt x="128" y="0"/>
                  <a:pt x="265" y="0"/>
                </a:cubicBezTo>
                <a:lnTo>
                  <a:pt x="21335" y="0"/>
                </a:lnTo>
                <a:cubicBezTo>
                  <a:pt x="21482" y="0"/>
                  <a:pt x="21600" y="197"/>
                  <a:pt x="21600" y="440"/>
                </a:cubicBezTo>
                <a:close/>
              </a:path>
            </a:pathLst>
          </a:custGeom>
          <a:ln w="12700">
            <a:miter lim="400000"/>
          </a:ln>
        </p:spPr>
      </p:pic>
      <p:sp>
        <p:nvSpPr>
          <p:cNvPr id="372" name="Shape 8"/>
          <p:cNvSpPr/>
          <p:nvPr/>
        </p:nvSpPr>
        <p:spPr>
          <a:xfrm>
            <a:off x="5667375" y="1882725"/>
            <a:ext cx="5708650" cy="3435351"/>
          </a:xfrm>
          <a:prstGeom prst="roundRect">
            <a:avLst>
              <a:gd name="adj" fmla="val 2126"/>
            </a:avLst>
          </a:prstGeom>
          <a:ln w="6350">
            <a:solidFill>
              <a:srgbClr val="D5D0C4"/>
            </a:solidFill>
          </a:ln>
        </p:spPr>
        <p:txBody>
          <a:bodyPr lIns="45719" rIns="45719"/>
          <a:lstStyle/>
          <a:p>
            <a:pPr>
              <a:defRPr>
                <a:solidFill>
                  <a:srgbClr val="EEF0F4"/>
                </a:solidFill>
              </a:defRPr>
            </a:pPr>
          </a:p>
        </p:txBody>
      </p:sp>
      <p:sp>
        <p:nvSpPr>
          <p:cNvPr id="373" name="Text 9"/>
          <p:cNvSpPr txBox="1"/>
          <p:nvPr/>
        </p:nvSpPr>
        <p:spPr>
          <a:xfrm>
            <a:off x="5664200" y="5397450"/>
            <a:ext cx="588645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C6470"/>
                </a:solidFill>
              </a:defRPr>
            </a:lvl1pPr>
          </a:lstStyle>
          <a:p>
            <a:pPr/>
            <a:r>
              <a:t>Captura real · el hook deniega el rm -rf antes de ejecutarlo</a:t>
            </a:r>
          </a:p>
        </p:txBody>
      </p:sp>
      <p:sp>
        <p:nvSpPr>
          <p:cNvPr id="374" name="Text 10"/>
          <p:cNvSpPr txBox="1"/>
          <p:nvPr/>
        </p:nvSpPr>
        <p:spPr>
          <a:xfrm>
            <a:off x="812799" y="6238280"/>
            <a:ext cx="302782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C6470"/>
                </a:solidFill>
              </a:defRPr>
            </a:lvl1pPr>
          </a:lstStyle>
          <a:p>
            <a:pPr/>
            <a:r>
              <a:t>Extensibilidad de GitHub Copilot App</a:t>
            </a:r>
          </a:p>
        </p:txBody>
      </p:sp>
      <p:sp>
        <p:nvSpPr>
          <p:cNvPr id="375" name="Text 11"/>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rgbClr val="5C6470"/>
                </a:solidFill>
              </a:defRPr>
            </a:lvl1pPr>
          </a:lstStyle>
          <a:p>
            <a:pPr/>
            <a:r>
              <a:t>21</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chemeClr val="accent4"/>
        </a:solidFill>
      </p:bgPr>
    </p:bg>
    <p:spTree>
      <p:nvGrpSpPr>
        <p:cNvPr id="1" name=""/>
        <p:cNvGrpSpPr/>
        <p:nvPr/>
      </p:nvGrpSpPr>
      <p:grpSpPr>
        <a:xfrm>
          <a:off x="0" y="0"/>
          <a:ext cx="0" cy="0"/>
          <a:chOff x="0" y="0"/>
          <a:chExt cx="0" cy="0"/>
        </a:xfrm>
      </p:grpSpPr>
      <p:sp>
        <p:nvSpPr>
          <p:cNvPr id="379" name="Text 0"/>
          <p:cNvSpPr txBox="1"/>
          <p:nvPr>
            <p:ph type="title"/>
          </p:nvPr>
        </p:nvSpPr>
        <p:spPr>
          <a:xfrm>
            <a:off x="812799" y="2098080"/>
            <a:ext cx="10883394" cy="1518842"/>
          </a:xfrm>
          <a:prstGeom prst="rect">
            <a:avLst/>
          </a:prstGeom>
        </p:spPr>
        <p:txBody>
          <a:bodyPr/>
          <a:lstStyle/>
          <a:p>
            <a:pPr>
              <a:lnSpc>
                <a:spcPts val="5800"/>
              </a:lnSpc>
              <a:defRPr b="1" sz="5600">
                <a:solidFill>
                  <a:srgbClr val="F7F5FF"/>
                </a:solidFill>
              </a:defRPr>
            </a:pPr>
            <a:r>
              <a:t>Hasta aquí, ficheros.</a:t>
            </a:r>
          </a:p>
          <a:p>
            <a:pPr>
              <a:lnSpc>
                <a:spcPts val="5800"/>
              </a:lnSpc>
              <a:defRPr b="1" sz="5600">
                <a:solidFill>
                  <a:srgbClr val="F7F5FF"/>
                </a:solidFill>
              </a:defRPr>
            </a:pPr>
            <a:r>
              <a:t>Desde aquí, código.</a:t>
            </a:r>
          </a:p>
        </p:txBody>
      </p:sp>
      <p:sp>
        <p:nvSpPr>
          <p:cNvPr id="380" name="Text 1"/>
          <p:cNvSpPr txBox="1"/>
          <p:nvPr/>
        </p:nvSpPr>
        <p:spPr>
          <a:xfrm>
            <a:off x="812799" y="3896319"/>
            <a:ext cx="8371842" cy="685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600"/>
              </a:lnSpc>
              <a:defRPr sz="2000">
                <a:solidFill>
                  <a:schemeClr val="accent3"/>
                </a:solidFill>
              </a:defRPr>
            </a:lvl1pPr>
          </a:lstStyle>
          <a:p>
            <a:pPr/>
            <a:r>
              <a:t>Instrucciones, skills, agentes, servidores y hooks se declaran. Las extensiones y los canvas se programan con el SDK.</a:t>
            </a:r>
          </a:p>
        </p:txBody>
      </p:sp>
      <p:sp>
        <p:nvSpPr>
          <p:cNvPr id="381" name="Text 2"/>
          <p:cNvSpPr txBox="1"/>
          <p:nvPr/>
        </p:nvSpPr>
        <p:spPr>
          <a:xfrm>
            <a:off x="812799" y="6238280"/>
            <a:ext cx="302782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3"/>
                </a:solidFill>
              </a:defRPr>
            </a:lvl1pPr>
          </a:lstStyle>
          <a:p>
            <a:pPr/>
            <a:r>
              <a:t>Extensibilidad de GitHub Copilot App</a:t>
            </a:r>
          </a:p>
        </p:txBody>
      </p:sp>
      <p:sp>
        <p:nvSpPr>
          <p:cNvPr id="382" name="Text 3"/>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chemeClr val="accent3"/>
                </a:solidFill>
              </a:defRPr>
            </a:lvl1pPr>
          </a:lstStyle>
          <a:p>
            <a:pPr/>
            <a:r>
              <a:t>22</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6"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2"/>
                </a:solidFill>
              </a:defRPr>
            </a:lvl1pPr>
          </a:lstStyle>
          <a:p>
            <a:pPr/>
            <a:r>
              <a:t>PASO 7 · EXTENSIONES</a:t>
            </a:r>
          </a:p>
        </p:txBody>
      </p:sp>
      <p:sp>
        <p:nvSpPr>
          <p:cNvPr id="387" name="Text 1"/>
          <p:cNvSpPr txBox="1"/>
          <p:nvPr>
            <p:ph type="title"/>
          </p:nvPr>
        </p:nvSpPr>
        <p:spPr>
          <a:xfrm>
            <a:off x="812799" y="1127720"/>
            <a:ext cx="10883394" cy="472430"/>
          </a:xfrm>
          <a:prstGeom prst="rect">
            <a:avLst/>
          </a:prstGeom>
        </p:spPr>
        <p:txBody>
          <a:bodyPr/>
          <a:lstStyle>
            <a:lvl1pPr>
              <a:lnSpc>
                <a:spcPts val="3500"/>
              </a:lnSpc>
              <a:defRPr b="1"/>
            </a:lvl1pPr>
          </a:lstStyle>
          <a:p>
            <a:pPr/>
            <a:r>
              <a:t>Un proceso Node dentro de tu sesión</a:t>
            </a:r>
          </a:p>
        </p:txBody>
      </p:sp>
      <p:sp>
        <p:nvSpPr>
          <p:cNvPr id="388" name="Text 2"/>
          <p:cNvSpPr txBox="1"/>
          <p:nvPr/>
        </p:nvSpPr>
        <p:spPr>
          <a:xfrm>
            <a:off x="812800" y="1828750"/>
            <a:ext cx="4224090" cy="8255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EEF0F4"/>
                </a:solidFill>
              </a:defRPr>
            </a:lvl1pPr>
          </a:lstStyle>
          <a:p>
            <a:pPr/>
            <a:r>
              <a:t>Copilot descubre cada extension.mjs, lo lanza como proceso hijo y hablan por JSON-RPC sobre stdio.</a:t>
            </a:r>
          </a:p>
        </p:txBody>
      </p:sp>
      <p:sp>
        <p:nvSpPr>
          <p:cNvPr id="389" name="Text 3"/>
          <p:cNvSpPr txBox="1"/>
          <p:nvPr/>
        </p:nvSpPr>
        <p:spPr>
          <a:xfrm>
            <a:off x="812800" y="2781250"/>
            <a:ext cx="4224090" cy="8255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joinSession registra herramientas, hooks y eventos. El SDK se resuelve solo: sin npm install.</a:t>
            </a:r>
          </a:p>
        </p:txBody>
      </p:sp>
      <p:sp>
        <p:nvSpPr>
          <p:cNvPr id="390" name="Text 4"/>
          <p:cNvSpPr txBox="1"/>
          <p:nvPr/>
        </p:nvSpPr>
        <p:spPr>
          <a:xfrm>
            <a:off x="812800" y="3733750"/>
            <a:ext cx="4224090" cy="8255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Vive lo que dura la sesión: los hooks tienen memoria y el estado persiste entre llamadas.</a:t>
            </a:r>
          </a:p>
        </p:txBody>
      </p:sp>
      <p:sp>
        <p:nvSpPr>
          <p:cNvPr id="391" name="Text 5"/>
          <p:cNvSpPr txBox="1"/>
          <p:nvPr/>
        </p:nvSpPr>
        <p:spPr>
          <a:xfrm>
            <a:off x="812800" y="4686250"/>
            <a:ext cx="4224090"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stdout es del protocolo. Para escribir en la sesión, usa session.log().</a:t>
            </a:r>
          </a:p>
        </p:txBody>
      </p:sp>
      <p:sp>
        <p:nvSpPr>
          <p:cNvPr id="392" name="Shape 6"/>
          <p:cNvSpPr/>
          <p:nvPr/>
        </p:nvSpPr>
        <p:spPr>
          <a:xfrm>
            <a:off x="5221832" y="1831925"/>
            <a:ext cx="6154193" cy="3699470"/>
          </a:xfrm>
          <a:prstGeom prst="roundRect">
            <a:avLst>
              <a:gd name="adj" fmla="val 2661"/>
            </a:avLst>
          </a:prstGeom>
          <a:solidFill>
            <a:srgbClr val="1A2133"/>
          </a:solidFill>
          <a:ln w="6350">
            <a:solidFill>
              <a:srgbClr val="2B3550"/>
            </a:solidFill>
          </a:ln>
        </p:spPr>
        <p:txBody>
          <a:bodyPr lIns="45719" rIns="45719"/>
          <a:lstStyle/>
          <a:p>
            <a:pPr>
              <a:defRPr>
                <a:solidFill>
                  <a:srgbClr val="EEF0F4"/>
                </a:solidFill>
              </a:defRPr>
            </a:pPr>
          </a:p>
        </p:txBody>
      </p:sp>
      <p:sp>
        <p:nvSpPr>
          <p:cNvPr id="393" name="Text 7"/>
          <p:cNvSpPr txBox="1"/>
          <p:nvPr/>
        </p:nvSpPr>
        <p:spPr>
          <a:xfrm>
            <a:off x="5428207" y="2038300"/>
            <a:ext cx="5913686"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latin typeface="JetBrains Mono"/>
                <a:ea typeface="JetBrains Mono"/>
                <a:cs typeface="JetBrains Mono"/>
                <a:sym typeface="JetBrains Mono"/>
              </a:defRPr>
            </a:lvl1pPr>
          </a:lstStyle>
          <a:p>
            <a:pPr/>
            <a:r>
              <a:t>.github/extensions/avalonia-tools/extension.mjs</a:t>
            </a:r>
          </a:p>
        </p:txBody>
      </p:sp>
      <p:sp>
        <p:nvSpPr>
          <p:cNvPr id="394" name="Text 8"/>
          <p:cNvSpPr txBox="1"/>
          <p:nvPr/>
        </p:nvSpPr>
        <p:spPr>
          <a:xfrm>
            <a:off x="5428207" y="2353221"/>
            <a:ext cx="5913686" cy="2997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800"/>
              </a:lnSpc>
              <a:defRPr sz="1200">
                <a:solidFill>
                  <a:schemeClr val="accent2"/>
                </a:solidFill>
                <a:latin typeface="JetBrains Mono"/>
                <a:ea typeface="JetBrains Mono"/>
                <a:cs typeface="JetBrains Mono"/>
                <a:sym typeface="JetBrains Mono"/>
              </a:defRPr>
            </a:pPr>
            <a:r>
              <a:t>const</a:t>
            </a:r>
            <a:r>
              <a:rPr>
                <a:solidFill>
                  <a:srgbClr val="D7DEEA"/>
                </a:solidFill>
              </a:rPr>
              <a:t> session = </a:t>
            </a:r>
            <a:r>
              <a:t>await</a:t>
            </a:r>
            <a:r>
              <a:rPr>
                <a:solidFill>
                  <a:srgbClr val="D7DEEA"/>
                </a:solidFill>
              </a:rPr>
              <a:t> joinSession({</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tools: [{ name: </a:t>
            </a:r>
            <a:r>
              <a:rPr>
                <a:solidFill>
                  <a:schemeClr val="accent1"/>
                </a:solidFill>
              </a:rPr>
              <a:t>"avalonia_project_info"</a:t>
            </a:r>
            <a:r>
              <a: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handler: async (args) =&gt; info(args.path)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hooks: { onUserPromptSubmitted: async ({ prompt }) =&gt;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a:t>
            </a:r>
            <a:r>
              <a:rPr>
                <a:solidFill>
                  <a:schemeClr val="accent2"/>
                </a:solidFill>
              </a:rPr>
              <a:t>if</a:t>
            </a:r>
            <a:r>
              <a:t> (!/\b(canvas|ui|screen)\b/i.test(prompt)) return;</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a:t>
            </a:r>
            <a:r>
              <a:rPr>
                <a:solidFill>
                  <a:schemeClr val="accent2"/>
                </a:solidFill>
              </a:rPr>
              <a:t>return</a:t>
            </a:r>
            <a:r>
              <a:t> { additionalContext: </a:t>
            </a:r>
            <a:r>
              <a:rPr>
                <a:solidFill>
                  <a:schemeClr val="accent1"/>
                </a:solidFill>
              </a:rPr>
              <a:t>"Before opening an "</a:t>
            </a:r>
            <a:r>
              <a:t>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a:t>
            </a:r>
            <a:r>
              <a:rPr>
                <a:solidFill>
                  <a:schemeClr val="accent1"/>
                </a:solidFill>
              </a:rPr>
              <a:t>"canvas, call avalonia_project_info."</a:t>
            </a:r>
            <a:r>
              <a:t>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a:t>
            </a:r>
            <a:endParaRPr>
              <a:solidFill>
                <a:srgbClr val="EEF0F4"/>
              </a:solidFill>
            </a:endParaRPr>
          </a:p>
          <a:p>
            <a:pPr>
              <a:lnSpc>
                <a:spcPts val="1800"/>
              </a:lnSpc>
              <a:defRPr sz="1200">
                <a:solidFill>
                  <a:schemeClr val="accent2"/>
                </a:solidFill>
                <a:latin typeface="JetBrains Mono"/>
                <a:ea typeface="JetBrains Mono"/>
                <a:cs typeface="JetBrains Mono"/>
                <a:sym typeface="JetBrains Mono"/>
              </a:defRPr>
            </a:pPr>
            <a:r>
              <a:t>let</a:t>
            </a:r>
            <a:r>
              <a:rPr>
                <a:solidFill>
                  <a:srgbClr val="D7DEEA"/>
                </a:solidFill>
              </a:rPr>
              <a:t> toolCalls = 0;</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session.on(</a:t>
            </a:r>
            <a:r>
              <a:rPr>
                <a:solidFill>
                  <a:schemeClr val="accent1"/>
                </a:solidFill>
              </a:rPr>
              <a:t>"tool.execution_complete"</a:t>
            </a:r>
            <a:r>
              <a:t>, () =&gt; toolCalls++);</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session.on(</a:t>
            </a:r>
            <a:r>
              <a:rPr>
                <a:solidFill>
                  <a:schemeClr val="accent1"/>
                </a:solidFill>
              </a:rPr>
              <a:t>"session.idle"</a:t>
            </a:r>
            <a:r>
              <a:t>, () =&gt;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session.log(`${toolCalls} tools run in this turn`));</a:t>
            </a:r>
          </a:p>
        </p:txBody>
      </p:sp>
      <p:sp>
        <p:nvSpPr>
          <p:cNvPr id="395" name="Text 9"/>
          <p:cNvSpPr txBox="1"/>
          <p:nvPr/>
        </p:nvSpPr>
        <p:spPr>
          <a:xfrm>
            <a:off x="812799" y="6238280"/>
            <a:ext cx="5984619"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defRPr>
            </a:lvl1pPr>
          </a:lstStyle>
          <a:p>
            <a:pPr/>
            <a:r>
              <a:t>Extracto simplificado de .github/extensions/avalonia-tools/extension.mjs</a:t>
            </a:r>
          </a:p>
        </p:txBody>
      </p:sp>
      <p:sp>
        <p:nvSpPr>
          <p:cNvPr id="396" name="Text 10"/>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chemeClr val="accent6"/>
                </a:solidFill>
              </a:defRPr>
            </a:lvl1pPr>
          </a:lstStyle>
          <a:p>
            <a:pPr/>
            <a:r>
              <a:t>23</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0"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2"/>
                </a:solidFill>
              </a:defRPr>
            </a:lvl1pPr>
          </a:lstStyle>
          <a:p>
            <a:pPr/>
            <a:r>
              <a:t>PASO 7 · EXTENSIONES</a:t>
            </a:r>
          </a:p>
        </p:txBody>
      </p:sp>
      <p:sp>
        <p:nvSpPr>
          <p:cNvPr id="401" name="Text 1"/>
          <p:cNvSpPr txBox="1"/>
          <p:nvPr>
            <p:ph type="title"/>
          </p:nvPr>
        </p:nvSpPr>
        <p:spPr>
          <a:xfrm>
            <a:off x="812799" y="1127720"/>
            <a:ext cx="10883394" cy="472430"/>
          </a:xfrm>
          <a:prstGeom prst="rect">
            <a:avLst/>
          </a:prstGeom>
        </p:spPr>
        <p:txBody>
          <a:bodyPr/>
          <a:lstStyle>
            <a:lvl1pPr>
              <a:lnSpc>
                <a:spcPts val="3500"/>
              </a:lnSpc>
              <a:defRPr b="1"/>
            </a:lvl1pPr>
          </a:lstStyle>
          <a:p>
            <a:pPr/>
            <a:r>
              <a:t>Todo lo que acepta joinSession</a:t>
            </a:r>
          </a:p>
        </p:txBody>
      </p:sp>
      <p:sp>
        <p:nvSpPr>
          <p:cNvPr id="402" name="Shape 2"/>
          <p:cNvSpPr/>
          <p:nvPr/>
        </p:nvSpPr>
        <p:spPr>
          <a:xfrm>
            <a:off x="11376025" y="1828749"/>
            <a:ext cx="0" cy="3013176"/>
          </a:xfrm>
          <a:prstGeom prst="line">
            <a:avLst/>
          </a:prstGeom>
          <a:ln w="6350">
            <a:solidFill>
              <a:srgbClr val="2B3550"/>
            </a:solidFill>
          </a:ln>
        </p:spPr>
        <p:txBody>
          <a:bodyPr lIns="45719" rIns="45719"/>
          <a:lstStyle/>
          <a:p>
            <a:pPr>
              <a:defRPr>
                <a:solidFill>
                  <a:srgbClr val="EEF0F4"/>
                </a:solidFill>
              </a:defRPr>
            </a:pPr>
          </a:p>
        </p:txBody>
      </p:sp>
      <p:sp>
        <p:nvSpPr>
          <p:cNvPr id="403" name="Shape 3"/>
          <p:cNvSpPr/>
          <p:nvPr/>
        </p:nvSpPr>
        <p:spPr>
          <a:xfrm>
            <a:off x="812800" y="4838749"/>
            <a:ext cx="10566401" cy="1"/>
          </a:xfrm>
          <a:prstGeom prst="line">
            <a:avLst/>
          </a:prstGeom>
          <a:ln w="6350">
            <a:solidFill>
              <a:srgbClr val="2B3550"/>
            </a:solidFill>
          </a:ln>
        </p:spPr>
        <p:txBody>
          <a:bodyPr lIns="45719" rIns="45719"/>
          <a:lstStyle/>
          <a:p>
            <a:pPr>
              <a:defRPr>
                <a:solidFill>
                  <a:srgbClr val="EEF0F4"/>
                </a:solidFill>
              </a:defRPr>
            </a:pPr>
          </a:p>
        </p:txBody>
      </p:sp>
      <p:graphicFrame>
        <p:nvGraphicFramePr>
          <p:cNvPr id="404" name="Table 0"/>
          <p:cNvGraphicFramePr/>
          <p:nvPr/>
        </p:nvGraphicFramePr>
        <p:xfrm>
          <a:off x="825500" y="1841450"/>
          <a:ext cx="10547350" cy="2994125"/>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586099"/>
                <a:gridCol w="6961251"/>
              </a:tblGrid>
              <a:tr h="332680">
                <a:tc>
                  <a:txBody>
                    <a:bodyPr/>
                    <a:lstStyle/>
                    <a:p>
                      <a:pPr algn="l">
                        <a:lnSpc>
                          <a:spcPts val="1600"/>
                        </a:lnSpc>
                        <a:defRPr sz="1800">
                          <a:solidFill>
                            <a:srgbClr val="000000"/>
                          </a:solidFill>
                        </a:defRPr>
                      </a:pPr>
                      <a:r>
                        <a:rPr b="1" sz="1200">
                          <a:solidFill>
                            <a:schemeClr val="accent2"/>
                          </a:solidFill>
                        </a:rPr>
                        <a:t>Opción</a:t>
                      </a:r>
                    </a:p>
                  </a:txBody>
                  <a:tcPr marL="53339" marR="53339" marT="53339" marB="53339" anchor="t" anchorCtr="0" horzOverflow="overflow">
                    <a:lnL w="12700">
                      <a:solidFill>
                        <a:srgbClr val="43464E"/>
                      </a:solidFill>
                    </a:lnL>
                    <a:lnR w="12700">
                      <a:solidFill>
                        <a:srgbClr val="4B515E"/>
                      </a:solidFill>
                    </a:lnR>
                    <a:lnT w="12700">
                      <a:solidFill>
                        <a:srgbClr val="43464E"/>
                      </a:solidFill>
                    </a:lnT>
                    <a:lnB w="12700">
                      <a:solidFill>
                        <a:srgbClr val="4B515E"/>
                      </a:solidFill>
                    </a:lnB>
                    <a:solidFill>
                      <a:srgbClr val="1A2133"/>
                    </a:solidFill>
                  </a:tcPr>
                </a:tc>
                <a:tc>
                  <a:txBody>
                    <a:bodyPr/>
                    <a:lstStyle/>
                    <a:p>
                      <a:pPr algn="l">
                        <a:lnSpc>
                          <a:spcPts val="1600"/>
                        </a:lnSpc>
                        <a:defRPr sz="1800">
                          <a:solidFill>
                            <a:srgbClr val="000000"/>
                          </a:solidFill>
                        </a:defRPr>
                      </a:pPr>
                      <a:r>
                        <a:rPr b="1" sz="1200">
                          <a:solidFill>
                            <a:schemeClr val="accent2"/>
                          </a:solidFill>
                        </a:rPr>
                        <a:t>Qué añade a la sesión</a:t>
                      </a:r>
                    </a:p>
                  </a:txBody>
                  <a:tcPr marL="53339" marR="53339" marT="53339" marB="53339" anchor="t" anchorCtr="0" horzOverflow="overflow">
                    <a:lnL w="12700">
                      <a:solidFill>
                        <a:srgbClr val="4B515E"/>
                      </a:solidFill>
                    </a:lnL>
                    <a:lnR w="12700">
                      <a:solidFill>
                        <a:srgbClr val="4B515E"/>
                      </a:solidFill>
                    </a:lnR>
                    <a:lnT w="12700">
                      <a:solidFill>
                        <a:srgbClr val="43464E"/>
                      </a:solidFill>
                    </a:lnT>
                    <a:lnB w="12700">
                      <a:solidFill>
                        <a:srgbClr val="4B515E"/>
                      </a:solidFill>
                    </a:lnB>
                    <a:solidFill>
                      <a:srgbClr val="1A2133"/>
                    </a:solidFill>
                  </a:tcPr>
                </a:tc>
              </a:tr>
              <a:tr h="332680">
                <a:tc>
                  <a:txBody>
                    <a:bodyPr/>
                    <a:lstStyle/>
                    <a:p>
                      <a:pPr algn="l">
                        <a:lnSpc>
                          <a:spcPts val="1600"/>
                        </a:lnSpc>
                        <a:defRPr sz="1800">
                          <a:solidFill>
                            <a:srgbClr val="000000"/>
                          </a:solidFill>
                        </a:defRPr>
                      </a:pPr>
                      <a:r>
                        <a:rPr sz="1200">
                          <a:solidFill>
                            <a:srgbClr val="EEF0F4"/>
                          </a:solidFill>
                        </a:rPr>
                        <a:t>tools</a:t>
                      </a:r>
                    </a:p>
                  </a:txBody>
                  <a:tcPr marL="53339" marR="53339" marT="53339" marB="53339" anchor="t" anchorCtr="0" horzOverflow="overflow">
                    <a:lnL w="12700">
                      <a:solidFill>
                        <a:srgbClr val="43464E"/>
                      </a:solidFill>
                    </a:lnL>
                    <a:lnR w="12700">
                      <a:solidFill>
                        <a:srgbClr val="43464E"/>
                      </a:solidFill>
                    </a:lnR>
                    <a:lnT w="12700">
                      <a:solidFill>
                        <a:srgbClr val="4B515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Herramientas nuevas, con su esquema y su handler</a:t>
                      </a:r>
                    </a:p>
                  </a:txBody>
                  <a:tcPr marL="53339" marR="53339" marT="53339" marB="53339" anchor="t" anchorCtr="0" horzOverflow="overflow">
                    <a:lnL w="12700">
                      <a:solidFill>
                        <a:srgbClr val="43464E"/>
                      </a:solidFill>
                    </a:lnL>
                    <a:lnR w="12700">
                      <a:solidFill>
                        <a:srgbClr val="43464E"/>
                      </a:solidFill>
                    </a:lnR>
                    <a:lnT w="12700">
                      <a:solidFill>
                        <a:srgbClr val="4B515E"/>
                      </a:solidFill>
                    </a:lnT>
                    <a:lnB w="12700">
                      <a:solidFill>
                        <a:srgbClr val="43464E"/>
                      </a:solidFill>
                    </a:lnB>
                    <a:noFill/>
                  </a:tcPr>
                </a:tc>
              </a:tr>
              <a:tr h="332680">
                <a:tc>
                  <a:txBody>
                    <a:bodyPr/>
                    <a:lstStyle/>
                    <a:p>
                      <a:pPr algn="l">
                        <a:lnSpc>
                          <a:spcPts val="1600"/>
                        </a:lnSpc>
                        <a:defRPr sz="1800">
                          <a:solidFill>
                            <a:srgbClr val="000000"/>
                          </a:solidFill>
                        </a:defRPr>
                      </a:pPr>
                      <a:r>
                        <a:rPr sz="1200">
                          <a:solidFill>
                            <a:srgbClr val="EEF0F4"/>
                          </a:solidFill>
                        </a:rPr>
                        <a:t>hooks</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Interceptan prompts, herramientas y errores, con estado en memoria</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r>
              <a:tr h="332680">
                <a:tc>
                  <a:txBody>
                    <a:bodyPr/>
                    <a:lstStyle/>
                    <a:p>
                      <a:pPr algn="l">
                        <a:lnSpc>
                          <a:spcPts val="1600"/>
                        </a:lnSpc>
                        <a:defRPr sz="1800">
                          <a:solidFill>
                            <a:srgbClr val="000000"/>
                          </a:solidFill>
                        </a:defRPr>
                      </a:pPr>
                      <a:r>
                        <a:rPr sz="1200">
                          <a:solidFill>
                            <a:srgbClr val="EEF0F4"/>
                          </a:solidFill>
                        </a:rPr>
                        <a:t>commands</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Comandos slash propios</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r>
              <a:tr h="332680">
                <a:tc>
                  <a:txBody>
                    <a:bodyPr/>
                    <a:lstStyle/>
                    <a:p>
                      <a:pPr algn="l">
                        <a:lnSpc>
                          <a:spcPts val="1600"/>
                        </a:lnSpc>
                        <a:defRPr sz="1800">
                          <a:solidFill>
                            <a:srgbClr val="000000"/>
                          </a:solidFill>
                        </a:defRPr>
                      </a:pPr>
                      <a:r>
                        <a:rPr sz="1200">
                          <a:solidFill>
                            <a:srgbClr val="EEF0F4"/>
                          </a:solidFill>
                        </a:rPr>
                        <a:t>canvas</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Interfaces en el panel lateral, compartidas con el agente</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r>
              <a:tr h="332680">
                <a:tc>
                  <a:txBody>
                    <a:bodyPr/>
                    <a:lstStyle/>
                    <a:p>
                      <a:pPr algn="l">
                        <a:lnSpc>
                          <a:spcPts val="1600"/>
                        </a:lnSpc>
                        <a:defRPr sz="1800">
                          <a:solidFill>
                            <a:srgbClr val="000000"/>
                          </a:solidFill>
                        </a:defRPr>
                      </a:pPr>
                      <a:r>
                        <a:rPr sz="1200">
                          <a:solidFill>
                            <a:srgbClr val="EEF0F4"/>
                          </a:solidFill>
                        </a:rPr>
                        <a:t>customAgents, mcpServers</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Agentes y servidores MCP declarados desde código</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r>
              <a:tr h="332680">
                <a:tc>
                  <a:txBody>
                    <a:bodyPr/>
                    <a:lstStyle/>
                    <a:p>
                      <a:pPr algn="l">
                        <a:lnSpc>
                          <a:spcPts val="1600"/>
                        </a:lnSpc>
                        <a:defRPr sz="1800">
                          <a:solidFill>
                            <a:srgbClr val="000000"/>
                          </a:solidFill>
                        </a:defRPr>
                      </a:pPr>
                      <a:r>
                        <a:rPr sz="1200">
                          <a:solidFill>
                            <a:srgbClr val="EEF0F4"/>
                          </a:solidFill>
                        </a:rPr>
                        <a:t>systemMessage</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Amplía o ajusta el prompt del sistema</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r>
              <a:tr h="332680">
                <a:tc>
                  <a:txBody>
                    <a:bodyPr/>
                    <a:lstStyle/>
                    <a:p>
                      <a:pPr algn="l">
                        <a:lnSpc>
                          <a:spcPts val="1600"/>
                        </a:lnSpc>
                        <a:defRPr sz="1800">
                          <a:solidFill>
                            <a:srgbClr val="000000"/>
                          </a:solidFill>
                        </a:defRPr>
                      </a:pPr>
                      <a:r>
                        <a:rPr sz="1200">
                          <a:solidFill>
                            <a:srgbClr val="EEF0F4"/>
                          </a:solidFill>
                        </a:rPr>
                        <a:t>requestedEnvironmentVariables</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Pide un secreto por nombre, con la aprobación de la persona</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r>
              <a:tr h="332680">
                <a:tc>
                  <a:txBody>
                    <a:bodyPr/>
                    <a:lstStyle/>
                    <a:p>
                      <a:pPr algn="l">
                        <a:lnSpc>
                          <a:spcPts val="1600"/>
                        </a:lnSpc>
                        <a:defRPr sz="1800">
                          <a:solidFill>
                            <a:srgbClr val="000000"/>
                          </a:solidFill>
                        </a:defRPr>
                      </a:pPr>
                      <a:r>
                        <a:rPr sz="1200">
                          <a:solidFill>
                            <a:srgbClr val="EEF0F4"/>
                          </a:solidFill>
                        </a:rPr>
                        <a:t>workflows (experimental)</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Coordinan subagentes en fases y pasos duraderos</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r>
            </a:tbl>
          </a:graphicData>
        </a:graphic>
      </p:graphicFrame>
      <p:sp>
        <p:nvSpPr>
          <p:cNvPr id="405" name="Text 4"/>
          <p:cNvSpPr txBox="1"/>
          <p:nvPr/>
        </p:nvSpPr>
        <p:spPr>
          <a:xfrm>
            <a:off x="812799" y="5095924"/>
            <a:ext cx="10883394"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A9B4C6"/>
                </a:solidFill>
              </a:defRPr>
            </a:lvl1pPr>
          </a:lstStyle>
          <a:p>
            <a:pPr/>
            <a:r>
              <a:t>Y con la sesión en la mano: session.send para hablar con el agente, session.on para escuchar, session.log para informar y session.ui para preguntar.</a:t>
            </a:r>
          </a:p>
        </p:txBody>
      </p:sp>
      <p:sp>
        <p:nvSpPr>
          <p:cNvPr id="406" name="Text 5"/>
          <p:cNvSpPr txBox="1"/>
          <p:nvPr/>
        </p:nvSpPr>
        <p:spPr>
          <a:xfrm>
            <a:off x="812799" y="6238280"/>
            <a:ext cx="507260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defRPr>
            </a:lvl1pPr>
          </a:lstStyle>
          <a:p>
            <a:pPr/>
            <a:r>
              <a:t>Fuente: tipos y documentación de @github/copilot-sdk 1.0.16</a:t>
            </a:r>
          </a:p>
        </p:txBody>
      </p:sp>
      <p:sp>
        <p:nvSpPr>
          <p:cNvPr id="407" name="Text 6"/>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chemeClr val="accent6"/>
                </a:solidFill>
              </a:defRPr>
            </a:lvl1pPr>
          </a:lstStyle>
          <a:p>
            <a:pPr/>
            <a:r>
              <a:t>24</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1EA"/>
        </a:solidFill>
      </p:bgPr>
    </p:bg>
    <p:spTree>
      <p:nvGrpSpPr>
        <p:cNvPr id="1" name=""/>
        <p:cNvGrpSpPr/>
        <p:nvPr/>
      </p:nvGrpSpPr>
      <p:grpSpPr>
        <a:xfrm>
          <a:off x="0" y="0"/>
          <a:ext cx="0" cy="0"/>
          <a:chOff x="0" y="0"/>
          <a:chExt cx="0" cy="0"/>
        </a:xfrm>
      </p:grpSpPr>
      <p:grpSp>
        <p:nvGrpSpPr>
          <p:cNvPr id="413" name="Text 0"/>
          <p:cNvGrpSpPr/>
          <p:nvPr/>
        </p:nvGrpSpPr>
        <p:grpSpPr>
          <a:xfrm>
            <a:off x="812800" y="812800"/>
            <a:ext cx="887164" cy="314920"/>
            <a:chOff x="0" y="0"/>
            <a:chExt cx="887163" cy="314919"/>
          </a:xfrm>
        </p:grpSpPr>
        <p:sp>
          <p:nvSpPr>
            <p:cNvPr id="411" name="Rounded Rectangle"/>
            <p:cNvSpPr/>
            <p:nvPr/>
          </p:nvSpPr>
          <p:spPr>
            <a:xfrm>
              <a:off x="0" y="0"/>
              <a:ext cx="887164" cy="314920"/>
            </a:xfrm>
            <a:prstGeom prst="roundRect">
              <a:avLst>
                <a:gd name="adj" fmla="val 48393"/>
              </a:avLst>
            </a:prstGeom>
            <a:solidFill>
              <a:schemeClr val="accent1"/>
            </a:solidFill>
            <a:ln w="12700" cap="flat">
              <a:noFill/>
              <a:miter lim="400000"/>
            </a:ln>
            <a:effectLst/>
          </p:spPr>
          <p:txBody>
            <a:bodyPr wrap="square" lIns="45719" tIns="45719" rIns="45719" bIns="45719" numCol="1" anchor="ctr">
              <a:noAutofit/>
            </a:bodyPr>
            <a:lstStyle/>
            <a:p>
              <a:pPr algn="ctr">
                <a:lnSpc>
                  <a:spcPts val="1600"/>
                </a:lnSpc>
                <a:defRPr sz="1200">
                  <a:solidFill>
                    <a:srgbClr val="EEF0F4"/>
                  </a:solidFill>
                </a:defRPr>
              </a:pPr>
            </a:p>
          </p:txBody>
        </p:sp>
        <p:sp>
          <p:nvSpPr>
            <p:cNvPr id="412" name="DEMO 7"/>
            <p:cNvSpPr txBox="1"/>
            <p:nvPr/>
          </p:nvSpPr>
          <p:spPr>
            <a:xfrm>
              <a:off x="106981" y="44636"/>
              <a:ext cx="673201" cy="225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normAutofit fontScale="100000" lnSpcReduction="0"/>
            </a:bodyPr>
            <a:lstStyle>
              <a:lvl1pPr algn="ctr">
                <a:lnSpc>
                  <a:spcPts val="1600"/>
                </a:lnSpc>
                <a:defRPr b="1" spc="100" sz="1200">
                  <a:solidFill>
                    <a:srgbClr val="161A26"/>
                  </a:solidFill>
                </a:defRPr>
              </a:lvl1pPr>
            </a:lstStyle>
            <a:p>
              <a:pPr/>
              <a:r>
                <a:t>DEMO 7</a:t>
              </a:r>
            </a:p>
          </p:txBody>
        </p:sp>
      </p:grpSp>
      <p:sp>
        <p:nvSpPr>
          <p:cNvPr id="414" name="Text 1"/>
          <p:cNvSpPr txBox="1"/>
          <p:nvPr>
            <p:ph type="title"/>
          </p:nvPr>
        </p:nvSpPr>
        <p:spPr>
          <a:xfrm>
            <a:off x="812799" y="1229320"/>
            <a:ext cx="10883394" cy="472430"/>
          </a:xfrm>
          <a:prstGeom prst="rect">
            <a:avLst/>
          </a:prstGeom>
        </p:spPr>
        <p:txBody>
          <a:bodyPr/>
          <a:lstStyle>
            <a:lvl1pPr>
              <a:lnSpc>
                <a:spcPts val="3500"/>
              </a:lnSpc>
              <a:defRPr b="1">
                <a:solidFill>
                  <a:srgbClr val="161A26"/>
                </a:solidFill>
              </a:defRPr>
            </a:lvl1pPr>
          </a:lstStyle>
          <a:p>
            <a:pPr/>
            <a:r>
              <a:t>Una herramienta, dos hooks y un evento</a:t>
            </a:r>
          </a:p>
        </p:txBody>
      </p:sp>
      <p:sp>
        <p:nvSpPr>
          <p:cNvPr id="415" name="Shape 2"/>
          <p:cNvSpPr/>
          <p:nvPr/>
        </p:nvSpPr>
        <p:spPr>
          <a:xfrm>
            <a:off x="812800" y="1879550"/>
            <a:ext cx="4546600" cy="2444552"/>
          </a:xfrm>
          <a:prstGeom prst="roundRect">
            <a:avLst>
              <a:gd name="adj" fmla="val 4156"/>
            </a:avLst>
          </a:prstGeom>
          <a:solidFill>
            <a:srgbClr val="161A26"/>
          </a:solidFill>
          <a:ln w="12700">
            <a:miter lim="400000"/>
          </a:ln>
        </p:spPr>
        <p:txBody>
          <a:bodyPr lIns="45719" rIns="45719"/>
          <a:lstStyle/>
          <a:p>
            <a:pPr>
              <a:defRPr>
                <a:solidFill>
                  <a:srgbClr val="EEF0F4"/>
                </a:solidFill>
              </a:defRPr>
            </a:pPr>
          </a:p>
        </p:txBody>
      </p:sp>
      <p:sp>
        <p:nvSpPr>
          <p:cNvPr id="416" name="Text 3"/>
          <p:cNvSpPr txBox="1"/>
          <p:nvPr/>
        </p:nvSpPr>
        <p:spPr>
          <a:xfrm>
            <a:off x="1066799" y="2133550"/>
            <a:ext cx="415976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1"/>
                </a:solidFill>
              </a:defRPr>
            </a:lvl1pPr>
          </a:lstStyle>
          <a:p>
            <a:pPr/>
            <a:r>
              <a:t>PROMPT</a:t>
            </a:r>
          </a:p>
        </p:txBody>
      </p:sp>
      <p:sp>
        <p:nvSpPr>
          <p:cNvPr id="417" name="Text 4"/>
          <p:cNvSpPr txBox="1"/>
          <p:nvPr/>
        </p:nvSpPr>
        <p:spPr>
          <a:xfrm>
            <a:off x="1066799" y="2448471"/>
            <a:ext cx="4159760"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200">
                <a:solidFill>
                  <a:srgbClr val="EEF0F4"/>
                </a:solidFill>
                <a:latin typeface="JetBrains Mono"/>
                <a:ea typeface="JetBrains Mono"/>
                <a:cs typeface="JetBrains Mono"/>
                <a:sym typeface="JetBrains Mono"/>
              </a:defRPr>
            </a:lvl1pPr>
          </a:lstStyle>
          <a:p>
            <a:pPr/>
            <a:r>
              <a:t>Is src/SampleApp ready to open in a canvas?</a:t>
            </a:r>
          </a:p>
        </p:txBody>
      </p:sp>
      <p:sp>
        <p:nvSpPr>
          <p:cNvPr id="418" name="Text 5"/>
          <p:cNvSpPr txBox="1"/>
          <p:nvPr/>
        </p:nvSpPr>
        <p:spPr>
          <a:xfrm>
            <a:off x="1066799" y="3115221"/>
            <a:ext cx="415976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1"/>
                </a:solidFill>
              </a:defRPr>
            </a:lvl1pPr>
          </a:lstStyle>
          <a:p>
            <a:pPr/>
            <a:r>
              <a:t>QUÉ DEBERÍAS VER</a:t>
            </a:r>
          </a:p>
        </p:txBody>
      </p:sp>
      <p:sp>
        <p:nvSpPr>
          <p:cNvPr id="419" name="Text 6"/>
          <p:cNvSpPr txBox="1"/>
          <p:nvPr/>
        </p:nvSpPr>
        <p:spPr>
          <a:xfrm>
            <a:off x="1066799" y="3430141"/>
            <a:ext cx="4159760" cy="66536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EEF0F4"/>
                </a:solidFill>
              </a:defRPr>
            </a:lvl1pPr>
          </a:lstStyle>
          <a:p>
            <a:pPr/>
            <a:r>
              <a:t>El hook añade contexto al prompt, el agente llama a avalonia_project_info y responde canvasReady: true, Avalonia 11.3 y net8.0.</a:t>
            </a:r>
          </a:p>
        </p:txBody>
      </p:sp>
      <p:sp>
        <p:nvSpPr>
          <p:cNvPr id="420" name="Text 7"/>
          <p:cNvSpPr txBox="1"/>
          <p:nvPr/>
        </p:nvSpPr>
        <p:spPr>
          <a:xfrm>
            <a:off x="812800" y="4476501"/>
            <a:ext cx="4682998"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4A5263"/>
                </a:solidFill>
                <a:latin typeface="JetBrains Mono"/>
                <a:ea typeface="JetBrains Mono"/>
                <a:cs typeface="JetBrains Mono"/>
                <a:sym typeface="JetBrains Mono"/>
              </a:defRPr>
            </a:lvl1pPr>
          </a:lstStyle>
          <a:p>
            <a:pPr/>
            <a:r>
              <a:t>Proyecto: 07-extension</a:t>
            </a:r>
          </a:p>
        </p:txBody>
      </p:sp>
      <p:pic>
        <p:nvPicPr>
          <p:cNvPr id="421" name="Image 1" descr="Image 1"/>
          <p:cNvPicPr>
            <a:picLocks noChangeAspect="1"/>
          </p:cNvPicPr>
          <p:nvPr/>
        </p:nvPicPr>
        <p:blipFill>
          <a:blip r:embed="rId3">
            <a:extLst/>
          </a:blip>
          <a:srcRect l="0" t="0" r="0" b="0"/>
          <a:stretch>
            <a:fillRect/>
          </a:stretch>
        </p:blipFill>
        <p:spPr>
          <a:xfrm>
            <a:off x="5670550" y="1885900"/>
            <a:ext cx="5702300" cy="3429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440"/>
                </a:moveTo>
                <a:lnTo>
                  <a:pt x="21600" y="21160"/>
                </a:lnTo>
                <a:cubicBezTo>
                  <a:pt x="21600" y="21403"/>
                  <a:pt x="21482" y="21600"/>
                  <a:pt x="21335" y="21600"/>
                </a:cubicBezTo>
                <a:lnTo>
                  <a:pt x="265" y="21600"/>
                </a:lnTo>
                <a:cubicBezTo>
                  <a:pt x="118" y="21600"/>
                  <a:pt x="0" y="21403"/>
                  <a:pt x="0" y="21160"/>
                </a:cubicBezTo>
                <a:lnTo>
                  <a:pt x="0" y="440"/>
                </a:lnTo>
                <a:lnTo>
                  <a:pt x="1" y="395"/>
                </a:lnTo>
                <a:cubicBezTo>
                  <a:pt x="15" y="173"/>
                  <a:pt x="128" y="0"/>
                  <a:pt x="265" y="0"/>
                </a:cubicBezTo>
                <a:lnTo>
                  <a:pt x="21335" y="0"/>
                </a:lnTo>
                <a:cubicBezTo>
                  <a:pt x="21482" y="0"/>
                  <a:pt x="21600" y="197"/>
                  <a:pt x="21600" y="440"/>
                </a:cubicBezTo>
                <a:close/>
              </a:path>
            </a:pathLst>
          </a:custGeom>
          <a:ln w="12700">
            <a:miter lim="400000"/>
          </a:ln>
        </p:spPr>
      </p:pic>
      <p:sp>
        <p:nvSpPr>
          <p:cNvPr id="422" name="Shape 8"/>
          <p:cNvSpPr/>
          <p:nvPr/>
        </p:nvSpPr>
        <p:spPr>
          <a:xfrm>
            <a:off x="5667375" y="1882725"/>
            <a:ext cx="5708650" cy="3435351"/>
          </a:xfrm>
          <a:prstGeom prst="roundRect">
            <a:avLst>
              <a:gd name="adj" fmla="val 2126"/>
            </a:avLst>
          </a:prstGeom>
          <a:ln w="6350">
            <a:solidFill>
              <a:srgbClr val="D5D0C4"/>
            </a:solidFill>
          </a:ln>
        </p:spPr>
        <p:txBody>
          <a:bodyPr lIns="45719" rIns="45719"/>
          <a:lstStyle/>
          <a:p>
            <a:pPr>
              <a:defRPr>
                <a:solidFill>
                  <a:srgbClr val="EEF0F4"/>
                </a:solidFill>
              </a:defRPr>
            </a:pPr>
          </a:p>
        </p:txBody>
      </p:sp>
      <p:sp>
        <p:nvSpPr>
          <p:cNvPr id="423" name="Text 9"/>
          <p:cNvSpPr txBox="1"/>
          <p:nvPr/>
        </p:nvSpPr>
        <p:spPr>
          <a:xfrm>
            <a:off x="5664200" y="5397450"/>
            <a:ext cx="588645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C6470"/>
                </a:solidFill>
              </a:defRPr>
            </a:lvl1pPr>
          </a:lstStyle>
          <a:p>
            <a:pPr/>
            <a:r>
              <a:t>Captura real · una sola llamada a avalonia_project_info</a:t>
            </a:r>
          </a:p>
        </p:txBody>
      </p:sp>
      <p:sp>
        <p:nvSpPr>
          <p:cNvPr id="424" name="Text 10"/>
          <p:cNvSpPr txBox="1"/>
          <p:nvPr/>
        </p:nvSpPr>
        <p:spPr>
          <a:xfrm>
            <a:off x="812799" y="6238280"/>
            <a:ext cx="302782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C6470"/>
                </a:solidFill>
              </a:defRPr>
            </a:lvl1pPr>
          </a:lstStyle>
          <a:p>
            <a:pPr/>
            <a:r>
              <a:t>Extensibilidad de GitHub Copilot App</a:t>
            </a:r>
          </a:p>
        </p:txBody>
      </p:sp>
      <p:sp>
        <p:nvSpPr>
          <p:cNvPr id="425" name="Text 11"/>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rgbClr val="5C6470"/>
                </a:solidFill>
              </a:defRPr>
            </a:lvl1pPr>
          </a:lstStyle>
          <a:p>
            <a:pPr/>
            <a:r>
              <a:t>25</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9"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2"/>
                </a:solidFill>
              </a:defRPr>
            </a:lvl1pPr>
          </a:lstStyle>
          <a:p>
            <a:pPr/>
            <a:r>
              <a:t>PASO 7 · EXTENSIONES · DYNAMIC WORKFLOWS</a:t>
            </a:r>
          </a:p>
        </p:txBody>
      </p:sp>
      <p:sp>
        <p:nvSpPr>
          <p:cNvPr id="430" name="Text 1"/>
          <p:cNvSpPr txBox="1"/>
          <p:nvPr>
            <p:ph type="title"/>
          </p:nvPr>
        </p:nvSpPr>
        <p:spPr>
          <a:xfrm>
            <a:off x="812799" y="1127720"/>
            <a:ext cx="10883394" cy="472430"/>
          </a:xfrm>
          <a:prstGeom prst="rect">
            <a:avLst/>
          </a:prstGeom>
        </p:spPr>
        <p:txBody>
          <a:bodyPr/>
          <a:lstStyle>
            <a:lvl1pPr>
              <a:lnSpc>
                <a:spcPts val="3500"/>
              </a:lnSpc>
              <a:defRPr b="1"/>
            </a:lvl1pPr>
          </a:lstStyle>
          <a:p>
            <a:pPr/>
            <a:r>
              <a:t>La misma jerarquía, escrita en código</a:t>
            </a:r>
          </a:p>
        </p:txBody>
      </p:sp>
      <p:sp>
        <p:nvSpPr>
          <p:cNvPr id="431" name="Shape 2"/>
          <p:cNvSpPr/>
          <p:nvPr/>
        </p:nvSpPr>
        <p:spPr>
          <a:xfrm>
            <a:off x="815975" y="1831925"/>
            <a:ext cx="5175250" cy="3242270"/>
          </a:xfrm>
          <a:prstGeom prst="roundRect">
            <a:avLst>
              <a:gd name="adj" fmla="val 3036"/>
            </a:avLst>
          </a:prstGeom>
          <a:solidFill>
            <a:srgbClr val="1A2133"/>
          </a:solidFill>
          <a:ln w="6350">
            <a:solidFill>
              <a:srgbClr val="2B3550"/>
            </a:solidFill>
          </a:ln>
        </p:spPr>
        <p:txBody>
          <a:bodyPr lIns="45719" rIns="45719"/>
          <a:lstStyle/>
          <a:p>
            <a:pPr>
              <a:defRPr>
                <a:solidFill>
                  <a:srgbClr val="EEF0F4"/>
                </a:solidFill>
              </a:defRPr>
            </a:pPr>
          </a:p>
        </p:txBody>
      </p:sp>
      <p:sp>
        <p:nvSpPr>
          <p:cNvPr id="432" name="Text 3"/>
          <p:cNvSpPr txBox="1"/>
          <p:nvPr/>
        </p:nvSpPr>
        <p:spPr>
          <a:xfrm>
            <a:off x="1022350" y="2038300"/>
            <a:ext cx="4905375"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z="1200">
                <a:solidFill>
                  <a:schemeClr val="accent1"/>
                </a:solidFill>
              </a:defRPr>
            </a:lvl1pPr>
          </a:lstStyle>
          <a:p>
            <a:pPr/>
            <a:r>
              <a:t>Cada fase, un agente con su propio modelo</a:t>
            </a:r>
          </a:p>
        </p:txBody>
      </p:sp>
      <p:sp>
        <p:nvSpPr>
          <p:cNvPr id="433" name="Text 4"/>
          <p:cNvSpPr txBox="1"/>
          <p:nvPr/>
        </p:nvSpPr>
        <p:spPr>
          <a:xfrm>
            <a:off x="1022350" y="2353221"/>
            <a:ext cx="4905375" cy="25400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800"/>
              </a:lnSpc>
              <a:defRPr sz="1200">
                <a:solidFill>
                  <a:srgbClr val="D7DEEA"/>
                </a:solidFill>
                <a:latin typeface="JetBrains Mono"/>
                <a:ea typeface="JetBrains Mono"/>
                <a:cs typeface="JetBrains Mono"/>
                <a:sym typeface="JetBrains Mono"/>
              </a:defRPr>
            </a:pPr>
            <a:r>
              <a:t>ctx.phase(</a:t>
            </a:r>
            <a:r>
              <a:rPr>
                <a:solidFill>
                  <a:schemeClr val="accent1"/>
                </a:solidFill>
              </a:rPr>
              <a:t>"Plan"</a:t>
            </a:r>
            <a:r>
              <a:t>);</a:t>
            </a:r>
            <a:endParaRPr>
              <a:solidFill>
                <a:srgbClr val="EEF0F4"/>
              </a:solidFill>
            </a:endParaRPr>
          </a:p>
          <a:p>
            <a:pPr>
              <a:lnSpc>
                <a:spcPts val="1800"/>
              </a:lnSpc>
              <a:defRPr sz="1200">
                <a:solidFill>
                  <a:schemeClr val="accent2"/>
                </a:solidFill>
                <a:latin typeface="JetBrains Mono"/>
                <a:ea typeface="JetBrains Mono"/>
                <a:cs typeface="JetBrains Mono"/>
                <a:sym typeface="JetBrains Mono"/>
              </a:defRPr>
            </a:pPr>
            <a:r>
              <a:t>const</a:t>
            </a:r>
            <a:r>
              <a:rPr>
                <a:solidFill>
                  <a:srgbClr val="D7DEEA"/>
                </a:solidFill>
              </a:rPr>
              <a:t> plan = </a:t>
            </a:r>
            <a:r>
              <a:t>await</a:t>
            </a:r>
            <a:r>
              <a:rPr>
                <a:solidFill>
                  <a:srgbClr val="D7DEEA"/>
                </a:solidFill>
              </a:rPr>
              <a:t> ctx.agent(request,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 agent: </a:t>
            </a:r>
            <a:r>
              <a:rPr>
                <a:solidFill>
                  <a:schemeClr val="accent1"/>
                </a:solidFill>
              </a:rPr>
              <a:t>"planner"</a:t>
            </a:r>
            <a:r>
              <a:t>, label: </a:t>
            </a:r>
            <a:r>
              <a:rPr>
                <a:solidFill>
                  <a:schemeClr val="accent1"/>
                </a:solidFill>
              </a:rPr>
              <a:t>"plan"</a:t>
            </a:r>
            <a:r>
              <a:t> });</a:t>
            </a:r>
            <a:endParaRPr>
              <a:solidFill>
                <a:srgbClr val="EEF0F4"/>
              </a:solidFill>
            </a:endParaRPr>
          </a:p>
          <a:p>
            <a:pPr>
              <a:lnSpc>
                <a:spcPts val="1800"/>
              </a:lnSpc>
              <a:defRPr sz="1200">
                <a:solidFill>
                  <a:srgbClr val="EEF0F4"/>
                </a:solidFill>
              </a:defRPr>
            </a:pPr>
          </a:p>
          <a:p>
            <a:pPr>
              <a:lnSpc>
                <a:spcPts val="1800"/>
              </a:lnSpc>
              <a:defRPr sz="1200">
                <a:solidFill>
                  <a:srgbClr val="D7DEEA"/>
                </a:solidFill>
                <a:latin typeface="JetBrains Mono"/>
                <a:ea typeface="JetBrains Mono"/>
                <a:cs typeface="JetBrains Mono"/>
                <a:sym typeface="JetBrains Mono"/>
              </a:defRPr>
            </a:pPr>
            <a:r>
              <a:t>ctx.phase(</a:t>
            </a:r>
            <a:r>
              <a:rPr>
                <a:solidFill>
                  <a:schemeClr val="accent1"/>
                </a:solidFill>
              </a:rPr>
              <a:t>"Code"</a:t>
            </a:r>
            <a:r>
              <a:t>);</a:t>
            </a:r>
            <a:endParaRPr>
              <a:solidFill>
                <a:srgbClr val="EEF0F4"/>
              </a:solidFill>
            </a:endParaRPr>
          </a:p>
          <a:p>
            <a:pPr>
              <a:lnSpc>
                <a:spcPts val="1800"/>
              </a:lnSpc>
              <a:defRPr sz="1200">
                <a:solidFill>
                  <a:schemeClr val="accent2"/>
                </a:solidFill>
                <a:latin typeface="JetBrains Mono"/>
                <a:ea typeface="JetBrains Mono"/>
                <a:cs typeface="JetBrains Mono"/>
                <a:sym typeface="JetBrains Mono"/>
              </a:defRPr>
            </a:pPr>
            <a:r>
              <a:t>const</a:t>
            </a:r>
            <a:r>
              <a:rPr>
                <a:solidFill>
                  <a:srgbClr val="D7DEEA"/>
                </a:solidFill>
              </a:rPr>
              <a:t> report = </a:t>
            </a:r>
            <a:r>
              <a:t>await</a:t>
            </a:r>
            <a:r>
              <a:rPr>
                <a:solidFill>
                  <a:srgbClr val="D7DEEA"/>
                </a:solidFill>
              </a:rPr>
              <a:t> ctx.agent(assignment,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 agent: </a:t>
            </a:r>
            <a:r>
              <a:rPr>
                <a:solidFill>
                  <a:schemeClr val="accent1"/>
                </a:solidFill>
              </a:rPr>
              <a:t>"coder"</a:t>
            </a:r>
            <a:r>
              <a:t>, label: </a:t>
            </a:r>
            <a:r>
              <a:rPr>
                <a:solidFill>
                  <a:schemeClr val="accent1"/>
                </a:solidFill>
              </a:rPr>
              <a:t>"code"</a:t>
            </a:r>
            <a:r>
              <a:t> });</a:t>
            </a:r>
            <a:endParaRPr>
              <a:solidFill>
                <a:srgbClr val="EEF0F4"/>
              </a:solidFill>
            </a:endParaRPr>
          </a:p>
          <a:p>
            <a:pPr>
              <a:lnSpc>
                <a:spcPts val="1800"/>
              </a:lnSpc>
              <a:defRPr sz="1200">
                <a:solidFill>
                  <a:srgbClr val="EEF0F4"/>
                </a:solidFill>
              </a:defRPr>
            </a:pPr>
          </a:p>
          <a:p>
            <a:pPr>
              <a:lnSpc>
                <a:spcPts val="1800"/>
              </a:lnSpc>
              <a:defRPr sz="1200">
                <a:solidFill>
                  <a:srgbClr val="D7DEEA"/>
                </a:solidFill>
                <a:latin typeface="JetBrains Mono"/>
                <a:ea typeface="JetBrains Mono"/>
                <a:cs typeface="JetBrains Mono"/>
                <a:sym typeface="JetBrains Mono"/>
              </a:defRPr>
            </a:pPr>
            <a:r>
              <a:t>ctx.phase(</a:t>
            </a:r>
            <a:r>
              <a:rPr>
                <a:solidFill>
                  <a:schemeClr val="accent1"/>
                </a:solidFill>
              </a:rPr>
              <a:t>"Review"</a:t>
            </a:r>
            <a:r>
              <a:t>);</a:t>
            </a:r>
            <a:endParaRPr>
              <a:solidFill>
                <a:srgbClr val="EEF0F4"/>
              </a:solidFill>
            </a:endParaRPr>
          </a:p>
          <a:p>
            <a:pPr>
              <a:lnSpc>
                <a:spcPts val="1800"/>
              </a:lnSpc>
              <a:defRPr sz="1200">
                <a:solidFill>
                  <a:schemeClr val="accent2"/>
                </a:solidFill>
                <a:latin typeface="JetBrains Mono"/>
                <a:ea typeface="JetBrains Mono"/>
                <a:cs typeface="JetBrains Mono"/>
                <a:sym typeface="JetBrains Mono"/>
              </a:defRPr>
            </a:pPr>
            <a:r>
              <a:t>let</a:t>
            </a:r>
            <a:r>
              <a:rPr>
                <a:solidFill>
                  <a:srgbClr val="D7DEEA"/>
                </a:solidFill>
              </a:rPr>
              <a:t> verdict = </a:t>
            </a:r>
            <a:r>
              <a:t>await</a:t>
            </a:r>
            <a:r>
              <a:rPr>
                <a:solidFill>
                  <a:srgbClr val="D7DEEA"/>
                </a:solidFill>
              </a:rPr>
              <a:t> review(report);</a:t>
            </a:r>
            <a:endParaRPr>
              <a:solidFill>
                <a:srgbClr val="EEF0F4"/>
              </a:solidFill>
            </a:endParaRPr>
          </a:p>
          <a:p>
            <a:pPr>
              <a:lnSpc>
                <a:spcPts val="1800"/>
              </a:lnSpc>
              <a:defRPr sz="1200">
                <a:solidFill>
                  <a:schemeClr val="accent6"/>
                </a:solidFill>
                <a:latin typeface="JetBrains Mono"/>
                <a:ea typeface="JetBrains Mono"/>
                <a:cs typeface="JetBrains Mono"/>
                <a:sym typeface="JetBrains Mono"/>
              </a:defRPr>
            </a:pPr>
            <a:r>
              <a:t>// reviewer, with schema: { approved, issues }</a:t>
            </a:r>
          </a:p>
        </p:txBody>
      </p:sp>
      <p:sp>
        <p:nvSpPr>
          <p:cNvPr id="434" name="Shape 5"/>
          <p:cNvSpPr/>
          <p:nvPr/>
        </p:nvSpPr>
        <p:spPr>
          <a:xfrm>
            <a:off x="6200775" y="1831925"/>
            <a:ext cx="5175250" cy="3242270"/>
          </a:xfrm>
          <a:prstGeom prst="roundRect">
            <a:avLst>
              <a:gd name="adj" fmla="val 3036"/>
            </a:avLst>
          </a:prstGeom>
          <a:solidFill>
            <a:srgbClr val="1A2133"/>
          </a:solidFill>
          <a:ln w="6350">
            <a:solidFill>
              <a:srgbClr val="2B3550"/>
            </a:solidFill>
          </a:ln>
        </p:spPr>
        <p:txBody>
          <a:bodyPr lIns="45719" rIns="45719"/>
          <a:lstStyle/>
          <a:p>
            <a:pPr>
              <a:defRPr>
                <a:solidFill>
                  <a:srgbClr val="EEF0F4"/>
                </a:solidFill>
              </a:defRPr>
            </a:pPr>
          </a:p>
        </p:txBody>
      </p:sp>
      <p:sp>
        <p:nvSpPr>
          <p:cNvPr id="435" name="Text 6"/>
          <p:cNvSpPr txBox="1"/>
          <p:nvPr/>
        </p:nvSpPr>
        <p:spPr>
          <a:xfrm>
            <a:off x="6407150" y="2038300"/>
            <a:ext cx="4905375"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z="1200">
                <a:solidFill>
                  <a:schemeClr val="accent1"/>
                </a:solidFill>
              </a:defRPr>
            </a:lvl1pPr>
          </a:lstStyle>
          <a:p>
            <a:pPr/>
            <a:r>
              <a:t>Cascade: escalar solo si hace falta</a:t>
            </a:r>
          </a:p>
        </p:txBody>
      </p:sp>
      <p:sp>
        <p:nvSpPr>
          <p:cNvPr id="436" name="Text 7"/>
          <p:cNvSpPr txBox="1"/>
          <p:nvPr/>
        </p:nvSpPr>
        <p:spPr>
          <a:xfrm>
            <a:off x="6407150" y="2353221"/>
            <a:ext cx="4905375" cy="25400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800"/>
              </a:lnSpc>
              <a:defRPr sz="1200">
                <a:solidFill>
                  <a:schemeClr val="accent2"/>
                </a:solidFill>
                <a:latin typeface="JetBrains Mono"/>
                <a:ea typeface="JetBrains Mono"/>
                <a:cs typeface="JetBrains Mono"/>
                <a:sym typeface="JetBrains Mono"/>
              </a:defRPr>
            </a:pPr>
            <a:r>
              <a:t>if</a:t>
            </a:r>
            <a:r>
              <a:rPr>
                <a:solidFill>
                  <a:srgbClr val="D7DEEA"/>
                </a:solidFill>
              </a:rPr>
              <a:t> (!verdict.approved)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ctx.phase(</a:t>
            </a:r>
            <a:r>
              <a:rPr>
                <a:solidFill>
                  <a:schemeClr val="accent1"/>
                </a:solidFill>
              </a:rPr>
              <a:t>"Escalate"</a:t>
            </a:r>
            <a:r>
              <a: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fix = </a:t>
            </a:r>
            <a:r>
              <a:rPr>
                <a:solidFill>
                  <a:schemeClr val="accent2"/>
                </a:solidFill>
              </a:rPr>
              <a:t>await</a:t>
            </a:r>
            <a:r>
              <a:t> ctx.agent(correction,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agent: </a:t>
            </a:r>
            <a:r>
              <a:rPr>
                <a:solidFill>
                  <a:schemeClr val="accent1"/>
                </a:solidFill>
              </a:rPr>
              <a:t>"coder"</a:t>
            </a:r>
            <a:r>
              <a: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model: </a:t>
            </a:r>
            <a:r>
              <a:rPr>
                <a:solidFill>
                  <a:schemeClr val="accent1"/>
                </a:solidFill>
              </a:rPr>
              <a:t>"gpt-6-luna"</a:t>
            </a:r>
            <a:r>
              <a: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label: </a:t>
            </a:r>
            <a:r>
              <a:rPr>
                <a:solidFill>
                  <a:schemeClr val="accent1"/>
                </a:solidFill>
              </a:rPr>
              <a:t>"code-escalated"</a:t>
            </a:r>
            <a:r>
              <a: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verdict = </a:t>
            </a:r>
            <a:r>
              <a:rPr>
                <a:solidFill>
                  <a:schemeClr val="accent2"/>
                </a:solidFill>
              </a:rPr>
              <a:t>await</a:t>
            </a:r>
            <a:r>
              <a:t> review(fix);</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a:t>
            </a:r>
            <a:endParaRPr>
              <a:solidFill>
                <a:srgbClr val="EEF0F4"/>
              </a:solidFill>
            </a:endParaRPr>
          </a:p>
          <a:p>
            <a:pPr>
              <a:lnSpc>
                <a:spcPts val="1800"/>
              </a:lnSpc>
              <a:defRPr sz="1200">
                <a:solidFill>
                  <a:srgbClr val="EEF0F4"/>
                </a:solidFill>
              </a:defRPr>
            </a:pPr>
          </a:p>
          <a:p>
            <a:pPr>
              <a:lnSpc>
                <a:spcPts val="1800"/>
              </a:lnSpc>
              <a:defRPr sz="1200">
                <a:solidFill>
                  <a:schemeClr val="accent6"/>
                </a:solidFill>
                <a:latin typeface="JetBrains Mono"/>
                <a:ea typeface="JetBrains Mono"/>
                <a:cs typeface="JetBrains Mono"/>
                <a:sym typeface="JetBrains Mono"/>
              </a:defRPr>
            </a:pPr>
            <a:r>
              <a:t>// meta.limits: { maxTotalSubagents: 7 }</a:t>
            </a:r>
          </a:p>
        </p:txBody>
      </p:sp>
      <p:sp>
        <p:nvSpPr>
          <p:cNvPr id="437" name="Text 8"/>
          <p:cNvSpPr txBox="1"/>
          <p:nvPr/>
        </p:nvSpPr>
        <p:spPr>
          <a:xfrm>
            <a:off x="812800" y="6238280"/>
            <a:ext cx="5476577"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defRPr>
            </a:lvl1pPr>
          </a:lstStyle>
          <a:p>
            <a:pPr/>
            <a:r>
              <a:t>Extracto de .github/extensions/plan-code-review/extension.mjs</a:t>
            </a:r>
          </a:p>
        </p:txBody>
      </p:sp>
      <p:sp>
        <p:nvSpPr>
          <p:cNvPr id="438" name="Text 9"/>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chemeClr val="accent6"/>
                </a:solidFill>
              </a:defRPr>
            </a:lvl1pPr>
          </a:lstStyle>
          <a:p>
            <a:pPr/>
            <a:r>
              <a:t>26</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1EA"/>
        </a:solidFill>
      </p:bgPr>
    </p:bg>
    <p:spTree>
      <p:nvGrpSpPr>
        <p:cNvPr id="1" name=""/>
        <p:cNvGrpSpPr/>
        <p:nvPr/>
      </p:nvGrpSpPr>
      <p:grpSpPr>
        <a:xfrm>
          <a:off x="0" y="0"/>
          <a:ext cx="0" cy="0"/>
          <a:chOff x="0" y="0"/>
          <a:chExt cx="0" cy="0"/>
        </a:xfrm>
      </p:grpSpPr>
      <p:grpSp>
        <p:nvGrpSpPr>
          <p:cNvPr id="444" name="Text 0"/>
          <p:cNvGrpSpPr/>
          <p:nvPr/>
        </p:nvGrpSpPr>
        <p:grpSpPr>
          <a:xfrm>
            <a:off x="812800" y="812800"/>
            <a:ext cx="1000870" cy="314920"/>
            <a:chOff x="0" y="0"/>
            <a:chExt cx="1000869" cy="314919"/>
          </a:xfrm>
        </p:grpSpPr>
        <p:sp>
          <p:nvSpPr>
            <p:cNvPr id="442" name="Rounded Rectangle"/>
            <p:cNvSpPr/>
            <p:nvPr/>
          </p:nvSpPr>
          <p:spPr>
            <a:xfrm>
              <a:off x="0" y="0"/>
              <a:ext cx="1000870" cy="314920"/>
            </a:xfrm>
            <a:prstGeom prst="roundRect">
              <a:avLst>
                <a:gd name="adj" fmla="val 48393"/>
              </a:avLst>
            </a:prstGeom>
            <a:solidFill>
              <a:schemeClr val="accent1"/>
            </a:solidFill>
            <a:ln w="12700" cap="flat">
              <a:noFill/>
              <a:miter lim="400000"/>
            </a:ln>
            <a:effectLst/>
          </p:spPr>
          <p:txBody>
            <a:bodyPr wrap="square" lIns="45719" tIns="45719" rIns="45719" bIns="45719" numCol="1" anchor="ctr">
              <a:noAutofit/>
            </a:bodyPr>
            <a:lstStyle/>
            <a:p>
              <a:pPr algn="ctr">
                <a:lnSpc>
                  <a:spcPts val="1600"/>
                </a:lnSpc>
                <a:defRPr sz="1200">
                  <a:solidFill>
                    <a:srgbClr val="EEF0F4"/>
                  </a:solidFill>
                </a:defRPr>
              </a:pPr>
            </a:p>
          </p:txBody>
        </p:sp>
        <p:sp>
          <p:nvSpPr>
            <p:cNvPr id="443" name="DEMO 7B"/>
            <p:cNvSpPr txBox="1"/>
            <p:nvPr/>
          </p:nvSpPr>
          <p:spPr>
            <a:xfrm>
              <a:off x="102455" y="44636"/>
              <a:ext cx="795959" cy="225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normAutofit fontScale="100000" lnSpcReduction="0"/>
            </a:bodyPr>
            <a:lstStyle>
              <a:lvl1pPr algn="ctr">
                <a:lnSpc>
                  <a:spcPts val="1600"/>
                </a:lnSpc>
                <a:defRPr b="1" spc="100" sz="1200">
                  <a:solidFill>
                    <a:srgbClr val="161A26"/>
                  </a:solidFill>
                </a:defRPr>
              </a:lvl1pPr>
            </a:lstStyle>
            <a:p>
              <a:pPr/>
              <a:r>
                <a:t>DEMO 7B</a:t>
              </a:r>
            </a:p>
          </p:txBody>
        </p:sp>
      </p:grpSp>
      <p:sp>
        <p:nvSpPr>
          <p:cNvPr id="445" name="Text 1"/>
          <p:cNvSpPr txBox="1"/>
          <p:nvPr>
            <p:ph type="title"/>
          </p:nvPr>
        </p:nvSpPr>
        <p:spPr>
          <a:xfrm>
            <a:off x="812799" y="1229320"/>
            <a:ext cx="10883394" cy="472430"/>
          </a:xfrm>
          <a:prstGeom prst="rect">
            <a:avLst/>
          </a:prstGeom>
        </p:spPr>
        <p:txBody>
          <a:bodyPr/>
          <a:lstStyle>
            <a:lvl1pPr>
              <a:lnSpc>
                <a:spcPts val="3500"/>
              </a:lnSpc>
              <a:defRPr b="1">
                <a:solidFill>
                  <a:srgbClr val="161A26"/>
                </a:solidFill>
              </a:defRPr>
            </a:lvl1pPr>
          </a:lstStyle>
          <a:p>
            <a:pPr/>
            <a:r>
              <a:t>El workflow, fase a fase</a:t>
            </a:r>
          </a:p>
        </p:txBody>
      </p:sp>
      <p:sp>
        <p:nvSpPr>
          <p:cNvPr id="446" name="Shape 2"/>
          <p:cNvSpPr/>
          <p:nvPr/>
        </p:nvSpPr>
        <p:spPr>
          <a:xfrm>
            <a:off x="812800" y="1879550"/>
            <a:ext cx="4546600" cy="2901752"/>
          </a:xfrm>
          <a:prstGeom prst="roundRect">
            <a:avLst>
              <a:gd name="adj" fmla="val 3501"/>
            </a:avLst>
          </a:prstGeom>
          <a:solidFill>
            <a:srgbClr val="161A26"/>
          </a:solidFill>
          <a:ln w="12700">
            <a:miter lim="400000"/>
          </a:ln>
        </p:spPr>
        <p:txBody>
          <a:bodyPr lIns="45719" rIns="45719"/>
          <a:lstStyle/>
          <a:p>
            <a:pPr>
              <a:defRPr>
                <a:solidFill>
                  <a:srgbClr val="EEF0F4"/>
                </a:solidFill>
              </a:defRPr>
            </a:pPr>
          </a:p>
        </p:txBody>
      </p:sp>
      <p:sp>
        <p:nvSpPr>
          <p:cNvPr id="447" name="Text 3"/>
          <p:cNvSpPr txBox="1"/>
          <p:nvPr/>
        </p:nvSpPr>
        <p:spPr>
          <a:xfrm>
            <a:off x="1066799" y="2133550"/>
            <a:ext cx="415976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1"/>
                </a:solidFill>
              </a:defRPr>
            </a:lvl1pPr>
          </a:lstStyle>
          <a:p>
            <a:pPr/>
            <a:r>
              <a:t>PROMPT</a:t>
            </a:r>
          </a:p>
        </p:txBody>
      </p:sp>
      <p:sp>
        <p:nvSpPr>
          <p:cNvPr id="448" name="Text 4"/>
          <p:cNvSpPr txBox="1"/>
          <p:nvPr/>
        </p:nvSpPr>
        <p:spPr>
          <a:xfrm>
            <a:off x="1066799" y="2448471"/>
            <a:ext cx="4159760" cy="939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200">
                <a:solidFill>
                  <a:srgbClr val="EEF0F4"/>
                </a:solidFill>
                <a:latin typeface="JetBrains Mono"/>
                <a:ea typeface="JetBrains Mono"/>
                <a:cs typeface="JetBrains Mono"/>
                <a:sym typeface="JetBrains Mono"/>
              </a:defRPr>
            </a:lvl1pPr>
          </a:lstStyle>
          <a:p>
            <a:pPr/>
            <a:r>
              <a:t>Run the plan-code-review workflow with the task: add a Reset button next to SampleApp's counter that sets it to zero.</a:t>
            </a:r>
          </a:p>
        </p:txBody>
      </p:sp>
      <p:sp>
        <p:nvSpPr>
          <p:cNvPr id="449" name="Text 5"/>
          <p:cNvSpPr txBox="1"/>
          <p:nvPr/>
        </p:nvSpPr>
        <p:spPr>
          <a:xfrm>
            <a:off x="1066799" y="3572421"/>
            <a:ext cx="415976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1"/>
                </a:solidFill>
              </a:defRPr>
            </a:lvl1pPr>
          </a:lstStyle>
          <a:p>
            <a:pPr/>
            <a:r>
              <a:t>QUÉ DEBERÍAS VER</a:t>
            </a:r>
          </a:p>
        </p:txBody>
      </p:sp>
      <p:sp>
        <p:nvSpPr>
          <p:cNvPr id="450" name="Text 6"/>
          <p:cNvSpPr txBox="1"/>
          <p:nvPr/>
        </p:nvSpPr>
        <p:spPr>
          <a:xfrm>
            <a:off x="1066799" y="3887341"/>
            <a:ext cx="4159760" cy="66536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EEF0F4"/>
                </a:solidFill>
              </a:defRPr>
            </a:lvl1pPr>
          </a:lstStyle>
          <a:p>
            <a:pPr/>
            <a:r>
              <a:t>Una ejecución de plan-code-review y su resumen. El reviewer aprueba, así que Escalate se omite salvo que pida cambios.</a:t>
            </a:r>
          </a:p>
        </p:txBody>
      </p:sp>
      <p:sp>
        <p:nvSpPr>
          <p:cNvPr id="451" name="Text 7"/>
          <p:cNvSpPr txBox="1"/>
          <p:nvPr/>
        </p:nvSpPr>
        <p:spPr>
          <a:xfrm>
            <a:off x="812800" y="4933701"/>
            <a:ext cx="4682998" cy="4520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4A5263"/>
                </a:solidFill>
                <a:latin typeface="JetBrains Mono"/>
                <a:ea typeface="JetBrains Mono"/>
                <a:cs typeface="JetBrains Mono"/>
                <a:sym typeface="JetBrains Mono"/>
              </a:defRPr>
            </a:lvl1pPr>
          </a:lstStyle>
          <a:p>
            <a:pPr/>
            <a:r>
              <a:t>Proyecto: 07b-workflow · copilot workflow run plan-code-review</a:t>
            </a:r>
          </a:p>
        </p:txBody>
      </p:sp>
      <p:pic>
        <p:nvPicPr>
          <p:cNvPr id="452" name="Image 1" descr="Image 1"/>
          <p:cNvPicPr>
            <a:picLocks noChangeAspect="1"/>
          </p:cNvPicPr>
          <p:nvPr/>
        </p:nvPicPr>
        <p:blipFill>
          <a:blip r:embed="rId3">
            <a:extLst/>
          </a:blip>
          <a:srcRect l="0" t="0" r="0" b="0"/>
          <a:stretch>
            <a:fillRect/>
          </a:stretch>
        </p:blipFill>
        <p:spPr>
          <a:xfrm>
            <a:off x="5670550" y="1885900"/>
            <a:ext cx="5702300" cy="3429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440"/>
                </a:moveTo>
                <a:lnTo>
                  <a:pt x="21600" y="21160"/>
                </a:lnTo>
                <a:cubicBezTo>
                  <a:pt x="21600" y="21403"/>
                  <a:pt x="21482" y="21600"/>
                  <a:pt x="21335" y="21600"/>
                </a:cubicBezTo>
                <a:lnTo>
                  <a:pt x="265" y="21600"/>
                </a:lnTo>
                <a:cubicBezTo>
                  <a:pt x="118" y="21600"/>
                  <a:pt x="0" y="21403"/>
                  <a:pt x="0" y="21160"/>
                </a:cubicBezTo>
                <a:lnTo>
                  <a:pt x="0" y="440"/>
                </a:lnTo>
                <a:lnTo>
                  <a:pt x="1" y="395"/>
                </a:lnTo>
                <a:cubicBezTo>
                  <a:pt x="15" y="173"/>
                  <a:pt x="128" y="0"/>
                  <a:pt x="265" y="0"/>
                </a:cubicBezTo>
                <a:lnTo>
                  <a:pt x="21335" y="0"/>
                </a:lnTo>
                <a:cubicBezTo>
                  <a:pt x="21482" y="0"/>
                  <a:pt x="21600" y="197"/>
                  <a:pt x="21600" y="440"/>
                </a:cubicBezTo>
                <a:close/>
              </a:path>
            </a:pathLst>
          </a:custGeom>
          <a:ln w="12700">
            <a:miter lim="400000"/>
          </a:ln>
        </p:spPr>
      </p:pic>
      <p:sp>
        <p:nvSpPr>
          <p:cNvPr id="453" name="Shape 8"/>
          <p:cNvSpPr/>
          <p:nvPr/>
        </p:nvSpPr>
        <p:spPr>
          <a:xfrm>
            <a:off x="5667375" y="1882725"/>
            <a:ext cx="5708650" cy="3435351"/>
          </a:xfrm>
          <a:prstGeom prst="roundRect">
            <a:avLst>
              <a:gd name="adj" fmla="val 2126"/>
            </a:avLst>
          </a:prstGeom>
          <a:ln w="6350">
            <a:solidFill>
              <a:srgbClr val="D5D0C4"/>
            </a:solidFill>
          </a:ln>
        </p:spPr>
        <p:txBody>
          <a:bodyPr lIns="45719" rIns="45719"/>
          <a:lstStyle/>
          <a:p>
            <a:pPr>
              <a:defRPr>
                <a:solidFill>
                  <a:srgbClr val="EEF0F4"/>
                </a:solidFill>
              </a:defRPr>
            </a:pPr>
          </a:p>
        </p:txBody>
      </p:sp>
      <p:sp>
        <p:nvSpPr>
          <p:cNvPr id="454" name="Text 9"/>
          <p:cNvSpPr txBox="1"/>
          <p:nvPr/>
        </p:nvSpPr>
        <p:spPr>
          <a:xfrm>
            <a:off x="5664200" y="5397450"/>
            <a:ext cx="588645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C6470"/>
                </a:solidFill>
              </a:defRPr>
            </a:lvl1pPr>
          </a:lstStyle>
          <a:p>
            <a:pPr/>
            <a:r>
              <a:t>Captura real · plan-code-review completado en 2 minutos, sin escalado</a:t>
            </a:r>
          </a:p>
        </p:txBody>
      </p:sp>
      <p:sp>
        <p:nvSpPr>
          <p:cNvPr id="455" name="Text 10"/>
          <p:cNvSpPr txBox="1"/>
          <p:nvPr/>
        </p:nvSpPr>
        <p:spPr>
          <a:xfrm>
            <a:off x="812799" y="6238280"/>
            <a:ext cx="302782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C6470"/>
                </a:solidFill>
              </a:defRPr>
            </a:lvl1pPr>
          </a:lstStyle>
          <a:p>
            <a:pPr/>
            <a:r>
              <a:t>Extensibilidad de GitHub Copilot App</a:t>
            </a:r>
          </a:p>
        </p:txBody>
      </p:sp>
      <p:sp>
        <p:nvSpPr>
          <p:cNvPr id="456" name="Text 11"/>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rgbClr val="5C6470"/>
                </a:solidFill>
              </a:defRPr>
            </a:lvl1pPr>
          </a:lstStyle>
          <a:p>
            <a:pPr/>
            <a:r>
              <a:t>27</a:t>
            </a: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0"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2"/>
                </a:solidFill>
              </a:defRPr>
            </a:lvl1pPr>
          </a:lstStyle>
          <a:p>
            <a:pPr/>
            <a:r>
              <a:t>PASO 8 · CANVAS</a:t>
            </a:r>
          </a:p>
        </p:txBody>
      </p:sp>
      <p:sp>
        <p:nvSpPr>
          <p:cNvPr id="461" name="Text 1"/>
          <p:cNvSpPr txBox="1"/>
          <p:nvPr>
            <p:ph type="title"/>
          </p:nvPr>
        </p:nvSpPr>
        <p:spPr>
          <a:xfrm>
            <a:off x="812799" y="1127720"/>
            <a:ext cx="10883394" cy="472430"/>
          </a:xfrm>
          <a:prstGeom prst="rect">
            <a:avLst/>
          </a:prstGeom>
        </p:spPr>
        <p:txBody>
          <a:bodyPr/>
          <a:lstStyle>
            <a:lvl1pPr>
              <a:lnSpc>
                <a:spcPts val="3500"/>
              </a:lnSpc>
              <a:defRPr b="1"/>
            </a:lvl1pPr>
          </a:lstStyle>
          <a:p>
            <a:pPr/>
            <a:r>
              <a:t>Estado compartido entre persona y agente</a:t>
            </a:r>
          </a:p>
        </p:txBody>
      </p:sp>
      <p:sp>
        <p:nvSpPr>
          <p:cNvPr id="462" name="Shape 2"/>
          <p:cNvSpPr/>
          <p:nvPr/>
        </p:nvSpPr>
        <p:spPr>
          <a:xfrm>
            <a:off x="815975" y="2016075"/>
            <a:ext cx="3075484" cy="1327151"/>
          </a:xfrm>
          <a:prstGeom prst="roundRect">
            <a:avLst>
              <a:gd name="adj" fmla="val 7416"/>
            </a:avLst>
          </a:prstGeom>
          <a:solidFill>
            <a:srgbClr val="1A2133"/>
          </a:solidFill>
          <a:ln w="6350">
            <a:solidFill>
              <a:srgbClr val="2B3550"/>
            </a:solidFill>
          </a:ln>
        </p:spPr>
        <p:txBody>
          <a:bodyPr lIns="45719" rIns="45719"/>
          <a:lstStyle/>
          <a:p>
            <a:pPr>
              <a:defRPr>
                <a:solidFill>
                  <a:srgbClr val="EEF0F4"/>
                </a:solidFill>
              </a:defRPr>
            </a:pPr>
          </a:p>
        </p:txBody>
      </p:sp>
      <p:sp>
        <p:nvSpPr>
          <p:cNvPr id="463" name="Text 3"/>
          <p:cNvSpPr txBox="1"/>
          <p:nvPr/>
        </p:nvSpPr>
        <p:spPr>
          <a:xfrm>
            <a:off x="1022349" y="2222450"/>
            <a:ext cx="2742618"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b="1" sz="2000">
                <a:solidFill>
                  <a:srgbClr val="EEF0F4"/>
                </a:solidFill>
                <a:latin typeface="Space Grotesk"/>
                <a:ea typeface="Space Grotesk"/>
                <a:cs typeface="Space Grotesk"/>
                <a:sym typeface="Space Grotesk"/>
              </a:defRPr>
            </a:lvl1pPr>
          </a:lstStyle>
          <a:p>
            <a:pPr/>
            <a:r>
              <a:t>Persona</a:t>
            </a:r>
          </a:p>
        </p:txBody>
      </p:sp>
      <p:sp>
        <p:nvSpPr>
          <p:cNvPr id="464" name="Text 4"/>
          <p:cNvSpPr txBox="1"/>
          <p:nvPr/>
        </p:nvSpPr>
        <p:spPr>
          <a:xfrm>
            <a:off x="1022349" y="2603450"/>
            <a:ext cx="2742618"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Ve y edita una interfaz web en el panel lateral de la app.</a:t>
            </a:r>
          </a:p>
        </p:txBody>
      </p:sp>
      <p:pic>
        <p:nvPicPr>
          <p:cNvPr id="465" name="Image 0" descr="Image 0"/>
          <p:cNvPicPr>
            <a:picLocks noChangeAspect="1"/>
          </p:cNvPicPr>
          <p:nvPr/>
        </p:nvPicPr>
        <p:blipFill>
          <a:blip r:embed="rId3">
            <a:extLst/>
          </a:blip>
          <a:stretch>
            <a:fillRect/>
          </a:stretch>
        </p:blipFill>
        <p:spPr>
          <a:xfrm>
            <a:off x="3996233" y="2641550"/>
            <a:ext cx="457201" cy="76201"/>
          </a:xfrm>
          <a:prstGeom prst="rect">
            <a:avLst/>
          </a:prstGeom>
          <a:ln w="12700">
            <a:miter lim="400000"/>
          </a:ln>
        </p:spPr>
      </p:pic>
      <p:sp>
        <p:nvSpPr>
          <p:cNvPr id="466" name="Shape 5"/>
          <p:cNvSpPr/>
          <p:nvPr/>
        </p:nvSpPr>
        <p:spPr>
          <a:xfrm>
            <a:off x="4558208" y="1882725"/>
            <a:ext cx="3075534" cy="1593851"/>
          </a:xfrm>
          <a:prstGeom prst="roundRect">
            <a:avLst>
              <a:gd name="adj" fmla="val 6175"/>
            </a:avLst>
          </a:prstGeom>
          <a:solidFill>
            <a:srgbClr val="1A2133"/>
          </a:solidFill>
          <a:ln w="6350">
            <a:solidFill>
              <a:schemeClr val="accent2"/>
            </a:solidFill>
          </a:ln>
        </p:spPr>
        <p:txBody>
          <a:bodyPr lIns="45719" rIns="45719"/>
          <a:lstStyle/>
          <a:p>
            <a:pPr>
              <a:defRPr>
                <a:solidFill>
                  <a:srgbClr val="EEF0F4"/>
                </a:solidFill>
              </a:defRPr>
            </a:pPr>
          </a:p>
        </p:txBody>
      </p:sp>
      <p:sp>
        <p:nvSpPr>
          <p:cNvPr id="467" name="Text 6"/>
          <p:cNvSpPr txBox="1"/>
          <p:nvPr/>
        </p:nvSpPr>
        <p:spPr>
          <a:xfrm>
            <a:off x="4764583" y="2089100"/>
            <a:ext cx="2742669"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b="1" sz="2000">
                <a:solidFill>
                  <a:schemeClr val="accent2"/>
                </a:solidFill>
                <a:latin typeface="Space Grotesk"/>
                <a:ea typeface="Space Grotesk"/>
                <a:cs typeface="Space Grotesk"/>
                <a:sym typeface="Space Grotesk"/>
              </a:defRPr>
            </a:lvl1pPr>
          </a:lstStyle>
          <a:p>
            <a:pPr/>
            <a:r>
              <a:t>Canvas</a:t>
            </a:r>
          </a:p>
        </p:txBody>
      </p:sp>
      <p:sp>
        <p:nvSpPr>
          <p:cNvPr id="468" name="Text 7"/>
          <p:cNvSpPr txBox="1"/>
          <p:nvPr/>
        </p:nvSpPr>
        <p:spPr>
          <a:xfrm>
            <a:off x="4764583" y="2470100"/>
            <a:ext cx="2742669" cy="8255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El estado vive en el proceso de la extensión. La interfaz es una página en 127.0.0.1.</a:t>
            </a:r>
          </a:p>
        </p:txBody>
      </p:sp>
      <p:pic>
        <p:nvPicPr>
          <p:cNvPr id="469" name="Image 1" descr="Image 1"/>
          <p:cNvPicPr>
            <a:picLocks noChangeAspect="1"/>
          </p:cNvPicPr>
          <p:nvPr/>
        </p:nvPicPr>
        <p:blipFill>
          <a:blip r:embed="rId3">
            <a:extLst/>
          </a:blip>
          <a:stretch>
            <a:fillRect/>
          </a:stretch>
        </p:blipFill>
        <p:spPr>
          <a:xfrm>
            <a:off x="7738516" y="2641550"/>
            <a:ext cx="457201" cy="76201"/>
          </a:xfrm>
          <a:prstGeom prst="rect">
            <a:avLst/>
          </a:prstGeom>
          <a:ln w="12700">
            <a:miter lim="400000"/>
          </a:ln>
        </p:spPr>
      </p:pic>
      <p:sp>
        <p:nvSpPr>
          <p:cNvPr id="470" name="Shape 8"/>
          <p:cNvSpPr/>
          <p:nvPr/>
        </p:nvSpPr>
        <p:spPr>
          <a:xfrm>
            <a:off x="8300491" y="1882725"/>
            <a:ext cx="3075534" cy="1593851"/>
          </a:xfrm>
          <a:prstGeom prst="roundRect">
            <a:avLst>
              <a:gd name="adj" fmla="val 6175"/>
            </a:avLst>
          </a:prstGeom>
          <a:solidFill>
            <a:srgbClr val="1A2133"/>
          </a:solidFill>
          <a:ln w="6350">
            <a:solidFill>
              <a:srgbClr val="2B3550"/>
            </a:solidFill>
          </a:ln>
        </p:spPr>
        <p:txBody>
          <a:bodyPr lIns="45719" rIns="45719"/>
          <a:lstStyle/>
          <a:p>
            <a:pPr>
              <a:defRPr>
                <a:solidFill>
                  <a:srgbClr val="EEF0F4"/>
                </a:solidFill>
              </a:defRPr>
            </a:pPr>
          </a:p>
        </p:txBody>
      </p:sp>
      <p:sp>
        <p:nvSpPr>
          <p:cNvPr id="471" name="Text 9"/>
          <p:cNvSpPr txBox="1"/>
          <p:nvPr/>
        </p:nvSpPr>
        <p:spPr>
          <a:xfrm>
            <a:off x="8506866" y="2089100"/>
            <a:ext cx="2742668"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b="1" sz="2000">
                <a:solidFill>
                  <a:srgbClr val="EEF0F4"/>
                </a:solidFill>
                <a:latin typeface="Space Grotesk"/>
                <a:ea typeface="Space Grotesk"/>
                <a:cs typeface="Space Grotesk"/>
                <a:sym typeface="Space Grotesk"/>
              </a:defRPr>
            </a:lvl1pPr>
          </a:lstStyle>
          <a:p>
            <a:pPr/>
            <a:r>
              <a:t>Agente</a:t>
            </a:r>
          </a:p>
        </p:txBody>
      </p:sp>
      <p:sp>
        <p:nvSpPr>
          <p:cNvPr id="472" name="Text 10"/>
          <p:cNvSpPr txBox="1"/>
          <p:nvPr/>
        </p:nvSpPr>
        <p:spPr>
          <a:xfrm>
            <a:off x="8506866" y="2470100"/>
            <a:ext cx="2742668" cy="8255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Usa open_canvas, list_canvas_capabilities e invoke_canvas_action.</a:t>
            </a:r>
          </a:p>
        </p:txBody>
      </p:sp>
      <p:sp>
        <p:nvSpPr>
          <p:cNvPr id="473" name="Text 11"/>
          <p:cNvSpPr txBox="1"/>
          <p:nvPr/>
        </p:nvSpPr>
        <p:spPr>
          <a:xfrm>
            <a:off x="812799" y="3784550"/>
            <a:ext cx="108833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EEF0F4"/>
                </a:solidFill>
              </a:defRPr>
            </a:lvl1pPr>
          </a:lstStyle>
          <a:p>
            <a:pPr/>
            <a:r>
              <a:t>Créalo con /create-canvas, que escribe la extensión por ti, o a mano con createCanvas. Awesome GitHub Copilot tiene un catálogo de canvas listos para instalar.</a:t>
            </a:r>
          </a:p>
        </p:txBody>
      </p:sp>
      <p:sp>
        <p:nvSpPr>
          <p:cNvPr id="474" name="Text 12"/>
          <p:cNvSpPr txBox="1"/>
          <p:nvPr/>
        </p:nvSpPr>
        <p:spPr>
          <a:xfrm>
            <a:off x="812799" y="6238280"/>
            <a:ext cx="302782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defRPr>
            </a:lvl1pPr>
          </a:lstStyle>
          <a:p>
            <a:pPr/>
            <a:r>
              <a:t>Extensibilidad de GitHub Copilot App</a:t>
            </a:r>
          </a:p>
        </p:txBody>
      </p:sp>
      <p:sp>
        <p:nvSpPr>
          <p:cNvPr id="475" name="Text 13"/>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chemeClr val="accent6"/>
                </a:solidFill>
              </a:defRPr>
            </a:lvl1pPr>
          </a:lstStyle>
          <a:p>
            <a:pPr/>
            <a:r>
              <a:t>28</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9"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2"/>
                </a:solidFill>
              </a:defRPr>
            </a:lvl1pPr>
          </a:lstStyle>
          <a:p>
            <a:pPr/>
            <a:r>
              <a:t>PASO 8 · CANVAS</a:t>
            </a:r>
          </a:p>
        </p:txBody>
      </p:sp>
      <p:sp>
        <p:nvSpPr>
          <p:cNvPr id="480" name="Text 1"/>
          <p:cNvSpPr txBox="1"/>
          <p:nvPr>
            <p:ph type="title"/>
          </p:nvPr>
        </p:nvSpPr>
        <p:spPr>
          <a:xfrm>
            <a:off x="812799" y="1127720"/>
            <a:ext cx="10883394" cy="472430"/>
          </a:xfrm>
          <a:prstGeom prst="rect">
            <a:avLst/>
          </a:prstGeom>
        </p:spPr>
        <p:txBody>
          <a:bodyPr/>
          <a:lstStyle>
            <a:lvl1pPr>
              <a:lnSpc>
                <a:spcPts val="3500"/>
              </a:lnSpc>
              <a:defRPr b="1"/>
            </a:lvl1pPr>
          </a:lstStyle>
          <a:p>
            <a:pPr/>
            <a:r>
              <a:t>createCanvas: abrir, actuar y cerrar</a:t>
            </a:r>
          </a:p>
        </p:txBody>
      </p:sp>
      <p:sp>
        <p:nvSpPr>
          <p:cNvPr id="481" name="Shape 2"/>
          <p:cNvSpPr/>
          <p:nvPr/>
        </p:nvSpPr>
        <p:spPr>
          <a:xfrm>
            <a:off x="815975" y="1781125"/>
            <a:ext cx="5175250" cy="3242270"/>
          </a:xfrm>
          <a:prstGeom prst="roundRect">
            <a:avLst>
              <a:gd name="adj" fmla="val 3036"/>
            </a:avLst>
          </a:prstGeom>
          <a:solidFill>
            <a:srgbClr val="1A2133"/>
          </a:solidFill>
          <a:ln w="6350">
            <a:solidFill>
              <a:srgbClr val="2B3550"/>
            </a:solidFill>
          </a:ln>
        </p:spPr>
        <p:txBody>
          <a:bodyPr lIns="45719" rIns="45719"/>
          <a:lstStyle/>
          <a:p>
            <a:pPr>
              <a:defRPr>
                <a:solidFill>
                  <a:srgbClr val="EEF0F4"/>
                </a:solidFill>
              </a:defRPr>
            </a:pPr>
          </a:p>
        </p:txBody>
      </p:sp>
      <p:sp>
        <p:nvSpPr>
          <p:cNvPr id="482" name="Text 3"/>
          <p:cNvSpPr txBox="1"/>
          <p:nvPr/>
        </p:nvSpPr>
        <p:spPr>
          <a:xfrm>
            <a:off x="1022350" y="1987500"/>
            <a:ext cx="4905375"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z="1200">
                <a:solidFill>
                  <a:schemeClr val="accent1"/>
                </a:solidFill>
              </a:defRPr>
            </a:lvl1pPr>
          </a:lstStyle>
          <a:p>
            <a:pPr/>
            <a:r>
              <a:t>El canvas: acciones, URL y limpieza</a:t>
            </a:r>
          </a:p>
        </p:txBody>
      </p:sp>
      <p:sp>
        <p:nvSpPr>
          <p:cNvPr id="483" name="Text 4"/>
          <p:cNvSpPr txBox="1"/>
          <p:nvPr/>
        </p:nvSpPr>
        <p:spPr>
          <a:xfrm>
            <a:off x="1022350" y="2302421"/>
            <a:ext cx="4905375" cy="25400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800"/>
              </a:lnSpc>
              <a:defRPr sz="1200">
                <a:solidFill>
                  <a:schemeClr val="accent2"/>
                </a:solidFill>
                <a:latin typeface="JetBrains Mono"/>
                <a:ea typeface="JetBrains Mono"/>
                <a:cs typeface="JetBrains Mono"/>
                <a:sym typeface="JetBrains Mono"/>
              </a:defRPr>
            </a:pPr>
            <a:r>
              <a:t>const</a:t>
            </a:r>
            <a:r>
              <a:rPr>
                <a:solidFill>
                  <a:srgbClr val="D7DEEA"/>
                </a:solidFill>
              </a:rPr>
              <a:t> canvas = createCanvas({</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id: </a:t>
            </a:r>
            <a:r>
              <a:rPr>
                <a:solidFill>
                  <a:schemeClr val="accent1"/>
                </a:solidFill>
              </a:rPr>
              <a:t>"ui-test-plan"</a:t>
            </a:r>
            <a:r>
              <a: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description: </a:t>
            </a:r>
            <a:r>
              <a:rPr>
                <a:solidFill>
                  <a:schemeClr val="accent1"/>
                </a:solidFill>
              </a:rPr>
              <a:t>"Shared list of UI test cases."</a:t>
            </a:r>
            <a:r>
              <a: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actions: [{ name: </a:t>
            </a:r>
            <a:r>
              <a:rPr>
                <a:solidFill>
                  <a:schemeClr val="accent1"/>
                </a:solidFill>
              </a:rPr>
              <a:t>"set_status"</a:t>
            </a:r>
            <a:r>
              <a: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inputSchema: { </a:t>
            </a:r>
            <a:r>
              <a:rPr>
                <a:solidFill>
                  <a:schemeClr val="accent6"/>
                </a:solidFill>
              </a:rPr>
              <a:t>/* id, status, note */</a:t>
            </a:r>
            <a:r>
              <a:t>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handler: (ctx) =&gt; setStatus(ctx)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open: async (ctx) =&gt; ({ title,</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url: `http://127.0.0.1:${port}/${token}/`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onClose: async (ctx) =&gt; { </a:t>
            </a:r>
            <a:r>
              <a:rPr>
                <a:solidFill>
                  <a:schemeClr val="accent6"/>
                </a:solidFill>
              </a:rPr>
              <a:t>/* close */</a:t>
            </a:r>
            <a:r>
              <a:t>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a:t>
            </a:r>
            <a:endParaRPr>
              <a:solidFill>
                <a:srgbClr val="EEF0F4"/>
              </a:solidFill>
            </a:endParaRPr>
          </a:p>
          <a:p>
            <a:pPr>
              <a:lnSpc>
                <a:spcPts val="1800"/>
              </a:lnSpc>
              <a:defRPr sz="1200">
                <a:solidFill>
                  <a:schemeClr val="accent2"/>
                </a:solidFill>
                <a:latin typeface="JetBrains Mono"/>
                <a:ea typeface="JetBrains Mono"/>
                <a:cs typeface="JetBrains Mono"/>
                <a:sym typeface="JetBrains Mono"/>
              </a:defRPr>
            </a:pPr>
            <a:r>
              <a:t>await</a:t>
            </a:r>
            <a:r>
              <a:rPr>
                <a:solidFill>
                  <a:srgbClr val="D7DEEA"/>
                </a:solidFill>
              </a:rPr>
              <a:t> joinSession({ canvases: [canvas] });</a:t>
            </a:r>
          </a:p>
        </p:txBody>
      </p:sp>
      <p:sp>
        <p:nvSpPr>
          <p:cNvPr id="484" name="Shape 5"/>
          <p:cNvSpPr/>
          <p:nvPr/>
        </p:nvSpPr>
        <p:spPr>
          <a:xfrm>
            <a:off x="6200775" y="1781125"/>
            <a:ext cx="5175250" cy="3242270"/>
          </a:xfrm>
          <a:prstGeom prst="roundRect">
            <a:avLst>
              <a:gd name="adj" fmla="val 3036"/>
            </a:avLst>
          </a:prstGeom>
          <a:solidFill>
            <a:srgbClr val="1A2133"/>
          </a:solidFill>
          <a:ln w="6350">
            <a:solidFill>
              <a:srgbClr val="2B3550"/>
            </a:solidFill>
          </a:ln>
        </p:spPr>
        <p:txBody>
          <a:bodyPr lIns="45719" rIns="45719"/>
          <a:lstStyle/>
          <a:p>
            <a:pPr>
              <a:defRPr>
                <a:solidFill>
                  <a:srgbClr val="EEF0F4"/>
                </a:solidFill>
              </a:defRPr>
            </a:pPr>
          </a:p>
        </p:txBody>
      </p:sp>
      <p:sp>
        <p:nvSpPr>
          <p:cNvPr id="485" name="Text 6"/>
          <p:cNvSpPr txBox="1"/>
          <p:nvPr/>
        </p:nvSpPr>
        <p:spPr>
          <a:xfrm>
            <a:off x="6407150" y="1987500"/>
            <a:ext cx="4905375"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z="1200">
                <a:solidFill>
                  <a:schemeClr val="accent1"/>
                </a:solidFill>
              </a:defRPr>
            </a:lvl1pPr>
          </a:lstStyle>
          <a:p>
            <a:pPr/>
            <a:r>
              <a:t>Un botón de la página le pide trabajo al agente</a:t>
            </a:r>
          </a:p>
        </p:txBody>
      </p:sp>
      <p:sp>
        <p:nvSpPr>
          <p:cNvPr id="486" name="Text 7"/>
          <p:cNvSpPr txBox="1"/>
          <p:nvPr/>
        </p:nvSpPr>
        <p:spPr>
          <a:xfrm>
            <a:off x="6407150" y="2302421"/>
            <a:ext cx="4905375" cy="25400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800"/>
              </a:lnSpc>
              <a:defRPr sz="1200">
                <a:solidFill>
                  <a:schemeClr val="accent2"/>
                </a:solidFill>
                <a:latin typeface="JetBrains Mono"/>
                <a:ea typeface="JetBrains Mono"/>
                <a:cs typeface="JetBrains Mono"/>
                <a:sym typeface="JetBrains Mono"/>
              </a:defRPr>
            </a:pPr>
            <a:r>
              <a:t>const</a:t>
            </a:r>
            <a:r>
              <a:rPr>
                <a:solidFill>
                  <a:srgbClr val="D7DEEA"/>
                </a:solidFill>
              </a:rPr>
              <a:t> token = randomBytes(18).toString("hex");</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server.listen(0, </a:t>
            </a:r>
            <a:r>
              <a:rPr>
                <a:solidFill>
                  <a:schemeClr val="accent1"/>
                </a:solidFill>
              </a:rPr>
              <a:t>"127.0.0.1"</a:t>
            </a:r>
            <a:r>
              <a:t>); </a:t>
            </a:r>
            <a:r>
              <a:rPr>
                <a:solidFill>
                  <a:schemeClr val="accent6"/>
                </a:solidFill>
              </a:rPr>
              <a:t>// loopback only</a:t>
            </a:r>
            <a:endParaRPr>
              <a:solidFill>
                <a:srgbClr val="EEF0F4"/>
              </a:solidFill>
            </a:endParaRPr>
          </a:p>
          <a:p>
            <a:pPr>
              <a:lnSpc>
                <a:spcPts val="1800"/>
              </a:lnSpc>
              <a:defRPr sz="1200">
                <a:solidFill>
                  <a:schemeClr val="accent2"/>
                </a:solidFill>
                <a:latin typeface="JetBrains Mono"/>
                <a:ea typeface="JetBrains Mono"/>
                <a:cs typeface="JetBrains Mono"/>
                <a:sym typeface="JetBrains Mono"/>
              </a:defRPr>
            </a:pPr>
            <a:r>
              <a:t>if</a:t>
            </a:r>
            <a:r>
              <a:rPr>
                <a:solidFill>
                  <a:srgbClr val="D7DEEA"/>
                </a:solidFill>
              </a:rPr>
              <a:t> (route === </a:t>
            </a:r>
            <a:r>
              <a:rPr>
                <a:solidFill>
                  <a:schemeClr val="accent1"/>
                </a:solidFill>
              </a:rPr>
              <a:t>"run"</a:t>
            </a:r>
            <a:r>
              <a:rPr>
                <a:solidFill>
                  <a:srgbClr val="D7DEEA"/>
                </a:solidFill>
              </a:rPr>
              <a:t>)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a:t>
            </a:r>
            <a:r>
              <a:rPr>
                <a:solidFill>
                  <a:schemeClr val="accent6"/>
                </a:solidFill>
              </a:rPr>
              <a:t>// The UI doesn't do the work: it asks for it.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await session.send({</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prompt: </a:t>
            </a:r>
            <a:r>
              <a:rPr>
                <a:solidFill>
                  <a:schemeClr val="accent1"/>
                </a:solidFill>
              </a:rPr>
              <a:t>"Run the test plan. "</a:t>
            </a:r>
            <a:r>
              <a:t>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a:t>
            </a:r>
            <a:r>
              <a:rPr>
                <a:solidFill>
                  <a:schemeClr val="accent1"/>
                </a:solidFill>
              </a:rPr>
              <a:t>"Read the cases with get_plan and mark "</a:t>
            </a:r>
            <a:r>
              <a:t>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a:t>
            </a:r>
            <a:r>
              <a:rPr>
                <a:solidFill>
                  <a:schemeClr val="accent1"/>
                </a:solidFill>
              </a:rPr>
              <a:t>"each one with set_status."</a:t>
            </a:r>
            <a:r>
              <a: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return json(202, { requested: true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a:t>
            </a:r>
          </a:p>
        </p:txBody>
      </p:sp>
      <p:sp>
        <p:nvSpPr>
          <p:cNvPr id="487" name="Shape 8"/>
          <p:cNvSpPr/>
          <p:nvPr/>
        </p:nvSpPr>
        <p:spPr>
          <a:xfrm>
            <a:off x="812799" y="5236121"/>
            <a:ext cx="3420518" cy="1"/>
          </a:xfrm>
          <a:prstGeom prst="line">
            <a:avLst/>
          </a:prstGeom>
          <a:ln w="12700">
            <a:solidFill>
              <a:schemeClr val="accent2"/>
            </a:solidFill>
          </a:ln>
        </p:spPr>
        <p:txBody>
          <a:bodyPr lIns="45719" rIns="45719"/>
          <a:lstStyle/>
          <a:p>
            <a:pPr>
              <a:defRPr>
                <a:solidFill>
                  <a:srgbClr val="EEF0F4"/>
                </a:solidFill>
              </a:defRPr>
            </a:pPr>
          </a:p>
        </p:txBody>
      </p:sp>
      <p:sp>
        <p:nvSpPr>
          <p:cNvPr id="488" name="Text 9"/>
          <p:cNvSpPr txBox="1"/>
          <p:nvPr/>
        </p:nvSpPr>
        <p:spPr>
          <a:xfrm>
            <a:off x="812799" y="5344071"/>
            <a:ext cx="3523133"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z="1200">
                <a:solidFill>
                  <a:schemeClr val="accent2"/>
                </a:solidFill>
              </a:defRPr>
            </a:lvl1pPr>
          </a:lstStyle>
          <a:p>
            <a:pPr/>
            <a:r>
              <a:t>open es idempotente</a:t>
            </a:r>
          </a:p>
        </p:txBody>
      </p:sp>
      <p:sp>
        <p:nvSpPr>
          <p:cNvPr id="489" name="Text 10"/>
          <p:cNvSpPr txBox="1"/>
          <p:nvPr/>
        </p:nvSpPr>
        <p:spPr>
          <a:xfrm>
            <a:off x="812799" y="5608191"/>
            <a:ext cx="3523133"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A9B4C6"/>
                </a:solidFill>
              </a:defRPr>
            </a:lvl1pPr>
          </a:lstStyle>
          <a:p>
            <a:pPr/>
            <a:r>
              <a:t>Se puede repetir con el mismo instanceId.</a:t>
            </a:r>
          </a:p>
        </p:txBody>
      </p:sp>
      <p:sp>
        <p:nvSpPr>
          <p:cNvPr id="490" name="Shape 11"/>
          <p:cNvSpPr/>
          <p:nvPr/>
        </p:nvSpPr>
        <p:spPr>
          <a:xfrm>
            <a:off x="4385717" y="5236121"/>
            <a:ext cx="3420567" cy="1"/>
          </a:xfrm>
          <a:prstGeom prst="line">
            <a:avLst/>
          </a:prstGeom>
          <a:ln w="12700">
            <a:solidFill>
              <a:schemeClr val="accent2"/>
            </a:solidFill>
          </a:ln>
        </p:spPr>
        <p:txBody>
          <a:bodyPr lIns="45719" rIns="45719"/>
          <a:lstStyle/>
          <a:p>
            <a:pPr>
              <a:defRPr>
                <a:solidFill>
                  <a:srgbClr val="EEF0F4"/>
                </a:solidFill>
              </a:defRPr>
            </a:pPr>
          </a:p>
        </p:txBody>
      </p:sp>
      <p:sp>
        <p:nvSpPr>
          <p:cNvPr id="491" name="Text 12"/>
          <p:cNvSpPr txBox="1"/>
          <p:nvPr/>
        </p:nvSpPr>
        <p:spPr>
          <a:xfrm>
            <a:off x="4385717" y="5344071"/>
            <a:ext cx="3523184"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z="1200">
                <a:solidFill>
                  <a:schemeClr val="accent2"/>
                </a:solidFill>
              </a:defRPr>
            </a:lvl1pPr>
          </a:lstStyle>
          <a:p>
            <a:pPr/>
            <a:r>
              <a:t>las acciones son verbos</a:t>
            </a:r>
          </a:p>
        </p:txBody>
      </p:sp>
      <p:sp>
        <p:nvSpPr>
          <p:cNvPr id="492" name="Text 13"/>
          <p:cNvSpPr txBox="1"/>
          <p:nvPr/>
        </p:nvSpPr>
        <p:spPr>
          <a:xfrm>
            <a:off x="4385717" y="5608191"/>
            <a:ext cx="3523184"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A9B4C6"/>
                </a:solidFill>
              </a:defRPr>
            </a:lvl1pPr>
          </a:lstStyle>
          <a:p>
            <a:pPr/>
            <a:r>
              <a:t>get_plan, add_case, set_status.</a:t>
            </a:r>
          </a:p>
        </p:txBody>
      </p:sp>
      <p:sp>
        <p:nvSpPr>
          <p:cNvPr id="493" name="Shape 14"/>
          <p:cNvSpPr/>
          <p:nvPr/>
        </p:nvSpPr>
        <p:spPr>
          <a:xfrm>
            <a:off x="7958683" y="5236121"/>
            <a:ext cx="3420518" cy="1"/>
          </a:xfrm>
          <a:prstGeom prst="line">
            <a:avLst/>
          </a:prstGeom>
          <a:ln w="12700">
            <a:solidFill>
              <a:schemeClr val="accent2"/>
            </a:solidFill>
          </a:ln>
        </p:spPr>
        <p:txBody>
          <a:bodyPr lIns="45719" rIns="45719"/>
          <a:lstStyle/>
          <a:p>
            <a:pPr>
              <a:defRPr>
                <a:solidFill>
                  <a:srgbClr val="EEF0F4"/>
                </a:solidFill>
              </a:defRPr>
            </a:pPr>
          </a:p>
        </p:txBody>
      </p:sp>
      <p:sp>
        <p:nvSpPr>
          <p:cNvPr id="494" name="Text 15"/>
          <p:cNvSpPr txBox="1"/>
          <p:nvPr/>
        </p:nvSpPr>
        <p:spPr>
          <a:xfrm>
            <a:off x="7958683" y="5344071"/>
            <a:ext cx="3523132"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z="1200">
                <a:solidFill>
                  <a:schemeClr val="accent2"/>
                </a:solidFill>
              </a:defRPr>
            </a:lvl1pPr>
          </a:lstStyle>
          <a:p>
            <a:pPr/>
            <a:r>
              <a:t>onClose limpia</a:t>
            </a:r>
          </a:p>
        </p:txBody>
      </p:sp>
      <p:sp>
        <p:nvSpPr>
          <p:cNvPr id="495" name="Text 16"/>
          <p:cNvSpPr txBox="1"/>
          <p:nvPr/>
        </p:nvSpPr>
        <p:spPr>
          <a:xfrm>
            <a:off x="7958683" y="5608191"/>
            <a:ext cx="3523132"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A9B4C6"/>
                </a:solidFill>
              </a:defRPr>
            </a:lvl1pPr>
          </a:lstStyle>
          <a:p>
            <a:pPr/>
            <a:r>
              <a:t>Cierra el servidor y libera recursos.</a:t>
            </a:r>
          </a:p>
        </p:txBody>
      </p:sp>
      <p:sp>
        <p:nvSpPr>
          <p:cNvPr id="496" name="Text 17"/>
          <p:cNvSpPr txBox="1"/>
          <p:nvPr/>
        </p:nvSpPr>
        <p:spPr>
          <a:xfrm>
            <a:off x="812799" y="6238280"/>
            <a:ext cx="5790726"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defRPr>
            </a:lvl1pPr>
          </a:lstStyle>
          <a:p>
            <a:pPr/>
            <a:r>
              <a:t>Extracto simplificado de .github/extensions/ui-test-plan/extension.mjs</a:t>
            </a:r>
          </a:p>
        </p:txBody>
      </p:sp>
      <p:sp>
        <p:nvSpPr>
          <p:cNvPr id="497" name="Text 18"/>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chemeClr val="accent6"/>
                </a:solidFill>
              </a:defRPr>
            </a:lvl1pPr>
          </a:lstStyle>
          <a:p>
            <a:pPr/>
            <a:r>
              <a:t>29</a:t>
            </a: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1EA"/>
        </a:solidFill>
      </p:bgPr>
    </p:bg>
    <p:spTree>
      <p:nvGrpSpPr>
        <p:cNvPr id="1" name=""/>
        <p:cNvGrpSpPr/>
        <p:nvPr/>
      </p:nvGrpSpPr>
      <p:grpSpPr>
        <a:xfrm>
          <a:off x="0" y="0"/>
          <a:ext cx="0" cy="0"/>
          <a:chOff x="0" y="0"/>
          <a:chExt cx="0" cy="0"/>
        </a:xfrm>
      </p:grpSpPr>
      <p:grpSp>
        <p:nvGrpSpPr>
          <p:cNvPr id="503" name="Text 0"/>
          <p:cNvGrpSpPr/>
          <p:nvPr/>
        </p:nvGrpSpPr>
        <p:grpSpPr>
          <a:xfrm>
            <a:off x="812800" y="812800"/>
            <a:ext cx="887164" cy="314920"/>
            <a:chOff x="0" y="0"/>
            <a:chExt cx="887163" cy="314919"/>
          </a:xfrm>
        </p:grpSpPr>
        <p:sp>
          <p:nvSpPr>
            <p:cNvPr id="501" name="Rounded Rectangle"/>
            <p:cNvSpPr/>
            <p:nvPr/>
          </p:nvSpPr>
          <p:spPr>
            <a:xfrm>
              <a:off x="0" y="0"/>
              <a:ext cx="887164" cy="314920"/>
            </a:xfrm>
            <a:prstGeom prst="roundRect">
              <a:avLst>
                <a:gd name="adj" fmla="val 48393"/>
              </a:avLst>
            </a:prstGeom>
            <a:solidFill>
              <a:schemeClr val="accent1"/>
            </a:solidFill>
            <a:ln w="12700" cap="flat">
              <a:noFill/>
              <a:miter lim="400000"/>
            </a:ln>
            <a:effectLst/>
          </p:spPr>
          <p:txBody>
            <a:bodyPr wrap="square" lIns="45719" tIns="45719" rIns="45719" bIns="45719" numCol="1" anchor="ctr">
              <a:noAutofit/>
            </a:bodyPr>
            <a:lstStyle/>
            <a:p>
              <a:pPr algn="ctr">
                <a:lnSpc>
                  <a:spcPts val="1600"/>
                </a:lnSpc>
                <a:defRPr sz="1200">
                  <a:solidFill>
                    <a:srgbClr val="EEF0F4"/>
                  </a:solidFill>
                </a:defRPr>
              </a:pPr>
            </a:p>
          </p:txBody>
        </p:sp>
        <p:sp>
          <p:nvSpPr>
            <p:cNvPr id="502" name="DEMO 8"/>
            <p:cNvSpPr txBox="1"/>
            <p:nvPr/>
          </p:nvSpPr>
          <p:spPr>
            <a:xfrm>
              <a:off x="106981" y="44636"/>
              <a:ext cx="673201" cy="225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normAutofit fontScale="100000" lnSpcReduction="0"/>
            </a:bodyPr>
            <a:lstStyle>
              <a:lvl1pPr algn="ctr">
                <a:lnSpc>
                  <a:spcPts val="1600"/>
                </a:lnSpc>
                <a:defRPr b="1" spc="100" sz="1200">
                  <a:solidFill>
                    <a:srgbClr val="161A26"/>
                  </a:solidFill>
                </a:defRPr>
              </a:lvl1pPr>
            </a:lstStyle>
            <a:p>
              <a:pPr/>
              <a:r>
                <a:t>DEMO 8</a:t>
              </a:r>
            </a:p>
          </p:txBody>
        </p:sp>
      </p:grpSp>
      <p:sp>
        <p:nvSpPr>
          <p:cNvPr id="504" name="Text 1"/>
          <p:cNvSpPr txBox="1"/>
          <p:nvPr>
            <p:ph type="title"/>
          </p:nvPr>
        </p:nvSpPr>
        <p:spPr>
          <a:xfrm>
            <a:off x="812799" y="1229320"/>
            <a:ext cx="10883394" cy="472430"/>
          </a:xfrm>
          <a:prstGeom prst="rect">
            <a:avLst/>
          </a:prstGeom>
        </p:spPr>
        <p:txBody>
          <a:bodyPr/>
          <a:lstStyle>
            <a:lvl1pPr>
              <a:lnSpc>
                <a:spcPts val="3500"/>
              </a:lnSpc>
              <a:defRPr b="1">
                <a:solidFill>
                  <a:srgbClr val="161A26"/>
                </a:solidFill>
              </a:defRPr>
            </a:lvl1pPr>
          </a:lstStyle>
          <a:p>
            <a:pPr/>
            <a:r>
              <a:t>Un plan de pruebas que editan los dos</a:t>
            </a:r>
          </a:p>
        </p:txBody>
      </p:sp>
      <p:sp>
        <p:nvSpPr>
          <p:cNvPr id="505" name="Shape 2"/>
          <p:cNvSpPr/>
          <p:nvPr/>
        </p:nvSpPr>
        <p:spPr>
          <a:xfrm>
            <a:off x="812800" y="1879550"/>
            <a:ext cx="4546600" cy="2459832"/>
          </a:xfrm>
          <a:prstGeom prst="roundRect">
            <a:avLst>
              <a:gd name="adj" fmla="val 4130"/>
            </a:avLst>
          </a:prstGeom>
          <a:solidFill>
            <a:srgbClr val="161A26"/>
          </a:solidFill>
          <a:ln w="12700">
            <a:miter lim="400000"/>
          </a:ln>
        </p:spPr>
        <p:txBody>
          <a:bodyPr lIns="45719" rIns="45719"/>
          <a:lstStyle/>
          <a:p>
            <a:pPr>
              <a:defRPr>
                <a:solidFill>
                  <a:srgbClr val="EEF0F4"/>
                </a:solidFill>
              </a:defRPr>
            </a:pPr>
          </a:p>
        </p:txBody>
      </p:sp>
      <p:sp>
        <p:nvSpPr>
          <p:cNvPr id="506" name="Text 3"/>
          <p:cNvSpPr txBox="1"/>
          <p:nvPr/>
        </p:nvSpPr>
        <p:spPr>
          <a:xfrm>
            <a:off x="1066799" y="2133550"/>
            <a:ext cx="415976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1"/>
                </a:solidFill>
              </a:defRPr>
            </a:lvl1pPr>
          </a:lstStyle>
          <a:p>
            <a:pPr/>
            <a:r>
              <a:t>PROMPT</a:t>
            </a:r>
          </a:p>
        </p:txBody>
      </p:sp>
      <p:sp>
        <p:nvSpPr>
          <p:cNvPr id="507" name="Text 4"/>
          <p:cNvSpPr txBox="1"/>
          <p:nvPr/>
        </p:nvSpPr>
        <p:spPr>
          <a:xfrm>
            <a:off x="1066799" y="2448471"/>
            <a:ext cx="4159760" cy="711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200">
                <a:solidFill>
                  <a:srgbClr val="EEF0F4"/>
                </a:solidFill>
                <a:latin typeface="JetBrains Mono"/>
                <a:ea typeface="JetBrains Mono"/>
                <a:cs typeface="JetBrains Mono"/>
                <a:sym typeface="JetBrains Mono"/>
              </a:defRPr>
            </a:lvl1pPr>
          </a:lstStyle>
          <a:p>
            <a:pPr/>
            <a:r>
              <a:t>Open the UI test plan canvas with three cases for SampleApp: the greeting, the counter and the dark theme.</a:t>
            </a:r>
          </a:p>
        </p:txBody>
      </p:sp>
      <p:sp>
        <p:nvSpPr>
          <p:cNvPr id="508" name="Text 5"/>
          <p:cNvSpPr txBox="1"/>
          <p:nvPr/>
        </p:nvSpPr>
        <p:spPr>
          <a:xfrm>
            <a:off x="1066799" y="3343821"/>
            <a:ext cx="415976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1"/>
                </a:solidFill>
              </a:defRPr>
            </a:lvl1pPr>
          </a:lstStyle>
          <a:p>
            <a:pPr/>
            <a:r>
              <a:t>QUÉ DEBERÍAS VER</a:t>
            </a:r>
          </a:p>
        </p:txBody>
      </p:sp>
      <p:sp>
        <p:nvSpPr>
          <p:cNvPr id="509" name="Text 6"/>
          <p:cNvSpPr txBox="1"/>
          <p:nvPr/>
        </p:nvSpPr>
        <p:spPr>
          <a:xfrm>
            <a:off x="1066799" y="3658741"/>
            <a:ext cx="4159760" cy="4520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EEF0F4"/>
                </a:solidFill>
              </a:defRPr>
            </a:lvl1pPr>
          </a:lstStyle>
          <a:p>
            <a:pPr/>
            <a:r>
              <a:t>La lista en el panel lateral. Tus cambios y los del agente aparecen en el mismo sitio, y él los lee con get_plan.</a:t>
            </a:r>
          </a:p>
        </p:txBody>
      </p:sp>
      <p:sp>
        <p:nvSpPr>
          <p:cNvPr id="510" name="Text 7"/>
          <p:cNvSpPr txBox="1"/>
          <p:nvPr/>
        </p:nvSpPr>
        <p:spPr>
          <a:xfrm>
            <a:off x="812800" y="4491782"/>
            <a:ext cx="4682998"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4A5263"/>
                </a:solidFill>
                <a:latin typeface="JetBrains Mono"/>
                <a:ea typeface="JetBrains Mono"/>
                <a:cs typeface="JetBrains Mono"/>
                <a:sym typeface="JetBrains Mono"/>
              </a:defRPr>
            </a:lvl1pPr>
          </a:lstStyle>
          <a:p>
            <a:pPr/>
            <a:r>
              <a:t>Proyecto: 08-canvas</a:t>
            </a:r>
          </a:p>
        </p:txBody>
      </p:sp>
      <p:pic>
        <p:nvPicPr>
          <p:cNvPr id="511" name="Image 1" descr="Image 1"/>
          <p:cNvPicPr>
            <a:picLocks noChangeAspect="1"/>
          </p:cNvPicPr>
          <p:nvPr/>
        </p:nvPicPr>
        <p:blipFill>
          <a:blip r:embed="rId3">
            <a:extLst/>
          </a:blip>
          <a:srcRect l="0" t="0" r="0" b="0"/>
          <a:stretch>
            <a:fillRect/>
          </a:stretch>
        </p:blipFill>
        <p:spPr>
          <a:xfrm>
            <a:off x="5670550" y="1885900"/>
            <a:ext cx="5702300" cy="3429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440"/>
                </a:moveTo>
                <a:lnTo>
                  <a:pt x="21600" y="21160"/>
                </a:lnTo>
                <a:cubicBezTo>
                  <a:pt x="21600" y="21403"/>
                  <a:pt x="21482" y="21600"/>
                  <a:pt x="21335" y="21600"/>
                </a:cubicBezTo>
                <a:lnTo>
                  <a:pt x="265" y="21600"/>
                </a:lnTo>
                <a:cubicBezTo>
                  <a:pt x="118" y="21600"/>
                  <a:pt x="0" y="21403"/>
                  <a:pt x="0" y="21160"/>
                </a:cubicBezTo>
                <a:lnTo>
                  <a:pt x="0" y="440"/>
                </a:lnTo>
                <a:lnTo>
                  <a:pt x="1" y="395"/>
                </a:lnTo>
                <a:cubicBezTo>
                  <a:pt x="15" y="173"/>
                  <a:pt x="128" y="0"/>
                  <a:pt x="265" y="0"/>
                </a:cubicBezTo>
                <a:lnTo>
                  <a:pt x="21335" y="0"/>
                </a:lnTo>
                <a:cubicBezTo>
                  <a:pt x="21482" y="0"/>
                  <a:pt x="21600" y="197"/>
                  <a:pt x="21600" y="440"/>
                </a:cubicBezTo>
                <a:close/>
              </a:path>
            </a:pathLst>
          </a:custGeom>
          <a:ln w="12700">
            <a:miter lim="400000"/>
          </a:ln>
        </p:spPr>
      </p:pic>
      <p:sp>
        <p:nvSpPr>
          <p:cNvPr id="512" name="Shape 8"/>
          <p:cNvSpPr/>
          <p:nvPr/>
        </p:nvSpPr>
        <p:spPr>
          <a:xfrm>
            <a:off x="5667375" y="1882725"/>
            <a:ext cx="5708650" cy="3435351"/>
          </a:xfrm>
          <a:prstGeom prst="roundRect">
            <a:avLst>
              <a:gd name="adj" fmla="val 2126"/>
            </a:avLst>
          </a:prstGeom>
          <a:ln w="6350">
            <a:solidFill>
              <a:srgbClr val="D5D0C4"/>
            </a:solidFill>
          </a:ln>
        </p:spPr>
        <p:txBody>
          <a:bodyPr lIns="45719" rIns="45719"/>
          <a:lstStyle/>
          <a:p>
            <a:pPr>
              <a:defRPr>
                <a:solidFill>
                  <a:srgbClr val="EEF0F4"/>
                </a:solidFill>
              </a:defRPr>
            </a:pPr>
          </a:p>
        </p:txBody>
      </p:sp>
      <p:sp>
        <p:nvSpPr>
          <p:cNvPr id="513" name="Text 9"/>
          <p:cNvSpPr txBox="1"/>
          <p:nvPr/>
        </p:nvSpPr>
        <p:spPr>
          <a:xfrm>
            <a:off x="5664200" y="5397450"/>
            <a:ext cx="588645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C6470"/>
                </a:solidFill>
              </a:defRPr>
            </a:lvl1pPr>
          </a:lstStyle>
          <a:p>
            <a:pPr/>
            <a:r>
              <a:t>Captura real · tres casos pendientes y el botón Ask Copilot to run it</a:t>
            </a:r>
          </a:p>
        </p:txBody>
      </p:sp>
      <p:sp>
        <p:nvSpPr>
          <p:cNvPr id="514" name="Text 10"/>
          <p:cNvSpPr txBox="1"/>
          <p:nvPr/>
        </p:nvSpPr>
        <p:spPr>
          <a:xfrm>
            <a:off x="812799" y="6238280"/>
            <a:ext cx="302782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C6470"/>
                </a:solidFill>
              </a:defRPr>
            </a:lvl1pPr>
          </a:lstStyle>
          <a:p>
            <a:pPr/>
            <a:r>
              <a:t>Extensibilidad de GitHub Copilot App</a:t>
            </a:r>
          </a:p>
        </p:txBody>
      </p:sp>
      <p:sp>
        <p:nvSpPr>
          <p:cNvPr id="515" name="Text 11"/>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rgbClr val="5C6470"/>
                </a:solidFill>
              </a:defRPr>
            </a:lvl1pPr>
          </a:lstStyle>
          <a:p>
            <a:pPr/>
            <a:r>
              <a:t>30</a:t>
            </a: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9" name="Text 0"/>
          <p:cNvSpPr txBox="1"/>
          <p:nvPr/>
        </p:nvSpPr>
        <p:spPr>
          <a:xfrm>
            <a:off x="812799" y="812799"/>
            <a:ext cx="10883394" cy="237184"/>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100">
                <a:solidFill>
                  <a:schemeClr val="accent2"/>
                </a:solidFill>
              </a:defRPr>
            </a:lvl1pPr>
          </a:lstStyle>
          <a:p>
            <a:pPr/>
            <a:r>
              <a:t>PASO 8 · CANVAS · UN EJEMPLO REAL</a:t>
            </a:r>
          </a:p>
        </p:txBody>
      </p:sp>
      <p:sp>
        <p:nvSpPr>
          <p:cNvPr id="520" name="Text 1"/>
          <p:cNvSpPr txBox="1"/>
          <p:nvPr>
            <p:ph type="title"/>
          </p:nvPr>
        </p:nvSpPr>
        <p:spPr>
          <a:xfrm>
            <a:off x="812799" y="1126182"/>
            <a:ext cx="10883394" cy="469157"/>
          </a:xfrm>
          <a:prstGeom prst="rect">
            <a:avLst/>
          </a:prstGeom>
        </p:spPr>
        <p:txBody>
          <a:bodyPr/>
          <a:lstStyle>
            <a:lvl1pPr>
              <a:lnSpc>
                <a:spcPts val="3500"/>
              </a:lnSpc>
              <a:defRPr b="1"/>
            </a:lvl1pPr>
          </a:lstStyle>
          <a:p>
            <a:pPr/>
            <a:r>
              <a:t>Del canvas mínimo a uno real</a:t>
            </a:r>
          </a:p>
        </p:txBody>
      </p:sp>
      <p:pic>
        <p:nvPicPr>
          <p:cNvPr id="521" name="Image 0" descr="Image 0"/>
          <p:cNvPicPr>
            <a:picLocks noChangeAspect="1"/>
          </p:cNvPicPr>
          <p:nvPr/>
        </p:nvPicPr>
        <p:blipFill>
          <a:blip r:embed="rId3">
            <a:extLst/>
          </a:blip>
          <a:srcRect l="0" t="0" r="0" b="0"/>
          <a:stretch>
            <a:fillRect/>
          </a:stretch>
        </p:blipFill>
        <p:spPr>
          <a:xfrm>
            <a:off x="819150" y="1832226"/>
            <a:ext cx="5702300" cy="32854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447"/>
                </a:moveTo>
                <a:lnTo>
                  <a:pt x="21600" y="21153"/>
                </a:lnTo>
                <a:cubicBezTo>
                  <a:pt x="21600" y="21371"/>
                  <a:pt x="21513" y="21553"/>
                  <a:pt x="21396" y="21600"/>
                </a:cubicBezTo>
                <a:lnTo>
                  <a:pt x="204" y="21600"/>
                </a:lnTo>
                <a:cubicBezTo>
                  <a:pt x="87" y="21553"/>
                  <a:pt x="0" y="21371"/>
                  <a:pt x="0" y="21153"/>
                </a:cubicBezTo>
                <a:lnTo>
                  <a:pt x="0" y="447"/>
                </a:lnTo>
                <a:lnTo>
                  <a:pt x="1" y="400"/>
                </a:lnTo>
                <a:cubicBezTo>
                  <a:pt x="13" y="204"/>
                  <a:pt x="95" y="44"/>
                  <a:pt x="204" y="0"/>
                </a:cubicBezTo>
                <a:lnTo>
                  <a:pt x="21396" y="0"/>
                </a:lnTo>
                <a:cubicBezTo>
                  <a:pt x="21513" y="47"/>
                  <a:pt x="21600" y="229"/>
                  <a:pt x="21600" y="447"/>
                </a:cubicBezTo>
                <a:close/>
              </a:path>
            </a:pathLst>
          </a:custGeom>
          <a:ln w="12700">
            <a:miter lim="400000"/>
          </a:ln>
        </p:spPr>
      </p:pic>
      <p:sp>
        <p:nvSpPr>
          <p:cNvPr id="522" name="Shape 2"/>
          <p:cNvSpPr/>
          <p:nvPr/>
        </p:nvSpPr>
        <p:spPr>
          <a:xfrm>
            <a:off x="815975" y="1827113"/>
            <a:ext cx="5708650" cy="3295651"/>
          </a:xfrm>
          <a:prstGeom prst="roundRect">
            <a:avLst>
              <a:gd name="adj" fmla="val 2216"/>
            </a:avLst>
          </a:prstGeom>
          <a:ln w="6350">
            <a:solidFill>
              <a:srgbClr val="2B3550"/>
            </a:solidFill>
          </a:ln>
        </p:spPr>
        <p:txBody>
          <a:bodyPr lIns="45719" rIns="45719"/>
          <a:lstStyle/>
          <a:p>
            <a:pPr>
              <a:defRPr>
                <a:solidFill>
                  <a:srgbClr val="EEF0F4"/>
                </a:solidFill>
              </a:defRPr>
            </a:pPr>
          </a:p>
        </p:txBody>
      </p:sp>
      <p:sp>
        <p:nvSpPr>
          <p:cNvPr id="523" name="Text 3"/>
          <p:cNvSpPr txBox="1"/>
          <p:nvPr/>
        </p:nvSpPr>
        <p:spPr>
          <a:xfrm>
            <a:off x="812800" y="5227537"/>
            <a:ext cx="5886450" cy="66536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A9B4C6"/>
                </a:solidFill>
              </a:defRPr>
            </a:lvl1pPr>
          </a:lstStyle>
          <a:p>
            <a:pPr/>
            <a:r>
              <a:t>copilot-avalonia usa el mismo contrato, pero la interfaz es una app de escritorio en ejecución, con 16 acciones: inspeccionar, pedir control, enviar entrada, cambiar tamaño y tema, y grabar.</a:t>
            </a:r>
          </a:p>
        </p:txBody>
      </p:sp>
      <p:sp>
        <p:nvSpPr>
          <p:cNvPr id="524" name="Shape 4"/>
          <p:cNvSpPr/>
          <p:nvPr/>
        </p:nvSpPr>
        <p:spPr>
          <a:xfrm>
            <a:off x="6835775" y="1827113"/>
            <a:ext cx="4540250" cy="966392"/>
          </a:xfrm>
          <a:prstGeom prst="roundRect">
            <a:avLst>
              <a:gd name="adj" fmla="val 10185"/>
            </a:avLst>
          </a:prstGeom>
          <a:solidFill>
            <a:srgbClr val="1A2133"/>
          </a:solidFill>
          <a:ln w="6350">
            <a:solidFill>
              <a:srgbClr val="2B3550"/>
            </a:solidFill>
          </a:ln>
        </p:spPr>
        <p:txBody>
          <a:bodyPr lIns="45719" rIns="45719"/>
          <a:lstStyle/>
          <a:p>
            <a:pPr>
              <a:defRPr>
                <a:solidFill>
                  <a:srgbClr val="EEF0F4"/>
                </a:solidFill>
              </a:defRPr>
            </a:pPr>
          </a:p>
        </p:txBody>
      </p:sp>
      <p:sp>
        <p:nvSpPr>
          <p:cNvPr id="525" name="Text 5"/>
          <p:cNvSpPr txBox="1"/>
          <p:nvPr/>
        </p:nvSpPr>
        <p:spPr>
          <a:xfrm>
            <a:off x="7016750" y="1957288"/>
            <a:ext cx="4303649"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b="1" sz="1500">
                <a:solidFill>
                  <a:srgbClr val="EEF0F4"/>
                </a:solidFill>
                <a:latin typeface="Space Grotesk"/>
                <a:ea typeface="Space Grotesk"/>
                <a:cs typeface="Space Grotesk"/>
                <a:sym typeface="Space Grotesk"/>
              </a:defRPr>
            </a:lvl1pPr>
          </a:lstStyle>
          <a:p>
            <a:pPr/>
            <a:r>
              <a:t>App de GitHub Copilot</a:t>
            </a:r>
          </a:p>
        </p:txBody>
      </p:sp>
      <p:sp>
        <p:nvSpPr>
          <p:cNvPr id="526" name="Text 6"/>
          <p:cNvSpPr txBox="1"/>
          <p:nvPr/>
        </p:nvSpPr>
        <p:spPr>
          <a:xfrm>
            <a:off x="7016750" y="2236688"/>
            <a:ext cx="4303649" cy="4520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A9B4C6"/>
                </a:solidFill>
              </a:defRPr>
            </a:lvl1pPr>
          </a:lstStyle>
          <a:p>
            <a:pPr/>
            <a:r>
              <a:t>El agente llama a open_canvas e invoke_canvas_action. El panel muestra la URL.</a:t>
            </a:r>
          </a:p>
        </p:txBody>
      </p:sp>
      <p:sp>
        <p:nvSpPr>
          <p:cNvPr id="527" name="Shape 7"/>
          <p:cNvSpPr/>
          <p:nvPr/>
        </p:nvSpPr>
        <p:spPr>
          <a:xfrm>
            <a:off x="7137400" y="2847478"/>
            <a:ext cx="12700" cy="254001"/>
          </a:xfrm>
          <a:prstGeom prst="rect">
            <a:avLst/>
          </a:prstGeom>
          <a:solidFill>
            <a:schemeClr val="accent2"/>
          </a:solidFill>
          <a:ln w="12700">
            <a:miter lim="400000"/>
          </a:ln>
        </p:spPr>
        <p:txBody>
          <a:bodyPr lIns="45719" rIns="45719"/>
          <a:lstStyle/>
          <a:p>
            <a:pPr>
              <a:defRPr>
                <a:solidFill>
                  <a:srgbClr val="EEF0F4"/>
                </a:solidFill>
              </a:defRPr>
            </a:pPr>
          </a:p>
        </p:txBody>
      </p:sp>
      <p:sp>
        <p:nvSpPr>
          <p:cNvPr id="528" name="Text 8"/>
          <p:cNvSpPr txBox="1"/>
          <p:nvPr/>
        </p:nvSpPr>
        <p:spPr>
          <a:xfrm>
            <a:off x="7251700" y="2867818"/>
            <a:ext cx="1640086"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2"/>
                </a:solidFill>
              </a:defRPr>
            </a:lvl1pPr>
          </a:lstStyle>
          <a:p>
            <a:pPr/>
            <a:r>
              <a:t>JSON-RPC / stdio</a:t>
            </a:r>
          </a:p>
        </p:txBody>
      </p:sp>
      <p:sp>
        <p:nvSpPr>
          <p:cNvPr id="529" name="Shape 9"/>
          <p:cNvSpPr/>
          <p:nvPr/>
        </p:nvSpPr>
        <p:spPr>
          <a:xfrm>
            <a:off x="6835775" y="3155453"/>
            <a:ext cx="4540250" cy="966392"/>
          </a:xfrm>
          <a:prstGeom prst="roundRect">
            <a:avLst>
              <a:gd name="adj" fmla="val 10185"/>
            </a:avLst>
          </a:prstGeom>
          <a:solidFill>
            <a:srgbClr val="1A2133"/>
          </a:solidFill>
          <a:ln w="6350">
            <a:solidFill>
              <a:schemeClr val="accent2"/>
            </a:solidFill>
          </a:ln>
        </p:spPr>
        <p:txBody>
          <a:bodyPr lIns="45719" rIns="45719"/>
          <a:lstStyle/>
          <a:p>
            <a:pPr>
              <a:defRPr>
                <a:solidFill>
                  <a:srgbClr val="EEF0F4"/>
                </a:solidFill>
              </a:defRPr>
            </a:pPr>
          </a:p>
        </p:txBody>
      </p:sp>
      <p:sp>
        <p:nvSpPr>
          <p:cNvPr id="530" name="Text 10"/>
          <p:cNvSpPr txBox="1"/>
          <p:nvPr/>
        </p:nvSpPr>
        <p:spPr>
          <a:xfrm>
            <a:off x="7016750" y="3285628"/>
            <a:ext cx="4303649"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b="1" sz="1500">
                <a:solidFill>
                  <a:schemeClr val="accent2"/>
                </a:solidFill>
                <a:latin typeface="Space Grotesk"/>
                <a:ea typeface="Space Grotesk"/>
                <a:cs typeface="Space Grotesk"/>
                <a:sym typeface="Space Grotesk"/>
              </a:defRPr>
            </a:lvl1pPr>
          </a:lstStyle>
          <a:p>
            <a:pPr/>
            <a:r>
              <a:t>extension.mjs</a:t>
            </a:r>
          </a:p>
        </p:txBody>
      </p:sp>
      <p:sp>
        <p:nvSpPr>
          <p:cNvPr id="531" name="Text 11"/>
          <p:cNvSpPr txBox="1"/>
          <p:nvPr/>
        </p:nvSpPr>
        <p:spPr>
          <a:xfrm>
            <a:off x="7016750" y="3565028"/>
            <a:ext cx="4303649" cy="4520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A9B4C6"/>
                </a:solidFill>
              </a:defRPr>
            </a:lvl1pPr>
          </a:lstStyle>
          <a:p>
            <a:pPr/>
            <a:r>
              <a:t>Ejecuta dotnet run, lee la URL que imprime la app y traduce cada acción a HTTP.</a:t>
            </a:r>
          </a:p>
        </p:txBody>
      </p:sp>
      <p:sp>
        <p:nvSpPr>
          <p:cNvPr id="532" name="Shape 12"/>
          <p:cNvSpPr/>
          <p:nvPr/>
        </p:nvSpPr>
        <p:spPr>
          <a:xfrm>
            <a:off x="7137400" y="4175819"/>
            <a:ext cx="12700" cy="254001"/>
          </a:xfrm>
          <a:prstGeom prst="rect">
            <a:avLst/>
          </a:prstGeom>
          <a:solidFill>
            <a:schemeClr val="accent2"/>
          </a:solidFill>
          <a:ln w="12700">
            <a:miter lim="400000"/>
          </a:ln>
        </p:spPr>
        <p:txBody>
          <a:bodyPr lIns="45719" rIns="45719"/>
          <a:lstStyle/>
          <a:p>
            <a:pPr>
              <a:defRPr>
                <a:solidFill>
                  <a:srgbClr val="EEF0F4"/>
                </a:solidFill>
              </a:defRPr>
            </a:pPr>
          </a:p>
        </p:txBody>
      </p:sp>
      <p:sp>
        <p:nvSpPr>
          <p:cNvPr id="533" name="Text 13"/>
          <p:cNvSpPr txBox="1"/>
          <p:nvPr/>
        </p:nvSpPr>
        <p:spPr>
          <a:xfrm>
            <a:off x="7251700" y="4196158"/>
            <a:ext cx="1496913"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2"/>
                </a:solidFill>
              </a:defRPr>
            </a:lvl1pPr>
          </a:lstStyle>
          <a:p>
            <a:pPr/>
            <a:r>
              <a:t>HTTP en loopback</a:t>
            </a:r>
          </a:p>
        </p:txBody>
      </p:sp>
      <p:sp>
        <p:nvSpPr>
          <p:cNvPr id="534" name="Shape 14"/>
          <p:cNvSpPr/>
          <p:nvPr/>
        </p:nvSpPr>
        <p:spPr>
          <a:xfrm>
            <a:off x="6835775" y="4483794"/>
            <a:ext cx="4540250" cy="966392"/>
          </a:xfrm>
          <a:prstGeom prst="roundRect">
            <a:avLst>
              <a:gd name="adj" fmla="val 10185"/>
            </a:avLst>
          </a:prstGeom>
          <a:solidFill>
            <a:srgbClr val="1A2133"/>
          </a:solidFill>
          <a:ln w="6350">
            <a:solidFill>
              <a:srgbClr val="2B3550"/>
            </a:solidFill>
          </a:ln>
        </p:spPr>
        <p:txBody>
          <a:bodyPr lIns="45719" rIns="45719"/>
          <a:lstStyle/>
          <a:p>
            <a:pPr>
              <a:defRPr>
                <a:solidFill>
                  <a:srgbClr val="EEF0F4"/>
                </a:solidFill>
              </a:defRPr>
            </a:pPr>
          </a:p>
        </p:txBody>
      </p:sp>
      <p:sp>
        <p:nvSpPr>
          <p:cNvPr id="535" name="Text 15"/>
          <p:cNvSpPr txBox="1"/>
          <p:nvPr/>
        </p:nvSpPr>
        <p:spPr>
          <a:xfrm>
            <a:off x="7016750" y="4613969"/>
            <a:ext cx="4303649"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b="1" sz="1500">
                <a:solidFill>
                  <a:srgbClr val="EEF0F4"/>
                </a:solidFill>
                <a:latin typeface="Space Grotesk"/>
                <a:ea typeface="Space Grotesk"/>
                <a:cs typeface="Space Grotesk"/>
                <a:sym typeface="Space Grotesk"/>
              </a:defRPr>
            </a:lvl1pPr>
          </a:lstStyle>
          <a:p>
            <a:pPr/>
            <a:r>
              <a:t>Host .NET dentro de la app</a:t>
            </a:r>
          </a:p>
        </p:txBody>
      </p:sp>
      <p:sp>
        <p:nvSpPr>
          <p:cNvPr id="536" name="Text 16"/>
          <p:cNvSpPr txBox="1"/>
          <p:nvPr/>
        </p:nvSpPr>
        <p:spPr>
          <a:xfrm>
            <a:off x="7016750" y="4893369"/>
            <a:ext cx="4303649" cy="4520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A9B4C6"/>
                </a:solidFill>
              </a:defRPr>
            </a:lvl1pPr>
          </a:lstStyle>
          <a:p>
            <a:pPr/>
            <a:r>
              <a:t>Avalonia.Headless con Skia. Sirve fotogramas por WebSocket y una API solo en 127.0.0.1.</a:t>
            </a:r>
          </a:p>
        </p:txBody>
      </p:sp>
      <p:sp>
        <p:nvSpPr>
          <p:cNvPr id="537" name="Text 17"/>
          <p:cNvSpPr txBox="1"/>
          <p:nvPr/>
        </p:nvSpPr>
        <p:spPr>
          <a:xfrm>
            <a:off x="812799" y="6238280"/>
            <a:ext cx="3255647"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defRPr>
            </a:lvl1pPr>
          </a:lstStyle>
          <a:p>
            <a:pPr/>
            <a:r>
              <a:t>github.com/jsuarezruiz/copilot-avalonia</a:t>
            </a:r>
          </a:p>
        </p:txBody>
      </p:sp>
      <p:sp>
        <p:nvSpPr>
          <p:cNvPr id="538" name="Text 18"/>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chemeClr val="accent6"/>
                </a:solidFill>
              </a:defRPr>
            </a:lvl1pPr>
          </a:lstStyle>
          <a:p>
            <a:pPr/>
            <a:r>
              <a:t>31</a:t>
            </a:r>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2"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2"/>
                </a:solidFill>
              </a:defRPr>
            </a:lvl1pPr>
          </a:lstStyle>
          <a:p>
            <a:pPr/>
            <a:r>
              <a:t>PASO 8 · CANVAS · UN EJEMPLO REAL</a:t>
            </a:r>
          </a:p>
        </p:txBody>
      </p:sp>
      <p:sp>
        <p:nvSpPr>
          <p:cNvPr id="543" name="Text 1"/>
          <p:cNvSpPr txBox="1"/>
          <p:nvPr>
            <p:ph type="title"/>
          </p:nvPr>
        </p:nvSpPr>
        <p:spPr>
          <a:xfrm>
            <a:off x="812799" y="1127720"/>
            <a:ext cx="10883394" cy="472430"/>
          </a:xfrm>
          <a:prstGeom prst="rect">
            <a:avLst/>
          </a:prstGeom>
        </p:spPr>
        <p:txBody>
          <a:bodyPr/>
          <a:lstStyle>
            <a:lvl1pPr>
              <a:lnSpc>
                <a:spcPts val="3500"/>
              </a:lnSpc>
              <a:defRPr b="1"/>
            </a:lvl1pPr>
          </a:lstStyle>
          <a:p>
            <a:pPr/>
            <a:r>
              <a:t>Dos piezas del adaptador real</a:t>
            </a:r>
          </a:p>
        </p:txBody>
      </p:sp>
      <p:sp>
        <p:nvSpPr>
          <p:cNvPr id="544" name="Shape 2"/>
          <p:cNvSpPr/>
          <p:nvPr/>
        </p:nvSpPr>
        <p:spPr>
          <a:xfrm>
            <a:off x="815975" y="1882725"/>
            <a:ext cx="5175250" cy="3699470"/>
          </a:xfrm>
          <a:prstGeom prst="roundRect">
            <a:avLst>
              <a:gd name="adj" fmla="val 2661"/>
            </a:avLst>
          </a:prstGeom>
          <a:solidFill>
            <a:srgbClr val="1A2133"/>
          </a:solidFill>
          <a:ln w="6350">
            <a:solidFill>
              <a:srgbClr val="2B3550"/>
            </a:solidFill>
          </a:ln>
        </p:spPr>
        <p:txBody>
          <a:bodyPr lIns="45719" rIns="45719"/>
          <a:lstStyle/>
          <a:p>
            <a:pPr>
              <a:defRPr>
                <a:solidFill>
                  <a:srgbClr val="EEF0F4"/>
                </a:solidFill>
              </a:defRPr>
            </a:pPr>
          </a:p>
        </p:txBody>
      </p:sp>
      <p:sp>
        <p:nvSpPr>
          <p:cNvPr id="545" name="Text 3"/>
          <p:cNvSpPr txBox="1"/>
          <p:nvPr/>
        </p:nvSpPr>
        <p:spPr>
          <a:xfrm>
            <a:off x="1022350" y="2089100"/>
            <a:ext cx="4905375"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z="1200">
                <a:solidFill>
                  <a:schemeClr val="accent1"/>
                </a:solidFill>
              </a:defRPr>
            </a:lvl1pPr>
          </a:lstStyle>
          <a:p>
            <a:pPr/>
            <a:r>
              <a:t>open: lanzar el proceso y esperar su URL</a:t>
            </a:r>
          </a:p>
        </p:txBody>
      </p:sp>
      <p:sp>
        <p:nvSpPr>
          <p:cNvPr id="546" name="Text 4"/>
          <p:cNvSpPr txBox="1"/>
          <p:nvPr/>
        </p:nvSpPr>
        <p:spPr>
          <a:xfrm>
            <a:off x="1022350" y="2404021"/>
            <a:ext cx="4905375" cy="25400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800"/>
              </a:lnSpc>
              <a:defRPr sz="1200">
                <a:solidFill>
                  <a:schemeClr val="accent2"/>
                </a:solidFill>
                <a:latin typeface="JetBrains Mono"/>
                <a:ea typeface="JetBrains Mono"/>
                <a:cs typeface="JetBrains Mono"/>
                <a:sym typeface="JetBrains Mono"/>
              </a:defRPr>
            </a:pPr>
            <a:r>
              <a:t>const</a:t>
            </a:r>
            <a:r>
              <a:rPr>
                <a:solidFill>
                  <a:srgbClr val="D7DEEA"/>
                </a:solidFill>
              </a:rPr>
              <a:t> child = spawn(</a:t>
            </a:r>
            <a:r>
              <a:rPr>
                <a:solidFill>
                  <a:schemeClr val="accent1"/>
                </a:solidFill>
              </a:rPr>
              <a:t>"dotnet"</a:t>
            </a:r>
            <a:r>
              <a:rPr>
                <a:solidFill>
                  <a:srgbClr val="D7DEEA"/>
                </a:solidFill>
              </a:rPr>
              <a: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["run", "--project", projectPath],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env: { ...process.env, COPILOT_AVALONIA: "1"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stdio: ["ignore", "pipe", "inherit"],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a:t>
            </a:r>
            <a:endParaRPr>
              <a:solidFill>
                <a:srgbClr val="EEF0F4"/>
              </a:solidFill>
            </a:endParaRPr>
          </a:p>
          <a:p>
            <a:pPr>
              <a:lnSpc>
                <a:spcPts val="1800"/>
              </a:lnSpc>
              <a:defRPr sz="1200">
                <a:solidFill>
                  <a:schemeClr val="accent2"/>
                </a:solidFill>
                <a:latin typeface="JetBrains Mono"/>
                <a:ea typeface="JetBrains Mono"/>
                <a:cs typeface="JetBrains Mono"/>
                <a:sym typeface="JetBrains Mono"/>
              </a:defRPr>
            </a:pPr>
            <a:r>
              <a:t>const</a:t>
            </a:r>
            <a:r>
              <a:rPr>
                <a:solidFill>
                  <a:srgbClr val="D7DEEA"/>
                </a:solidFill>
              </a:rPr>
              <a:t> prefix = </a:t>
            </a:r>
            <a:r>
              <a:rPr>
                <a:solidFill>
                  <a:schemeClr val="accent1"/>
                </a:solidFill>
              </a:rPr>
              <a:t>"COPILOT_AVALONIA_URL="</a:t>
            </a:r>
            <a:r>
              <a:rPr>
                <a:solidFill>
                  <a:srgbClr val="D7DEEA"/>
                </a:solidFill>
              </a:rPr>
              <a: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lines.on("line", (line) =&gt;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a:t>
            </a:r>
            <a:r>
              <a:rPr>
                <a:solidFill>
                  <a:schemeClr val="accent2"/>
                </a:solidFill>
              </a:rPr>
              <a:t>if</a:t>
            </a:r>
            <a:r>
              <a:t> (!line.startsWith(prefix)) return;</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resolve({ child, baseUrl: loopbackCanvasUrl(</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line.slice(prefix.length).trim())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a:t>
            </a:r>
          </a:p>
        </p:txBody>
      </p:sp>
      <p:sp>
        <p:nvSpPr>
          <p:cNvPr id="547" name="Shape 5"/>
          <p:cNvSpPr/>
          <p:nvPr/>
        </p:nvSpPr>
        <p:spPr>
          <a:xfrm>
            <a:off x="6200775" y="1882725"/>
            <a:ext cx="5175250" cy="3699470"/>
          </a:xfrm>
          <a:prstGeom prst="roundRect">
            <a:avLst>
              <a:gd name="adj" fmla="val 2661"/>
            </a:avLst>
          </a:prstGeom>
          <a:solidFill>
            <a:srgbClr val="1A2133"/>
          </a:solidFill>
          <a:ln w="6350">
            <a:solidFill>
              <a:srgbClr val="2B3550"/>
            </a:solidFill>
          </a:ln>
        </p:spPr>
        <p:txBody>
          <a:bodyPr lIns="45719" rIns="45719"/>
          <a:lstStyle/>
          <a:p>
            <a:pPr>
              <a:defRPr>
                <a:solidFill>
                  <a:srgbClr val="EEF0F4"/>
                </a:solidFill>
              </a:defRPr>
            </a:pPr>
          </a:p>
        </p:txBody>
      </p:sp>
      <p:sp>
        <p:nvSpPr>
          <p:cNvPr id="548" name="Text 6"/>
          <p:cNvSpPr txBox="1"/>
          <p:nvPr/>
        </p:nvSpPr>
        <p:spPr>
          <a:xfrm>
            <a:off x="6407150" y="2089100"/>
            <a:ext cx="4905375"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z="1200">
                <a:solidFill>
                  <a:schemeClr val="accent1"/>
                </a:solidFill>
              </a:defRPr>
            </a:lvl1pPr>
          </a:lstStyle>
          <a:p>
            <a:pPr/>
            <a:r>
              <a:t>Una acción que exige tener el control</a:t>
            </a:r>
          </a:p>
        </p:txBody>
      </p:sp>
      <p:sp>
        <p:nvSpPr>
          <p:cNvPr id="549" name="Text 7"/>
          <p:cNvSpPr txBox="1"/>
          <p:nvPr/>
        </p:nvSpPr>
        <p:spPr>
          <a:xfrm>
            <a:off x="6407150" y="2404021"/>
            <a:ext cx="4905375" cy="2997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800"/>
              </a:lnSpc>
              <a:defRPr sz="1200">
                <a:solidFill>
                  <a:schemeClr val="accent2"/>
                </a:solidFill>
                <a:latin typeface="JetBrains Mono"/>
                <a:ea typeface="JetBrains Mono"/>
                <a:cs typeface="JetBrains Mono"/>
                <a:sym typeface="JetBrains Mono"/>
              </a:defRPr>
            </a:pPr>
            <a:r>
              <a:t>function</a:t>
            </a:r>
            <a:r>
              <a:rPr>
                <a:solidFill>
                  <a:srgbClr val="D7DEEA"/>
                </a:solidFill>
              </a:rPr>
              <a:t> leasedAction(name, description,</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inputSchema, run)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a:t>
            </a:r>
            <a:r>
              <a:rPr>
                <a:solidFill>
                  <a:schemeClr val="accent2"/>
                </a:solidFill>
              </a:rPr>
              <a:t>return</a:t>
            </a:r>
            <a:r>
              <a:t> { name, inputSchema,</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description: description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a:t>
            </a:r>
            <a:r>
              <a:rPr>
                <a:solidFill>
                  <a:schemeClr val="accent1"/>
                </a:solidFill>
              </a:rPr>
              <a:t>" Requires acquire_control first."</a:t>
            </a:r>
            <a:r>
              <a: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handler: queuedAction(async (ctx, state) =&gt;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a:t>
            </a:r>
            <a:r>
              <a:rPr>
                <a:solidFill>
                  <a:schemeClr val="accent2"/>
                </a:solidFill>
              </a:rPr>
              <a:t>if</a:t>
            </a:r>
            <a:r>
              <a:t> (!state.leaseId) throw new CanvasError(</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a:t>
            </a:r>
            <a:r>
              <a:rPr>
                <a:solidFill>
                  <a:schemeClr val="accent1"/>
                </a:solidFill>
              </a:rPr>
              <a:t>"lease_required"</a:t>
            </a:r>
            <a:r>
              <a: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"Call acquire_control first.");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return run(ctx, state.leaseId);</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a:t>
            </a:r>
          </a:p>
        </p:txBody>
      </p:sp>
      <p:sp>
        <p:nvSpPr>
          <p:cNvPr id="550" name="Text 8"/>
          <p:cNvSpPr txBox="1"/>
          <p:nvPr/>
        </p:nvSpPr>
        <p:spPr>
          <a:xfrm>
            <a:off x="812799" y="6238280"/>
            <a:ext cx="6138924"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defRPr>
            </a:lvl1pPr>
          </a:lstStyle>
          <a:p>
            <a:pPr/>
            <a:r>
              <a:t>Extracto simplificado de .github/extensions/copilot-avalonia/extension.mjs</a:t>
            </a:r>
          </a:p>
        </p:txBody>
      </p:sp>
      <p:sp>
        <p:nvSpPr>
          <p:cNvPr id="551" name="Text 9"/>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chemeClr val="accent6"/>
                </a:solidFill>
              </a:defRPr>
            </a:lvl1pPr>
          </a:lstStyle>
          <a:p>
            <a:pPr/>
            <a:r>
              <a:t>32</a:t>
            </a:r>
          </a:p>
        </p:txBody>
      </p:sp>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1EA"/>
        </a:solidFill>
      </p:bgPr>
    </p:bg>
    <p:spTree>
      <p:nvGrpSpPr>
        <p:cNvPr id="1" name=""/>
        <p:cNvGrpSpPr/>
        <p:nvPr/>
      </p:nvGrpSpPr>
      <p:grpSpPr>
        <a:xfrm>
          <a:off x="0" y="0"/>
          <a:ext cx="0" cy="0"/>
          <a:chOff x="0" y="0"/>
          <a:chExt cx="0" cy="0"/>
        </a:xfrm>
      </p:grpSpPr>
      <p:grpSp>
        <p:nvGrpSpPr>
          <p:cNvPr id="557" name="Text 0"/>
          <p:cNvGrpSpPr/>
          <p:nvPr/>
        </p:nvGrpSpPr>
        <p:grpSpPr>
          <a:xfrm>
            <a:off x="812800" y="812800"/>
            <a:ext cx="887164" cy="314920"/>
            <a:chOff x="0" y="0"/>
            <a:chExt cx="887163" cy="314919"/>
          </a:xfrm>
        </p:grpSpPr>
        <p:sp>
          <p:nvSpPr>
            <p:cNvPr id="555" name="Rounded Rectangle"/>
            <p:cNvSpPr/>
            <p:nvPr/>
          </p:nvSpPr>
          <p:spPr>
            <a:xfrm>
              <a:off x="0" y="0"/>
              <a:ext cx="887164" cy="314920"/>
            </a:xfrm>
            <a:prstGeom prst="roundRect">
              <a:avLst>
                <a:gd name="adj" fmla="val 48393"/>
              </a:avLst>
            </a:prstGeom>
            <a:solidFill>
              <a:schemeClr val="accent1"/>
            </a:solidFill>
            <a:ln w="12700" cap="flat">
              <a:noFill/>
              <a:miter lim="400000"/>
            </a:ln>
            <a:effectLst/>
          </p:spPr>
          <p:txBody>
            <a:bodyPr wrap="square" lIns="45719" tIns="45719" rIns="45719" bIns="45719" numCol="1" anchor="ctr">
              <a:noAutofit/>
            </a:bodyPr>
            <a:lstStyle/>
            <a:p>
              <a:pPr algn="ctr">
                <a:lnSpc>
                  <a:spcPts val="1600"/>
                </a:lnSpc>
                <a:defRPr sz="1200">
                  <a:solidFill>
                    <a:srgbClr val="EEF0F4"/>
                  </a:solidFill>
                </a:defRPr>
              </a:pPr>
            </a:p>
          </p:txBody>
        </p:sp>
        <p:sp>
          <p:nvSpPr>
            <p:cNvPr id="556" name="DEMO 9"/>
            <p:cNvSpPr txBox="1"/>
            <p:nvPr/>
          </p:nvSpPr>
          <p:spPr>
            <a:xfrm>
              <a:off x="106981" y="44636"/>
              <a:ext cx="673201" cy="225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normAutofit fontScale="100000" lnSpcReduction="0"/>
            </a:bodyPr>
            <a:lstStyle>
              <a:lvl1pPr algn="ctr">
                <a:lnSpc>
                  <a:spcPts val="1600"/>
                </a:lnSpc>
                <a:defRPr b="1" spc="100" sz="1200">
                  <a:solidFill>
                    <a:srgbClr val="161A26"/>
                  </a:solidFill>
                </a:defRPr>
              </a:lvl1pPr>
            </a:lstStyle>
            <a:p>
              <a:pPr/>
              <a:r>
                <a:t>DEMO 9</a:t>
              </a:r>
            </a:p>
          </p:txBody>
        </p:sp>
      </p:grpSp>
      <p:sp>
        <p:nvSpPr>
          <p:cNvPr id="558" name="Text 1"/>
          <p:cNvSpPr txBox="1"/>
          <p:nvPr>
            <p:ph type="title"/>
          </p:nvPr>
        </p:nvSpPr>
        <p:spPr>
          <a:xfrm>
            <a:off x="812799" y="1229320"/>
            <a:ext cx="10883394" cy="472430"/>
          </a:xfrm>
          <a:prstGeom prst="rect">
            <a:avLst/>
          </a:prstGeom>
        </p:spPr>
        <p:txBody>
          <a:bodyPr/>
          <a:lstStyle>
            <a:lvl1pPr>
              <a:lnSpc>
                <a:spcPts val="3500"/>
              </a:lnSpc>
              <a:defRPr b="1">
                <a:solidFill>
                  <a:srgbClr val="161A26"/>
                </a:solidFill>
              </a:defRPr>
            </a:lvl1pPr>
          </a:lstStyle>
          <a:p>
            <a:pPr/>
            <a:r>
              <a:t>El agente maneja una app de escritorio</a:t>
            </a:r>
          </a:p>
        </p:txBody>
      </p:sp>
      <p:sp>
        <p:nvSpPr>
          <p:cNvPr id="559" name="Shape 2"/>
          <p:cNvSpPr/>
          <p:nvPr/>
        </p:nvSpPr>
        <p:spPr>
          <a:xfrm>
            <a:off x="812800" y="1879550"/>
            <a:ext cx="4546600" cy="2673152"/>
          </a:xfrm>
          <a:prstGeom prst="roundRect">
            <a:avLst>
              <a:gd name="adj" fmla="val 3801"/>
            </a:avLst>
          </a:prstGeom>
          <a:solidFill>
            <a:srgbClr val="161A26"/>
          </a:solidFill>
          <a:ln w="12700">
            <a:miter lim="400000"/>
          </a:ln>
        </p:spPr>
        <p:txBody>
          <a:bodyPr lIns="45719" rIns="45719"/>
          <a:lstStyle/>
          <a:p>
            <a:pPr>
              <a:defRPr>
                <a:solidFill>
                  <a:srgbClr val="EEF0F4"/>
                </a:solidFill>
              </a:defRPr>
            </a:pPr>
          </a:p>
        </p:txBody>
      </p:sp>
      <p:sp>
        <p:nvSpPr>
          <p:cNvPr id="560" name="Text 3"/>
          <p:cNvSpPr txBox="1"/>
          <p:nvPr/>
        </p:nvSpPr>
        <p:spPr>
          <a:xfrm>
            <a:off x="1066799" y="2133550"/>
            <a:ext cx="415976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1"/>
                </a:solidFill>
              </a:defRPr>
            </a:lvl1pPr>
          </a:lstStyle>
          <a:p>
            <a:pPr/>
            <a:r>
              <a:t>PROMPT</a:t>
            </a:r>
          </a:p>
        </p:txBody>
      </p:sp>
      <p:sp>
        <p:nvSpPr>
          <p:cNvPr id="561" name="Text 4"/>
          <p:cNvSpPr txBox="1"/>
          <p:nvPr/>
        </p:nvSpPr>
        <p:spPr>
          <a:xfrm>
            <a:off x="1066799" y="2448471"/>
            <a:ext cx="4159760" cy="711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200">
                <a:solidFill>
                  <a:srgbClr val="EEF0F4"/>
                </a:solidFill>
                <a:latin typeface="JetBrains Mono"/>
                <a:ea typeface="JetBrains Mono"/>
                <a:cs typeface="JetBrains Mono"/>
                <a:sym typeface="JetBrains Mono"/>
              </a:defRPr>
            </a:lvl1pPr>
          </a:lstStyle>
          <a:p>
            <a:pPr/>
            <a:r>
              <a:t>Open the Copilot.Avalonia canvas for src/SampleApp, enter the name Javier, click Greet, and tell me what appears.</a:t>
            </a:r>
          </a:p>
        </p:txBody>
      </p:sp>
      <p:sp>
        <p:nvSpPr>
          <p:cNvPr id="562" name="Text 5"/>
          <p:cNvSpPr txBox="1"/>
          <p:nvPr/>
        </p:nvSpPr>
        <p:spPr>
          <a:xfrm>
            <a:off x="1066799" y="3343821"/>
            <a:ext cx="415976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1"/>
                </a:solidFill>
              </a:defRPr>
            </a:lvl1pPr>
          </a:lstStyle>
          <a:p>
            <a:pPr/>
            <a:r>
              <a:t>QUÉ DEBERÍAS VER</a:t>
            </a:r>
          </a:p>
        </p:txBody>
      </p:sp>
      <p:sp>
        <p:nvSpPr>
          <p:cNvPr id="563" name="Text 6"/>
          <p:cNvSpPr txBox="1"/>
          <p:nvPr/>
        </p:nvSpPr>
        <p:spPr>
          <a:xfrm>
            <a:off x="1066799" y="3658741"/>
            <a:ext cx="4159760" cy="66536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EEF0F4"/>
                </a:solidFill>
              </a:defRPr>
            </a:lvl1pPr>
          </a:lstStyle>
          <a:p>
            <a:pPr/>
            <a:r>
              <a:t>El agente rellena NameBox, pulsa GreetButton y lee GreetingText. Después los casos del plan pasan o fallan.</a:t>
            </a:r>
          </a:p>
        </p:txBody>
      </p:sp>
      <p:sp>
        <p:nvSpPr>
          <p:cNvPr id="564" name="Text 7"/>
          <p:cNvSpPr txBox="1"/>
          <p:nvPr/>
        </p:nvSpPr>
        <p:spPr>
          <a:xfrm>
            <a:off x="812800" y="4705101"/>
            <a:ext cx="4682998" cy="4520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4A5263"/>
                </a:solidFill>
                <a:latin typeface="JetBrains Mono"/>
                <a:ea typeface="JetBrains Mono"/>
                <a:cs typeface="JetBrains Mono"/>
                <a:sym typeface="JetBrains Mono"/>
              </a:defRPr>
            </a:lvl1pPr>
          </a:lstStyle>
          <a:p>
            <a:pPr/>
            <a:r>
              <a:t>Plan B: dotnet run --project src/SampleApp --launch-profile Canvas</a:t>
            </a:r>
          </a:p>
        </p:txBody>
      </p:sp>
      <p:pic>
        <p:nvPicPr>
          <p:cNvPr id="565" name="Image 1" descr="Image 1"/>
          <p:cNvPicPr>
            <a:picLocks noChangeAspect="1"/>
          </p:cNvPicPr>
          <p:nvPr/>
        </p:nvPicPr>
        <p:blipFill>
          <a:blip r:embed="rId3">
            <a:extLst/>
          </a:blip>
          <a:srcRect l="0" t="0" r="0" b="0"/>
          <a:stretch>
            <a:fillRect/>
          </a:stretch>
        </p:blipFill>
        <p:spPr>
          <a:xfrm>
            <a:off x="5670550" y="1885900"/>
            <a:ext cx="5702300" cy="3429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440"/>
                </a:moveTo>
                <a:lnTo>
                  <a:pt x="21600" y="21160"/>
                </a:lnTo>
                <a:cubicBezTo>
                  <a:pt x="21600" y="21403"/>
                  <a:pt x="21482" y="21600"/>
                  <a:pt x="21335" y="21600"/>
                </a:cubicBezTo>
                <a:lnTo>
                  <a:pt x="265" y="21600"/>
                </a:lnTo>
                <a:cubicBezTo>
                  <a:pt x="118" y="21600"/>
                  <a:pt x="0" y="21403"/>
                  <a:pt x="0" y="21160"/>
                </a:cubicBezTo>
                <a:lnTo>
                  <a:pt x="0" y="440"/>
                </a:lnTo>
                <a:lnTo>
                  <a:pt x="1" y="395"/>
                </a:lnTo>
                <a:cubicBezTo>
                  <a:pt x="15" y="173"/>
                  <a:pt x="128" y="0"/>
                  <a:pt x="265" y="0"/>
                </a:cubicBezTo>
                <a:lnTo>
                  <a:pt x="21335" y="0"/>
                </a:lnTo>
                <a:cubicBezTo>
                  <a:pt x="21482" y="0"/>
                  <a:pt x="21600" y="197"/>
                  <a:pt x="21600" y="440"/>
                </a:cubicBezTo>
                <a:close/>
              </a:path>
            </a:pathLst>
          </a:custGeom>
          <a:ln w="12700">
            <a:miter lim="400000"/>
          </a:ln>
        </p:spPr>
      </p:pic>
      <p:sp>
        <p:nvSpPr>
          <p:cNvPr id="566" name="Shape 8"/>
          <p:cNvSpPr/>
          <p:nvPr/>
        </p:nvSpPr>
        <p:spPr>
          <a:xfrm>
            <a:off x="5667375" y="1882725"/>
            <a:ext cx="5708650" cy="3435351"/>
          </a:xfrm>
          <a:prstGeom prst="roundRect">
            <a:avLst>
              <a:gd name="adj" fmla="val 2126"/>
            </a:avLst>
          </a:prstGeom>
          <a:ln w="6350">
            <a:solidFill>
              <a:srgbClr val="D5D0C4"/>
            </a:solidFill>
          </a:ln>
        </p:spPr>
        <p:txBody>
          <a:bodyPr lIns="45719" rIns="45719"/>
          <a:lstStyle/>
          <a:p>
            <a:pPr>
              <a:defRPr>
                <a:solidFill>
                  <a:srgbClr val="EEF0F4"/>
                </a:solidFill>
              </a:defRPr>
            </a:pPr>
          </a:p>
        </p:txBody>
      </p:sp>
      <p:sp>
        <p:nvSpPr>
          <p:cNvPr id="567" name="Text 9"/>
          <p:cNvSpPr txBox="1"/>
          <p:nvPr/>
        </p:nvSpPr>
        <p:spPr>
          <a:xfrm>
            <a:off x="5664200" y="5397450"/>
            <a:ext cx="588645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C6470"/>
                </a:solidFill>
              </a:defRPr>
            </a:lvl1pPr>
          </a:lstStyle>
          <a:p>
            <a:pPr/>
            <a:r>
              <a:t>Captura real · Agent has control, con Take back control</a:t>
            </a:r>
          </a:p>
        </p:txBody>
      </p:sp>
      <p:sp>
        <p:nvSpPr>
          <p:cNvPr id="568" name="Text 10"/>
          <p:cNvSpPr txBox="1"/>
          <p:nvPr/>
        </p:nvSpPr>
        <p:spPr>
          <a:xfrm>
            <a:off x="812799" y="6238280"/>
            <a:ext cx="302782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C6470"/>
                </a:solidFill>
              </a:defRPr>
            </a:lvl1pPr>
          </a:lstStyle>
          <a:p>
            <a:pPr/>
            <a:r>
              <a:t>Extensibilidad de GitHub Copilot App</a:t>
            </a:r>
          </a:p>
        </p:txBody>
      </p:sp>
      <p:sp>
        <p:nvSpPr>
          <p:cNvPr id="569" name="Text 11"/>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rgbClr val="5C6470"/>
                </a:solidFill>
              </a:defRPr>
            </a:lvl1pPr>
          </a:lstStyle>
          <a:p>
            <a:pPr/>
            <a:r>
              <a:t>33</a:t>
            </a:r>
          </a:p>
        </p:txBody>
      </p:sp>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1EA"/>
        </a:solidFill>
      </p:bgPr>
    </p:bg>
    <p:spTree>
      <p:nvGrpSpPr>
        <p:cNvPr id="1" name=""/>
        <p:cNvGrpSpPr/>
        <p:nvPr/>
      </p:nvGrpSpPr>
      <p:grpSpPr>
        <a:xfrm>
          <a:off x="0" y="0"/>
          <a:ext cx="0" cy="0"/>
          <a:chOff x="0" y="0"/>
          <a:chExt cx="0" cy="0"/>
        </a:xfrm>
      </p:grpSpPr>
      <p:grpSp>
        <p:nvGrpSpPr>
          <p:cNvPr id="575" name="Text 0"/>
          <p:cNvGrpSpPr/>
          <p:nvPr/>
        </p:nvGrpSpPr>
        <p:grpSpPr>
          <a:xfrm>
            <a:off x="812800" y="812800"/>
            <a:ext cx="2307432" cy="314920"/>
            <a:chOff x="0" y="0"/>
            <a:chExt cx="2307431" cy="314919"/>
          </a:xfrm>
        </p:grpSpPr>
        <p:sp>
          <p:nvSpPr>
            <p:cNvPr id="573" name="Rounded Rectangle"/>
            <p:cNvSpPr/>
            <p:nvPr/>
          </p:nvSpPr>
          <p:spPr>
            <a:xfrm>
              <a:off x="0" y="0"/>
              <a:ext cx="2307432" cy="314920"/>
            </a:xfrm>
            <a:prstGeom prst="roundRect">
              <a:avLst>
                <a:gd name="adj" fmla="val 48393"/>
              </a:avLst>
            </a:prstGeom>
            <a:solidFill>
              <a:srgbClr val="161A26"/>
            </a:solidFill>
            <a:ln w="12700" cap="flat">
              <a:noFill/>
              <a:miter lim="400000"/>
            </a:ln>
            <a:effectLst/>
          </p:spPr>
          <p:txBody>
            <a:bodyPr wrap="square" lIns="45719" tIns="45719" rIns="45719" bIns="45719" numCol="1" anchor="ctr">
              <a:noAutofit/>
            </a:bodyPr>
            <a:lstStyle/>
            <a:p>
              <a:pPr algn="ctr">
                <a:lnSpc>
                  <a:spcPts val="1600"/>
                </a:lnSpc>
                <a:defRPr sz="1200">
                  <a:solidFill>
                    <a:srgbClr val="EEF0F4"/>
                  </a:solidFill>
                </a:defRPr>
              </a:pPr>
            </a:p>
          </p:txBody>
        </p:sp>
        <p:sp>
          <p:nvSpPr>
            <p:cNvPr id="574" name="DEMO 9 · CAPTURA REAL"/>
            <p:cNvSpPr txBox="1"/>
            <p:nvPr/>
          </p:nvSpPr>
          <p:spPr>
            <a:xfrm>
              <a:off x="60027" y="44636"/>
              <a:ext cx="2187377" cy="225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normAutofit fontScale="100000" lnSpcReduction="0"/>
            </a:bodyPr>
            <a:lstStyle>
              <a:lvl1pPr algn="ctr">
                <a:lnSpc>
                  <a:spcPts val="1600"/>
                </a:lnSpc>
                <a:defRPr b="1" spc="100" sz="1200">
                  <a:solidFill>
                    <a:srgbClr val="F4F1EA"/>
                  </a:solidFill>
                </a:defRPr>
              </a:lvl1pPr>
            </a:lstStyle>
            <a:p>
              <a:pPr/>
              <a:r>
                <a:t>DEMO 9 · CAPTURA REAL</a:t>
              </a:r>
            </a:p>
          </p:txBody>
        </p:sp>
      </p:grpSp>
      <p:sp>
        <p:nvSpPr>
          <p:cNvPr id="576" name="Text 1"/>
          <p:cNvSpPr txBox="1"/>
          <p:nvPr>
            <p:ph type="title"/>
          </p:nvPr>
        </p:nvSpPr>
        <p:spPr>
          <a:xfrm>
            <a:off x="812799" y="1229320"/>
            <a:ext cx="10883394" cy="472430"/>
          </a:xfrm>
          <a:prstGeom prst="rect">
            <a:avLst/>
          </a:prstGeom>
        </p:spPr>
        <p:txBody>
          <a:bodyPr/>
          <a:lstStyle>
            <a:lvl1pPr>
              <a:lnSpc>
                <a:spcPts val="3500"/>
              </a:lnSpc>
              <a:defRPr b="1">
                <a:solidFill>
                  <a:srgbClr val="161A26"/>
                </a:solidFill>
              </a:defRPr>
            </a:lvl1pPr>
          </a:lstStyle>
          <a:p>
            <a:pPr/>
            <a:r>
              <a:t>La interfaz le pide trabajo al agente</a:t>
            </a:r>
          </a:p>
        </p:txBody>
      </p:sp>
      <p:pic>
        <p:nvPicPr>
          <p:cNvPr id="577" name="Image 0" descr="Image 0"/>
          <p:cNvPicPr>
            <a:picLocks noChangeAspect="1"/>
          </p:cNvPicPr>
          <p:nvPr/>
        </p:nvPicPr>
        <p:blipFill>
          <a:blip r:embed="rId3">
            <a:extLst/>
          </a:blip>
          <a:srcRect l="0" t="0" r="0" b="0"/>
          <a:stretch>
            <a:fillRect/>
          </a:stretch>
        </p:blipFill>
        <p:spPr>
          <a:xfrm>
            <a:off x="819150" y="1885900"/>
            <a:ext cx="6489700" cy="38989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87"/>
                </a:moveTo>
                <a:lnTo>
                  <a:pt x="21600" y="21213"/>
                </a:lnTo>
                <a:cubicBezTo>
                  <a:pt x="21600" y="21427"/>
                  <a:pt x="21496" y="21600"/>
                  <a:pt x="21367" y="21600"/>
                </a:cubicBezTo>
                <a:lnTo>
                  <a:pt x="233" y="21600"/>
                </a:lnTo>
                <a:cubicBezTo>
                  <a:pt x="104" y="21600"/>
                  <a:pt x="0" y="21427"/>
                  <a:pt x="0" y="21213"/>
                </a:cubicBezTo>
                <a:lnTo>
                  <a:pt x="0" y="387"/>
                </a:lnTo>
                <a:lnTo>
                  <a:pt x="1" y="347"/>
                </a:lnTo>
                <a:cubicBezTo>
                  <a:pt x="13" y="152"/>
                  <a:pt x="112" y="0"/>
                  <a:pt x="233" y="0"/>
                </a:cubicBezTo>
                <a:lnTo>
                  <a:pt x="21367" y="0"/>
                </a:lnTo>
                <a:cubicBezTo>
                  <a:pt x="21496" y="0"/>
                  <a:pt x="21600" y="173"/>
                  <a:pt x="21600" y="387"/>
                </a:cubicBezTo>
                <a:close/>
              </a:path>
            </a:pathLst>
          </a:custGeom>
          <a:ln w="12700">
            <a:miter lim="400000"/>
          </a:ln>
        </p:spPr>
      </p:pic>
      <p:sp>
        <p:nvSpPr>
          <p:cNvPr id="578" name="Shape 2"/>
          <p:cNvSpPr/>
          <p:nvPr/>
        </p:nvSpPr>
        <p:spPr>
          <a:xfrm>
            <a:off x="815975" y="1882725"/>
            <a:ext cx="6496050" cy="3905251"/>
          </a:xfrm>
          <a:prstGeom prst="roundRect">
            <a:avLst>
              <a:gd name="adj" fmla="val 1870"/>
            </a:avLst>
          </a:prstGeom>
          <a:ln w="6350">
            <a:solidFill>
              <a:srgbClr val="D5D0C4"/>
            </a:solidFill>
          </a:ln>
        </p:spPr>
        <p:txBody>
          <a:bodyPr lIns="45719" rIns="45719"/>
          <a:lstStyle/>
          <a:p>
            <a:pPr>
              <a:defRPr>
                <a:solidFill>
                  <a:srgbClr val="EEF0F4"/>
                </a:solidFill>
              </a:defRPr>
            </a:pPr>
          </a:p>
        </p:txBody>
      </p:sp>
      <p:sp>
        <p:nvSpPr>
          <p:cNvPr id="579" name="Text 3"/>
          <p:cNvSpPr txBox="1"/>
          <p:nvPr/>
        </p:nvSpPr>
        <p:spPr>
          <a:xfrm>
            <a:off x="7619999" y="1879550"/>
            <a:ext cx="3871978"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4"/>
                </a:solidFill>
              </a:defRPr>
            </a:lvl1pPr>
          </a:lstStyle>
          <a:p>
            <a:pPr/>
            <a:r>
              <a:t>EN QUÉ FIJARSE</a:t>
            </a:r>
          </a:p>
        </p:txBody>
      </p:sp>
      <p:sp>
        <p:nvSpPr>
          <p:cNvPr id="580" name="Text 4"/>
          <p:cNvSpPr txBox="1"/>
          <p:nvPr/>
        </p:nvSpPr>
        <p:spPr>
          <a:xfrm>
            <a:off x="7619999" y="2245271"/>
            <a:ext cx="3871978" cy="8255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161A26"/>
                </a:solidFill>
              </a:defRPr>
            </a:lvl1pPr>
          </a:lstStyle>
          <a:p>
            <a:pPr/>
            <a:r>
              <a:t>El botón del canvas envía el prompt con session.send: aparece como un mensaje más.</a:t>
            </a:r>
          </a:p>
        </p:txBody>
      </p:sp>
      <p:sp>
        <p:nvSpPr>
          <p:cNvPr id="581" name="Text 5"/>
          <p:cNvSpPr txBox="1"/>
          <p:nvPr/>
        </p:nvSpPr>
        <p:spPr>
          <a:xfrm>
            <a:off x="7619999" y="3197771"/>
            <a:ext cx="3871978"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161A26"/>
                </a:solidFill>
              </a:defRPr>
            </a:lvl1pPr>
          </a:lstStyle>
          <a:p>
            <a:pPr/>
            <a:r>
              <a:t>El agente ejecuta cada caso en la app real y lo marca con set_status y una nota.</a:t>
            </a:r>
          </a:p>
        </p:txBody>
      </p:sp>
      <p:sp>
        <p:nvSpPr>
          <p:cNvPr id="582" name="Text 6"/>
          <p:cNvSpPr txBox="1"/>
          <p:nvPr/>
        </p:nvSpPr>
        <p:spPr>
          <a:xfrm>
            <a:off x="7619999" y="3883571"/>
            <a:ext cx="3871978"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161A26"/>
                </a:solidFill>
              </a:defRPr>
            </a:lvl1pPr>
          </a:lstStyle>
          <a:p>
            <a:pPr/>
            <a:r>
              <a:t>Resultado: 3 casos, 3 pasados, con lo observado en cada uno.</a:t>
            </a:r>
          </a:p>
        </p:txBody>
      </p:sp>
      <p:sp>
        <p:nvSpPr>
          <p:cNvPr id="583" name="Text 7"/>
          <p:cNvSpPr txBox="1"/>
          <p:nvPr/>
        </p:nvSpPr>
        <p:spPr>
          <a:xfrm>
            <a:off x="812799" y="6238280"/>
            <a:ext cx="302782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C6470"/>
                </a:solidFill>
              </a:defRPr>
            </a:lvl1pPr>
          </a:lstStyle>
          <a:p>
            <a:pPr/>
            <a:r>
              <a:t>Extensibilidad de GitHub Copilot App</a:t>
            </a:r>
          </a:p>
        </p:txBody>
      </p:sp>
      <p:sp>
        <p:nvSpPr>
          <p:cNvPr id="584" name="Text 8"/>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rgbClr val="5C6470"/>
                </a:solidFill>
              </a:defRPr>
            </a:lvl1pPr>
          </a:lstStyle>
          <a:p>
            <a:pPr/>
            <a:r>
              <a:t>34</a:t>
            </a:r>
          </a:p>
        </p:txBody>
      </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8"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2"/>
                </a:solidFill>
              </a:defRPr>
            </a:lvl1pPr>
          </a:lstStyle>
          <a:p>
            <a:pPr/>
            <a:r>
              <a:t>PASO 8 · CANVAS · UN EJEMPLO REAL</a:t>
            </a:r>
          </a:p>
        </p:txBody>
      </p:sp>
      <p:sp>
        <p:nvSpPr>
          <p:cNvPr id="589" name="Text 1"/>
          <p:cNvSpPr txBox="1"/>
          <p:nvPr>
            <p:ph type="title"/>
          </p:nvPr>
        </p:nvSpPr>
        <p:spPr>
          <a:xfrm>
            <a:off x="812799" y="1127720"/>
            <a:ext cx="10883394" cy="472430"/>
          </a:xfrm>
          <a:prstGeom prst="rect">
            <a:avLst/>
          </a:prstGeom>
        </p:spPr>
        <p:txBody>
          <a:bodyPr/>
          <a:lstStyle>
            <a:lvl1pPr>
              <a:lnSpc>
                <a:spcPts val="3500"/>
              </a:lnSpc>
              <a:defRPr b="1"/>
            </a:lvl1pPr>
          </a:lstStyle>
          <a:p>
            <a:pPr/>
            <a:r>
              <a:t>Cuatro lecciones para tu propio canvas</a:t>
            </a:r>
          </a:p>
        </p:txBody>
      </p:sp>
      <p:sp>
        <p:nvSpPr>
          <p:cNvPr id="590" name="Shape 2"/>
          <p:cNvSpPr/>
          <p:nvPr/>
        </p:nvSpPr>
        <p:spPr>
          <a:xfrm>
            <a:off x="815975" y="1882725"/>
            <a:ext cx="5175250" cy="1428751"/>
          </a:xfrm>
          <a:prstGeom prst="roundRect">
            <a:avLst>
              <a:gd name="adj" fmla="val 6889"/>
            </a:avLst>
          </a:prstGeom>
          <a:solidFill>
            <a:srgbClr val="1A2133"/>
          </a:solidFill>
          <a:ln w="6350">
            <a:solidFill>
              <a:srgbClr val="2B3550"/>
            </a:solidFill>
          </a:ln>
        </p:spPr>
        <p:txBody>
          <a:bodyPr lIns="45719" rIns="45719"/>
          <a:lstStyle/>
          <a:p>
            <a:pPr>
              <a:defRPr>
                <a:solidFill>
                  <a:srgbClr val="EEF0F4"/>
                </a:solidFill>
              </a:defRPr>
            </a:pPr>
          </a:p>
        </p:txBody>
      </p:sp>
      <p:sp>
        <p:nvSpPr>
          <p:cNvPr id="591" name="Text 3"/>
          <p:cNvSpPr txBox="1"/>
          <p:nvPr/>
        </p:nvSpPr>
        <p:spPr>
          <a:xfrm>
            <a:off x="1073149" y="2139900"/>
            <a:ext cx="4800729"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b="1" sz="2000">
                <a:solidFill>
                  <a:srgbClr val="EEF0F4"/>
                </a:solidFill>
                <a:latin typeface="Space Grotesk"/>
                <a:ea typeface="Space Grotesk"/>
                <a:cs typeface="Space Grotesk"/>
                <a:sym typeface="Space Grotesk"/>
              </a:defRPr>
            </a:lvl1pPr>
          </a:lstStyle>
          <a:p>
            <a:pPr/>
            <a:r>
              <a:t>Control compartido</a:t>
            </a:r>
          </a:p>
        </p:txBody>
      </p:sp>
      <p:sp>
        <p:nvSpPr>
          <p:cNvPr id="592" name="Text 4"/>
          <p:cNvSpPr txBox="1"/>
          <p:nvPr/>
        </p:nvSpPr>
        <p:spPr>
          <a:xfrm>
            <a:off x="1073149" y="2520900"/>
            <a:ext cx="4800729"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El agente pide el control con un motivo y una caducidad. La persona lo recupera cuando quiera.</a:t>
            </a:r>
          </a:p>
        </p:txBody>
      </p:sp>
      <p:sp>
        <p:nvSpPr>
          <p:cNvPr id="593" name="Shape 5"/>
          <p:cNvSpPr/>
          <p:nvPr/>
        </p:nvSpPr>
        <p:spPr>
          <a:xfrm>
            <a:off x="6200775" y="1882725"/>
            <a:ext cx="5175250" cy="1428751"/>
          </a:xfrm>
          <a:prstGeom prst="roundRect">
            <a:avLst>
              <a:gd name="adj" fmla="val 6889"/>
            </a:avLst>
          </a:prstGeom>
          <a:solidFill>
            <a:srgbClr val="1A2133"/>
          </a:solidFill>
          <a:ln w="6350">
            <a:solidFill>
              <a:srgbClr val="2B3550"/>
            </a:solidFill>
          </a:ln>
        </p:spPr>
        <p:txBody>
          <a:bodyPr lIns="45719" rIns="45719"/>
          <a:lstStyle/>
          <a:p>
            <a:pPr>
              <a:defRPr>
                <a:solidFill>
                  <a:srgbClr val="EEF0F4"/>
                </a:solidFill>
              </a:defRPr>
            </a:pPr>
          </a:p>
        </p:txBody>
      </p:sp>
      <p:sp>
        <p:nvSpPr>
          <p:cNvPr id="594" name="Text 6"/>
          <p:cNvSpPr txBox="1"/>
          <p:nvPr/>
        </p:nvSpPr>
        <p:spPr>
          <a:xfrm>
            <a:off x="6457949" y="2139900"/>
            <a:ext cx="4800729"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b="1" sz="2000">
                <a:solidFill>
                  <a:srgbClr val="EEF0F4"/>
                </a:solidFill>
                <a:latin typeface="Space Grotesk"/>
                <a:ea typeface="Space Grotesk"/>
                <a:cs typeface="Space Grotesk"/>
                <a:sym typeface="Space Grotesk"/>
              </a:defRPr>
            </a:lvl1pPr>
          </a:lstStyle>
          <a:p>
            <a:pPr/>
            <a:r>
              <a:t>Verifica, no supongas</a:t>
            </a:r>
          </a:p>
        </p:txBody>
      </p:sp>
      <p:sp>
        <p:nvSpPr>
          <p:cNvPr id="595" name="Text 7"/>
          <p:cNvSpPr txBox="1"/>
          <p:nvPr/>
        </p:nvSpPr>
        <p:spPr>
          <a:xfrm>
            <a:off x="6457949" y="2520900"/>
            <a:ext cx="4800729"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Enviar entrada no prueba el resultado. Cada acción devuelve un estado que puedes comprobar.</a:t>
            </a:r>
          </a:p>
        </p:txBody>
      </p:sp>
      <p:sp>
        <p:nvSpPr>
          <p:cNvPr id="596" name="Shape 8"/>
          <p:cNvSpPr/>
          <p:nvPr/>
        </p:nvSpPr>
        <p:spPr>
          <a:xfrm>
            <a:off x="815975" y="3521025"/>
            <a:ext cx="5175250" cy="1695451"/>
          </a:xfrm>
          <a:prstGeom prst="roundRect">
            <a:avLst>
              <a:gd name="adj" fmla="val 5805"/>
            </a:avLst>
          </a:prstGeom>
          <a:solidFill>
            <a:srgbClr val="1A2133"/>
          </a:solidFill>
          <a:ln w="6350">
            <a:solidFill>
              <a:srgbClr val="2B3550"/>
            </a:solidFill>
          </a:ln>
        </p:spPr>
        <p:txBody>
          <a:bodyPr lIns="45719" rIns="45719"/>
          <a:lstStyle/>
          <a:p>
            <a:pPr>
              <a:defRPr>
                <a:solidFill>
                  <a:srgbClr val="EEF0F4"/>
                </a:solidFill>
              </a:defRPr>
            </a:pPr>
          </a:p>
        </p:txBody>
      </p:sp>
      <p:sp>
        <p:nvSpPr>
          <p:cNvPr id="597" name="Text 9"/>
          <p:cNvSpPr txBox="1"/>
          <p:nvPr/>
        </p:nvSpPr>
        <p:spPr>
          <a:xfrm>
            <a:off x="1073149" y="3778200"/>
            <a:ext cx="4800729"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b="1" sz="2000">
                <a:solidFill>
                  <a:srgbClr val="EEF0F4"/>
                </a:solidFill>
                <a:latin typeface="Space Grotesk"/>
                <a:ea typeface="Space Grotesk"/>
                <a:cs typeface="Space Grotesk"/>
                <a:sym typeface="Space Grotesk"/>
              </a:defRPr>
            </a:lvl1pPr>
          </a:lstStyle>
          <a:p>
            <a:pPr/>
            <a:r>
              <a:t>Limita todo</a:t>
            </a:r>
          </a:p>
        </p:txBody>
      </p:sp>
      <p:sp>
        <p:nvSpPr>
          <p:cNvPr id="598" name="Text 10"/>
          <p:cNvSpPr txBox="1"/>
          <p:nvPr/>
        </p:nvSpPr>
        <p:spPr>
          <a:xfrm>
            <a:off x="1073149" y="4159200"/>
            <a:ext cx="4800729" cy="8255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Respuestas limitadas a 64 KiB y texto paginado. El contexto del modelo también es un recurso.</a:t>
            </a:r>
          </a:p>
        </p:txBody>
      </p:sp>
      <p:sp>
        <p:nvSpPr>
          <p:cNvPr id="599" name="Shape 11"/>
          <p:cNvSpPr/>
          <p:nvPr/>
        </p:nvSpPr>
        <p:spPr>
          <a:xfrm>
            <a:off x="6200775" y="3521025"/>
            <a:ext cx="5175250" cy="1695451"/>
          </a:xfrm>
          <a:prstGeom prst="roundRect">
            <a:avLst>
              <a:gd name="adj" fmla="val 5805"/>
            </a:avLst>
          </a:prstGeom>
          <a:solidFill>
            <a:srgbClr val="1A2133"/>
          </a:solidFill>
          <a:ln w="6350">
            <a:solidFill>
              <a:srgbClr val="2B3550"/>
            </a:solidFill>
          </a:ln>
        </p:spPr>
        <p:txBody>
          <a:bodyPr lIns="45719" rIns="45719"/>
          <a:lstStyle/>
          <a:p>
            <a:pPr>
              <a:defRPr>
                <a:solidFill>
                  <a:srgbClr val="EEF0F4"/>
                </a:solidFill>
              </a:defRPr>
            </a:pPr>
          </a:p>
        </p:txBody>
      </p:sp>
      <p:sp>
        <p:nvSpPr>
          <p:cNvPr id="600" name="Text 12"/>
          <p:cNvSpPr txBox="1"/>
          <p:nvPr/>
        </p:nvSpPr>
        <p:spPr>
          <a:xfrm>
            <a:off x="6457949" y="3778200"/>
            <a:ext cx="4800729"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b="1" sz="2000">
                <a:solidFill>
                  <a:srgbClr val="EEF0F4"/>
                </a:solidFill>
                <a:latin typeface="Space Grotesk"/>
                <a:ea typeface="Space Grotesk"/>
                <a:cs typeface="Space Grotesk"/>
                <a:sym typeface="Space Grotesk"/>
              </a:defRPr>
            </a:lvl1pPr>
          </a:lstStyle>
          <a:p>
            <a:pPr/>
            <a:r>
              <a:t>Lo que lee son datos</a:t>
            </a:r>
          </a:p>
        </p:txBody>
      </p:sp>
      <p:sp>
        <p:nvSpPr>
          <p:cNvPr id="601" name="Text 13"/>
          <p:cNvSpPr txBox="1"/>
          <p:nvPr/>
        </p:nvSpPr>
        <p:spPr>
          <a:xfrm>
            <a:off x="6457949" y="4159200"/>
            <a:ext cx="4800729"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El texto de la UI y los logs no son instrucciones. Dilo en la descripción del canvas.</a:t>
            </a:r>
          </a:p>
        </p:txBody>
      </p:sp>
      <p:sp>
        <p:nvSpPr>
          <p:cNvPr id="602" name="Text 14"/>
          <p:cNvSpPr txBox="1"/>
          <p:nvPr/>
        </p:nvSpPr>
        <p:spPr>
          <a:xfrm>
            <a:off x="812799" y="6238280"/>
            <a:ext cx="302782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defRPr>
            </a:lvl1pPr>
          </a:lstStyle>
          <a:p>
            <a:pPr/>
            <a:r>
              <a:t>Extensibilidad de GitHub Copilot App</a:t>
            </a:r>
          </a:p>
        </p:txBody>
      </p:sp>
      <p:sp>
        <p:nvSpPr>
          <p:cNvPr id="603" name="Text 15"/>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chemeClr val="accent6"/>
                </a:solidFill>
              </a:defRPr>
            </a:lvl1pPr>
          </a:lstStyle>
          <a:p>
            <a:pPr/>
            <a:r>
              <a:t>35</a:t>
            </a:r>
          </a:p>
        </p:txBody>
      </p:sp>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07"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2"/>
                </a:solidFill>
              </a:defRPr>
            </a:lvl1pPr>
          </a:lstStyle>
          <a:p>
            <a:pPr/>
            <a:r>
              <a:t>PASO 9 · PLUGINS</a:t>
            </a:r>
          </a:p>
        </p:txBody>
      </p:sp>
      <p:sp>
        <p:nvSpPr>
          <p:cNvPr id="608" name="Text 1"/>
          <p:cNvSpPr txBox="1"/>
          <p:nvPr>
            <p:ph type="title"/>
          </p:nvPr>
        </p:nvSpPr>
        <p:spPr>
          <a:xfrm>
            <a:off x="812799" y="1127720"/>
            <a:ext cx="10883394" cy="472430"/>
          </a:xfrm>
          <a:prstGeom prst="rect">
            <a:avLst/>
          </a:prstGeom>
        </p:spPr>
        <p:txBody>
          <a:bodyPr/>
          <a:lstStyle>
            <a:lvl1pPr>
              <a:lnSpc>
                <a:spcPts val="3500"/>
              </a:lnSpc>
              <a:defRPr b="1"/>
            </a:lvl1pPr>
          </a:lstStyle>
          <a:p>
            <a:pPr/>
            <a:r>
              <a:t>Empaqueta y distribuye con un comando</a:t>
            </a:r>
          </a:p>
        </p:txBody>
      </p:sp>
      <p:sp>
        <p:nvSpPr>
          <p:cNvPr id="609" name="Text 2"/>
          <p:cNvSpPr txBox="1"/>
          <p:nvPr/>
        </p:nvSpPr>
        <p:spPr>
          <a:xfrm>
            <a:off x="812800" y="1879550"/>
            <a:ext cx="4224090" cy="8255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EEF0F4"/>
                </a:solidFill>
              </a:defRPr>
            </a:lvl1pPr>
          </a:lstStyle>
          <a:p>
            <a:pPr/>
            <a:r>
              <a:t>Un plugin no es una pieza nueva: es un paquete de skills, agentes, hooks, servidores MCP y LSP, y extensiones.</a:t>
            </a:r>
          </a:p>
        </p:txBody>
      </p:sp>
      <p:sp>
        <p:nvSpPr>
          <p:cNvPr id="610" name="Text 3"/>
          <p:cNvSpPr txBox="1"/>
          <p:nvPr/>
        </p:nvSpPr>
        <p:spPr>
          <a:xfrm>
            <a:off x="812800" y="2832050"/>
            <a:ext cx="4224090"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plugin.json describe el contenido; marketplace.json crea el catálogo.</a:t>
            </a:r>
          </a:p>
        </p:txBody>
      </p:sp>
      <p:sp>
        <p:nvSpPr>
          <p:cNvPr id="611" name="Text 4"/>
          <p:cNvSpPr txBox="1"/>
          <p:nvPr/>
        </p:nvSpPr>
        <p:spPr>
          <a:xfrm>
            <a:off x="812800" y="3517850"/>
            <a:ext cx="4224090"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Se instala con copilot plugin install nombre@marketplace; hay versiones.</a:t>
            </a:r>
          </a:p>
        </p:txBody>
      </p:sp>
      <p:sp>
        <p:nvSpPr>
          <p:cNvPr id="612" name="Shape 5"/>
          <p:cNvSpPr/>
          <p:nvPr/>
        </p:nvSpPr>
        <p:spPr>
          <a:xfrm>
            <a:off x="5221832" y="1882725"/>
            <a:ext cx="6154193" cy="3658792"/>
          </a:xfrm>
          <a:prstGeom prst="roundRect">
            <a:avLst>
              <a:gd name="adj" fmla="val 2690"/>
            </a:avLst>
          </a:prstGeom>
          <a:solidFill>
            <a:srgbClr val="1A2133"/>
          </a:solidFill>
          <a:ln w="6350">
            <a:solidFill>
              <a:srgbClr val="2B3550"/>
            </a:solidFill>
          </a:ln>
        </p:spPr>
        <p:txBody>
          <a:bodyPr lIns="45719" rIns="45719"/>
          <a:lstStyle/>
          <a:p>
            <a:pPr>
              <a:defRPr>
                <a:solidFill>
                  <a:srgbClr val="EEF0F4"/>
                </a:solidFill>
              </a:defRPr>
            </a:pPr>
          </a:p>
        </p:txBody>
      </p:sp>
      <p:sp>
        <p:nvSpPr>
          <p:cNvPr id="613" name="Text 6"/>
          <p:cNvSpPr txBox="1"/>
          <p:nvPr/>
        </p:nvSpPr>
        <p:spPr>
          <a:xfrm>
            <a:off x="5428207" y="2089100"/>
            <a:ext cx="5913686"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latin typeface="JetBrains Mono"/>
                <a:ea typeface="JetBrains Mono"/>
                <a:cs typeface="JetBrains Mono"/>
                <a:sym typeface="JetBrains Mono"/>
              </a:defRPr>
            </a:lvl1pPr>
          </a:lstStyle>
          <a:p>
            <a:pPr/>
            <a:r>
              <a:t>plugin.json</a:t>
            </a:r>
          </a:p>
        </p:txBody>
      </p:sp>
      <p:sp>
        <p:nvSpPr>
          <p:cNvPr id="614" name="Text 7"/>
          <p:cNvSpPr txBox="1"/>
          <p:nvPr/>
        </p:nvSpPr>
        <p:spPr>
          <a:xfrm>
            <a:off x="5428207" y="2404021"/>
            <a:ext cx="5913686" cy="2082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800"/>
              </a:lnSpc>
              <a:defRPr sz="1200">
                <a:solidFill>
                  <a:srgbClr val="D7DEEA"/>
                </a:solidFill>
                <a:latin typeface="JetBrains Mono"/>
                <a:ea typeface="JetBrains Mono"/>
                <a:cs typeface="JetBrains Mono"/>
                <a:sym typeface="JetBrains Mono"/>
              </a:defRPr>
            </a:pPr>
            <a:r>
              <a: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"name": </a:t>
            </a:r>
            <a:r>
              <a:rPr>
                <a:solidFill>
                  <a:schemeClr val="accent1"/>
                </a:solidFill>
              </a:rPr>
              <a:t>"my-plugin"</a:t>
            </a:r>
            <a:r>
              <a:t>,</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"version": "0.1.0",</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"agents": "agents/",</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"skills": "skills/",</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"hooks": "hooks.json",</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"mcpServers": ".mcp.json",</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  "lspServers": "lsp.json"</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a:t>
            </a:r>
          </a:p>
        </p:txBody>
      </p:sp>
      <p:sp>
        <p:nvSpPr>
          <p:cNvPr id="615" name="Text 8"/>
          <p:cNvSpPr txBox="1"/>
          <p:nvPr/>
        </p:nvSpPr>
        <p:spPr>
          <a:xfrm>
            <a:off x="5428207" y="4563021"/>
            <a:ext cx="5913686"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latin typeface="JetBrains Mono"/>
                <a:ea typeface="JetBrains Mono"/>
                <a:cs typeface="JetBrains Mono"/>
                <a:sym typeface="JetBrains Mono"/>
              </a:defRPr>
            </a:lvl1pPr>
          </a:lstStyle>
          <a:p>
            <a:pPr/>
            <a:r>
              <a:t>Instalar desde un marketplace</a:t>
            </a:r>
          </a:p>
        </p:txBody>
      </p:sp>
      <p:sp>
        <p:nvSpPr>
          <p:cNvPr id="616" name="Text 9"/>
          <p:cNvSpPr txBox="1"/>
          <p:nvPr/>
        </p:nvSpPr>
        <p:spPr>
          <a:xfrm>
            <a:off x="5428207" y="4877941"/>
            <a:ext cx="5913686"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800"/>
              </a:lnSpc>
              <a:defRPr sz="1200">
                <a:solidFill>
                  <a:srgbClr val="D7DEEA"/>
                </a:solidFill>
                <a:latin typeface="JetBrains Mono"/>
                <a:ea typeface="JetBrains Mono"/>
                <a:cs typeface="JetBrains Mono"/>
                <a:sym typeface="JetBrains Mono"/>
              </a:defRPr>
            </a:pPr>
            <a:r>
              <a:t>copilot plugin marketplace add jsuarezruiz/copilot-avalonia</a:t>
            </a:r>
            <a:endParaRPr>
              <a:solidFill>
                <a:srgbClr val="EEF0F4"/>
              </a:solidFill>
            </a:endParaRPr>
          </a:p>
          <a:p>
            <a:pPr>
              <a:lnSpc>
                <a:spcPts val="1800"/>
              </a:lnSpc>
              <a:defRPr sz="1200">
                <a:solidFill>
                  <a:srgbClr val="D7DEEA"/>
                </a:solidFill>
                <a:latin typeface="JetBrains Mono"/>
                <a:ea typeface="JetBrains Mono"/>
                <a:cs typeface="JetBrains Mono"/>
                <a:sym typeface="JetBrains Mono"/>
              </a:defRPr>
            </a:pPr>
            <a:r>
              <a:t>copilot plugin install copilot-avalonia@copilot-avalonia</a:t>
            </a:r>
          </a:p>
        </p:txBody>
      </p:sp>
      <p:sp>
        <p:nvSpPr>
          <p:cNvPr id="617" name="Text 10"/>
          <p:cNvSpPr txBox="1"/>
          <p:nvPr/>
        </p:nvSpPr>
        <p:spPr>
          <a:xfrm>
            <a:off x="812799" y="6238280"/>
            <a:ext cx="302782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defRPr>
            </a:lvl1pPr>
          </a:lstStyle>
          <a:p>
            <a:pPr/>
            <a:r>
              <a:t>Extensibilidad de GitHub Copilot App</a:t>
            </a:r>
          </a:p>
        </p:txBody>
      </p:sp>
      <p:sp>
        <p:nvSpPr>
          <p:cNvPr id="618" name="Text 11"/>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chemeClr val="accent6"/>
                </a:solidFill>
              </a:defRPr>
            </a:lvl1pPr>
          </a:lstStyle>
          <a:p>
            <a:pPr/>
            <a:r>
              <a:t>36</a:t>
            </a:r>
          </a:p>
        </p:txBody>
      </p:sp>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1EA"/>
        </a:solidFill>
      </p:bgPr>
    </p:bg>
    <p:spTree>
      <p:nvGrpSpPr>
        <p:cNvPr id="1" name=""/>
        <p:cNvGrpSpPr/>
        <p:nvPr/>
      </p:nvGrpSpPr>
      <p:grpSpPr>
        <a:xfrm>
          <a:off x="0" y="0"/>
          <a:ext cx="0" cy="0"/>
          <a:chOff x="0" y="0"/>
          <a:chExt cx="0" cy="0"/>
        </a:xfrm>
      </p:grpSpPr>
      <p:grpSp>
        <p:nvGrpSpPr>
          <p:cNvPr id="624" name="Text 0"/>
          <p:cNvGrpSpPr/>
          <p:nvPr/>
        </p:nvGrpSpPr>
        <p:grpSpPr>
          <a:xfrm>
            <a:off x="812800" y="812800"/>
            <a:ext cx="991296" cy="314920"/>
            <a:chOff x="0" y="0"/>
            <a:chExt cx="991295" cy="314919"/>
          </a:xfrm>
        </p:grpSpPr>
        <p:sp>
          <p:nvSpPr>
            <p:cNvPr id="622" name="Rounded Rectangle"/>
            <p:cNvSpPr/>
            <p:nvPr/>
          </p:nvSpPr>
          <p:spPr>
            <a:xfrm>
              <a:off x="0" y="0"/>
              <a:ext cx="991296" cy="314920"/>
            </a:xfrm>
            <a:prstGeom prst="roundRect">
              <a:avLst>
                <a:gd name="adj" fmla="val 48393"/>
              </a:avLst>
            </a:prstGeom>
            <a:solidFill>
              <a:schemeClr val="accent1"/>
            </a:solidFill>
            <a:ln w="12700" cap="flat">
              <a:noFill/>
              <a:miter lim="400000"/>
            </a:ln>
            <a:effectLst/>
          </p:spPr>
          <p:txBody>
            <a:bodyPr wrap="square" lIns="45719" tIns="45719" rIns="45719" bIns="45719" numCol="1" anchor="ctr">
              <a:noAutofit/>
            </a:bodyPr>
            <a:lstStyle/>
            <a:p>
              <a:pPr algn="ctr">
                <a:lnSpc>
                  <a:spcPts val="1600"/>
                </a:lnSpc>
                <a:defRPr sz="1200">
                  <a:solidFill>
                    <a:srgbClr val="EEF0F4"/>
                  </a:solidFill>
                </a:defRPr>
              </a:pPr>
            </a:p>
          </p:txBody>
        </p:sp>
        <p:sp>
          <p:nvSpPr>
            <p:cNvPr id="623" name="DEMO 10"/>
            <p:cNvSpPr txBox="1"/>
            <p:nvPr/>
          </p:nvSpPr>
          <p:spPr>
            <a:xfrm>
              <a:off x="110319" y="44636"/>
              <a:ext cx="770657" cy="225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normAutofit fontScale="100000" lnSpcReduction="0"/>
            </a:bodyPr>
            <a:lstStyle>
              <a:lvl1pPr algn="ctr">
                <a:lnSpc>
                  <a:spcPts val="1600"/>
                </a:lnSpc>
                <a:defRPr b="1" spc="100" sz="1200">
                  <a:solidFill>
                    <a:srgbClr val="161A26"/>
                  </a:solidFill>
                </a:defRPr>
              </a:lvl1pPr>
            </a:lstStyle>
            <a:p>
              <a:pPr/>
              <a:r>
                <a:t>DEMO 10</a:t>
              </a:r>
            </a:p>
          </p:txBody>
        </p:sp>
      </p:grpSp>
      <p:sp>
        <p:nvSpPr>
          <p:cNvPr id="625" name="Text 1"/>
          <p:cNvSpPr txBox="1"/>
          <p:nvPr>
            <p:ph type="title"/>
          </p:nvPr>
        </p:nvSpPr>
        <p:spPr>
          <a:xfrm>
            <a:off x="812799" y="1229320"/>
            <a:ext cx="10883394" cy="472430"/>
          </a:xfrm>
          <a:prstGeom prst="rect">
            <a:avLst/>
          </a:prstGeom>
        </p:spPr>
        <p:txBody>
          <a:bodyPr/>
          <a:lstStyle>
            <a:lvl1pPr>
              <a:lnSpc>
                <a:spcPts val="3500"/>
              </a:lnSpc>
              <a:defRPr b="1">
                <a:solidFill>
                  <a:srgbClr val="161A26"/>
                </a:solidFill>
              </a:defRPr>
            </a:lvl1pPr>
          </a:lstStyle>
          <a:p>
            <a:pPr/>
            <a:r>
              <a:t>Instala un plugin en otro proyecto</a:t>
            </a:r>
          </a:p>
        </p:txBody>
      </p:sp>
      <p:sp>
        <p:nvSpPr>
          <p:cNvPr id="626" name="Shape 2"/>
          <p:cNvSpPr/>
          <p:nvPr/>
        </p:nvSpPr>
        <p:spPr>
          <a:xfrm>
            <a:off x="812800" y="1879550"/>
            <a:ext cx="4546600" cy="2688432"/>
          </a:xfrm>
          <a:prstGeom prst="roundRect">
            <a:avLst>
              <a:gd name="adj" fmla="val 3779"/>
            </a:avLst>
          </a:prstGeom>
          <a:solidFill>
            <a:srgbClr val="161A26"/>
          </a:solidFill>
          <a:ln w="12700">
            <a:miter lim="400000"/>
          </a:ln>
        </p:spPr>
        <p:txBody>
          <a:bodyPr lIns="45719" rIns="45719"/>
          <a:lstStyle/>
          <a:p>
            <a:pPr>
              <a:defRPr>
                <a:solidFill>
                  <a:srgbClr val="EEF0F4"/>
                </a:solidFill>
              </a:defRPr>
            </a:pPr>
          </a:p>
        </p:txBody>
      </p:sp>
      <p:sp>
        <p:nvSpPr>
          <p:cNvPr id="627" name="Text 3"/>
          <p:cNvSpPr txBox="1"/>
          <p:nvPr/>
        </p:nvSpPr>
        <p:spPr>
          <a:xfrm>
            <a:off x="1066799" y="2133550"/>
            <a:ext cx="415976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1"/>
                </a:solidFill>
              </a:defRPr>
            </a:lvl1pPr>
          </a:lstStyle>
          <a:p>
            <a:pPr/>
            <a:r>
              <a:t>COMANDOS</a:t>
            </a:r>
          </a:p>
        </p:txBody>
      </p:sp>
      <p:sp>
        <p:nvSpPr>
          <p:cNvPr id="628" name="Text 4"/>
          <p:cNvSpPr txBox="1"/>
          <p:nvPr/>
        </p:nvSpPr>
        <p:spPr>
          <a:xfrm>
            <a:off x="1066799" y="2448471"/>
            <a:ext cx="4159760" cy="939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800"/>
              </a:lnSpc>
              <a:defRPr sz="1200">
                <a:solidFill>
                  <a:srgbClr val="EEF0F4"/>
                </a:solidFill>
                <a:latin typeface="JetBrains Mono"/>
                <a:ea typeface="JetBrains Mono"/>
                <a:cs typeface="JetBrains Mono"/>
                <a:sym typeface="JetBrains Mono"/>
              </a:defRPr>
            </a:pPr>
            <a:r>
              <a:t>copilot plugin marketplace add .</a:t>
            </a:r>
          </a:p>
          <a:p>
            <a:pPr>
              <a:lnSpc>
                <a:spcPts val="1800"/>
              </a:lnSpc>
              <a:defRPr sz="1200">
                <a:solidFill>
                  <a:srgbClr val="EEF0F4"/>
                </a:solidFill>
                <a:latin typeface="JetBrains Mono"/>
                <a:ea typeface="JetBrains Mono"/>
                <a:cs typeface="JetBrains Mono"/>
                <a:sym typeface="JetBrains Mono"/>
              </a:defRPr>
            </a:pPr>
            <a:r>
              <a:t>copilot plugin install avalonia-kit@devdays-sevilla</a:t>
            </a:r>
          </a:p>
        </p:txBody>
      </p:sp>
      <p:sp>
        <p:nvSpPr>
          <p:cNvPr id="629" name="Text 5"/>
          <p:cNvSpPr txBox="1"/>
          <p:nvPr/>
        </p:nvSpPr>
        <p:spPr>
          <a:xfrm>
            <a:off x="1066799" y="3572421"/>
            <a:ext cx="415976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1"/>
                </a:solidFill>
              </a:defRPr>
            </a:lvl1pPr>
          </a:lstStyle>
          <a:p>
            <a:pPr/>
            <a:r>
              <a:t>QUÉ DEBERÍAS VER</a:t>
            </a:r>
          </a:p>
        </p:txBody>
      </p:sp>
      <p:sp>
        <p:nvSpPr>
          <p:cNvPr id="630" name="Text 6"/>
          <p:cNvSpPr txBox="1"/>
          <p:nvPr/>
        </p:nvSpPr>
        <p:spPr>
          <a:xfrm>
            <a:off x="1066799" y="3887341"/>
            <a:ext cx="4159760" cy="4520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EEF0F4"/>
                </a:solidFill>
              </a:defRPr>
            </a:lvl1pPr>
          </a:lstStyle>
          <a:p>
            <a:pPr/>
            <a:r>
              <a:t>La skill y el agente disponibles en un repo que no tiene ninguno: llegaron con el plugin.</a:t>
            </a:r>
          </a:p>
        </p:txBody>
      </p:sp>
      <p:sp>
        <p:nvSpPr>
          <p:cNvPr id="631" name="Text 7"/>
          <p:cNvSpPr txBox="1"/>
          <p:nvPr/>
        </p:nvSpPr>
        <p:spPr>
          <a:xfrm>
            <a:off x="812800" y="4720382"/>
            <a:ext cx="4682998" cy="4520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4A5263"/>
                </a:solidFill>
                <a:latin typeface="JetBrains Mono"/>
                <a:ea typeface="JetBrains Mono"/>
                <a:cs typeface="JetBrains Mono"/>
                <a:sym typeface="JetBrains Mono"/>
              </a:defRPr>
            </a:lvl1pPr>
          </a:lstStyle>
          <a:p>
            <a:pPr/>
            <a:r>
              <a:t>Proyecto: 00-baseline · después: copilot plugin uninstall avalonia-kit</a:t>
            </a:r>
          </a:p>
        </p:txBody>
      </p:sp>
      <p:pic>
        <p:nvPicPr>
          <p:cNvPr id="632" name="Image 1" descr="Image 1"/>
          <p:cNvPicPr>
            <a:picLocks noChangeAspect="1"/>
          </p:cNvPicPr>
          <p:nvPr/>
        </p:nvPicPr>
        <p:blipFill>
          <a:blip r:embed="rId3">
            <a:extLst/>
          </a:blip>
          <a:srcRect l="0" t="0" r="0" b="0"/>
          <a:stretch>
            <a:fillRect/>
          </a:stretch>
        </p:blipFill>
        <p:spPr>
          <a:xfrm>
            <a:off x="5670550" y="1885900"/>
            <a:ext cx="5702300" cy="3429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440"/>
                </a:moveTo>
                <a:lnTo>
                  <a:pt x="21600" y="21160"/>
                </a:lnTo>
                <a:cubicBezTo>
                  <a:pt x="21600" y="21403"/>
                  <a:pt x="21482" y="21600"/>
                  <a:pt x="21335" y="21600"/>
                </a:cubicBezTo>
                <a:lnTo>
                  <a:pt x="265" y="21600"/>
                </a:lnTo>
                <a:cubicBezTo>
                  <a:pt x="118" y="21600"/>
                  <a:pt x="0" y="21403"/>
                  <a:pt x="0" y="21160"/>
                </a:cubicBezTo>
                <a:lnTo>
                  <a:pt x="0" y="440"/>
                </a:lnTo>
                <a:lnTo>
                  <a:pt x="1" y="395"/>
                </a:lnTo>
                <a:cubicBezTo>
                  <a:pt x="15" y="173"/>
                  <a:pt x="128" y="0"/>
                  <a:pt x="265" y="0"/>
                </a:cubicBezTo>
                <a:lnTo>
                  <a:pt x="21335" y="0"/>
                </a:lnTo>
                <a:cubicBezTo>
                  <a:pt x="21482" y="0"/>
                  <a:pt x="21600" y="197"/>
                  <a:pt x="21600" y="440"/>
                </a:cubicBezTo>
                <a:close/>
              </a:path>
            </a:pathLst>
          </a:custGeom>
          <a:ln w="12700">
            <a:miter lim="400000"/>
          </a:ln>
        </p:spPr>
      </p:pic>
      <p:sp>
        <p:nvSpPr>
          <p:cNvPr id="633" name="Shape 8"/>
          <p:cNvSpPr/>
          <p:nvPr/>
        </p:nvSpPr>
        <p:spPr>
          <a:xfrm>
            <a:off x="5667375" y="1882725"/>
            <a:ext cx="5708650" cy="3435351"/>
          </a:xfrm>
          <a:prstGeom prst="roundRect">
            <a:avLst>
              <a:gd name="adj" fmla="val 2126"/>
            </a:avLst>
          </a:prstGeom>
          <a:ln w="6350">
            <a:solidFill>
              <a:srgbClr val="D5D0C4"/>
            </a:solidFill>
          </a:ln>
        </p:spPr>
        <p:txBody>
          <a:bodyPr lIns="45719" rIns="45719"/>
          <a:lstStyle/>
          <a:p>
            <a:pPr>
              <a:defRPr>
                <a:solidFill>
                  <a:srgbClr val="EEF0F4"/>
                </a:solidFill>
              </a:defRPr>
            </a:pPr>
          </a:p>
        </p:txBody>
      </p:sp>
      <p:sp>
        <p:nvSpPr>
          <p:cNvPr id="634" name="Text 9"/>
          <p:cNvSpPr txBox="1"/>
          <p:nvPr/>
        </p:nvSpPr>
        <p:spPr>
          <a:xfrm>
            <a:off x="5664200" y="5397450"/>
            <a:ext cx="5886450"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C6470"/>
                </a:solidFill>
              </a:defRPr>
            </a:lvl1pPr>
          </a:lstStyle>
          <a:p>
            <a:pPr/>
            <a:r>
              <a:t>Captura real · la skill del plugin cargada en un repo que no tiene ninguna</a:t>
            </a:r>
          </a:p>
        </p:txBody>
      </p:sp>
      <p:sp>
        <p:nvSpPr>
          <p:cNvPr id="635" name="Text 10"/>
          <p:cNvSpPr txBox="1"/>
          <p:nvPr/>
        </p:nvSpPr>
        <p:spPr>
          <a:xfrm>
            <a:off x="812799" y="6238280"/>
            <a:ext cx="302782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C6470"/>
                </a:solidFill>
              </a:defRPr>
            </a:lvl1pPr>
          </a:lstStyle>
          <a:p>
            <a:pPr/>
            <a:r>
              <a:t>Extensibilidad de GitHub Copilot App</a:t>
            </a:r>
          </a:p>
        </p:txBody>
      </p:sp>
      <p:sp>
        <p:nvSpPr>
          <p:cNvPr id="636" name="Text 11"/>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rgbClr val="5C6470"/>
                </a:solidFill>
              </a:defRPr>
            </a:lvl1pPr>
          </a:lstStyle>
          <a:p>
            <a:pPr/>
            <a:r>
              <a:t>37</a:t>
            </a:r>
          </a:p>
        </p:txBody>
      </p:sp>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1EA"/>
        </a:solidFill>
      </p:bgPr>
    </p:bg>
    <p:spTree>
      <p:nvGrpSpPr>
        <p:cNvPr id="1" name=""/>
        <p:cNvGrpSpPr/>
        <p:nvPr/>
      </p:nvGrpSpPr>
      <p:grpSpPr>
        <a:xfrm>
          <a:off x="0" y="0"/>
          <a:ext cx="0" cy="0"/>
          <a:chOff x="0" y="0"/>
          <a:chExt cx="0" cy="0"/>
        </a:xfrm>
      </p:grpSpPr>
      <p:grpSp>
        <p:nvGrpSpPr>
          <p:cNvPr id="642" name="Text 0"/>
          <p:cNvGrpSpPr/>
          <p:nvPr/>
        </p:nvGrpSpPr>
        <p:grpSpPr>
          <a:xfrm>
            <a:off x="812800" y="812800"/>
            <a:ext cx="2735312" cy="314920"/>
            <a:chOff x="0" y="0"/>
            <a:chExt cx="2735311" cy="314919"/>
          </a:xfrm>
        </p:grpSpPr>
        <p:sp>
          <p:nvSpPr>
            <p:cNvPr id="640" name="Rounded Rectangle"/>
            <p:cNvSpPr/>
            <p:nvPr/>
          </p:nvSpPr>
          <p:spPr>
            <a:xfrm>
              <a:off x="0" y="0"/>
              <a:ext cx="2735312" cy="314920"/>
            </a:xfrm>
            <a:prstGeom prst="roundRect">
              <a:avLst>
                <a:gd name="adj" fmla="val 48393"/>
              </a:avLst>
            </a:prstGeom>
            <a:solidFill>
              <a:srgbClr val="161A26"/>
            </a:solidFill>
            <a:ln w="12700" cap="flat">
              <a:noFill/>
              <a:miter lim="400000"/>
            </a:ln>
            <a:effectLst/>
          </p:spPr>
          <p:txBody>
            <a:bodyPr wrap="square" lIns="45719" tIns="45719" rIns="45719" bIns="45719" numCol="1" anchor="ctr">
              <a:noAutofit/>
            </a:bodyPr>
            <a:lstStyle/>
            <a:p>
              <a:pPr algn="ctr">
                <a:lnSpc>
                  <a:spcPts val="1600"/>
                </a:lnSpc>
                <a:defRPr sz="1200">
                  <a:solidFill>
                    <a:srgbClr val="EEF0F4"/>
                  </a:solidFill>
                </a:defRPr>
              </a:pPr>
            </a:p>
          </p:txBody>
        </p:sp>
        <p:sp>
          <p:nvSpPr>
            <p:cNvPr id="641" name="TODO JUNTO · CAPTURA REAL"/>
            <p:cNvSpPr txBox="1"/>
            <p:nvPr/>
          </p:nvSpPr>
          <p:spPr>
            <a:xfrm>
              <a:off x="43854" y="44636"/>
              <a:ext cx="2647604" cy="225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ctr">
              <a:normAutofit fontScale="100000" lnSpcReduction="0"/>
            </a:bodyPr>
            <a:lstStyle>
              <a:lvl1pPr algn="ctr">
                <a:lnSpc>
                  <a:spcPts val="1600"/>
                </a:lnSpc>
                <a:defRPr b="1" spc="100" sz="1200">
                  <a:solidFill>
                    <a:srgbClr val="F4F1EA"/>
                  </a:solidFill>
                </a:defRPr>
              </a:lvl1pPr>
            </a:lstStyle>
            <a:p>
              <a:pPr/>
              <a:r>
                <a:t>TODO JUNTO · CAPTURA REAL</a:t>
              </a:r>
            </a:p>
          </p:txBody>
        </p:sp>
      </p:grpSp>
      <p:sp>
        <p:nvSpPr>
          <p:cNvPr id="643" name="Text 1"/>
          <p:cNvSpPr txBox="1"/>
          <p:nvPr>
            <p:ph type="title"/>
          </p:nvPr>
        </p:nvSpPr>
        <p:spPr>
          <a:xfrm>
            <a:off x="812799" y="1229320"/>
            <a:ext cx="10883394" cy="472430"/>
          </a:xfrm>
          <a:prstGeom prst="rect">
            <a:avLst/>
          </a:prstGeom>
        </p:spPr>
        <p:txBody>
          <a:bodyPr/>
          <a:lstStyle>
            <a:lvl1pPr>
              <a:lnSpc>
                <a:spcPts val="3500"/>
              </a:lnSpc>
              <a:defRPr b="1">
                <a:solidFill>
                  <a:srgbClr val="161A26"/>
                </a:solidFill>
              </a:defRPr>
            </a:lvl1pPr>
          </a:lstStyle>
          <a:p>
            <a:pPr/>
            <a:r>
              <a:t>El prompt inicial, con todo cargado</a:t>
            </a:r>
          </a:p>
        </p:txBody>
      </p:sp>
      <p:pic>
        <p:nvPicPr>
          <p:cNvPr id="644" name="Image 0" descr="Image 0"/>
          <p:cNvPicPr>
            <a:picLocks noChangeAspect="1"/>
          </p:cNvPicPr>
          <p:nvPr/>
        </p:nvPicPr>
        <p:blipFill>
          <a:blip r:embed="rId3">
            <a:extLst/>
          </a:blip>
          <a:srcRect l="0" t="0" r="0" b="0"/>
          <a:stretch>
            <a:fillRect/>
          </a:stretch>
        </p:blipFill>
        <p:spPr>
          <a:xfrm>
            <a:off x="821873" y="1885900"/>
            <a:ext cx="6484254" cy="38989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81"/>
                </a:moveTo>
                <a:lnTo>
                  <a:pt x="21600" y="21319"/>
                </a:lnTo>
                <a:cubicBezTo>
                  <a:pt x="21572" y="21481"/>
                  <a:pt x="21483" y="21600"/>
                  <a:pt x="21376" y="21600"/>
                </a:cubicBezTo>
                <a:lnTo>
                  <a:pt x="224" y="21600"/>
                </a:lnTo>
                <a:cubicBezTo>
                  <a:pt x="117" y="21600"/>
                  <a:pt x="28" y="21481"/>
                  <a:pt x="0" y="21319"/>
                </a:cubicBezTo>
                <a:lnTo>
                  <a:pt x="0" y="281"/>
                </a:lnTo>
                <a:cubicBezTo>
                  <a:pt x="28" y="119"/>
                  <a:pt x="117" y="0"/>
                  <a:pt x="224" y="0"/>
                </a:cubicBezTo>
                <a:lnTo>
                  <a:pt x="21376" y="0"/>
                </a:lnTo>
                <a:cubicBezTo>
                  <a:pt x="21483" y="0"/>
                  <a:pt x="21572" y="119"/>
                  <a:pt x="21600" y="281"/>
                </a:cubicBezTo>
                <a:close/>
              </a:path>
            </a:pathLst>
          </a:custGeom>
          <a:ln w="12700">
            <a:miter lim="400000"/>
          </a:ln>
        </p:spPr>
      </p:pic>
      <p:sp>
        <p:nvSpPr>
          <p:cNvPr id="645" name="Shape 2"/>
          <p:cNvSpPr/>
          <p:nvPr/>
        </p:nvSpPr>
        <p:spPr>
          <a:xfrm>
            <a:off x="815975" y="1882725"/>
            <a:ext cx="6496050" cy="3905251"/>
          </a:xfrm>
          <a:prstGeom prst="roundRect">
            <a:avLst>
              <a:gd name="adj" fmla="val 1870"/>
            </a:avLst>
          </a:prstGeom>
          <a:ln w="6350">
            <a:solidFill>
              <a:srgbClr val="D5D0C4"/>
            </a:solidFill>
          </a:ln>
        </p:spPr>
        <p:txBody>
          <a:bodyPr lIns="45719" rIns="45719"/>
          <a:lstStyle/>
          <a:p>
            <a:pPr>
              <a:defRPr>
                <a:solidFill>
                  <a:srgbClr val="EEF0F4"/>
                </a:solidFill>
              </a:defRPr>
            </a:pPr>
          </a:p>
        </p:txBody>
      </p:sp>
      <p:sp>
        <p:nvSpPr>
          <p:cNvPr id="646" name="Text 3"/>
          <p:cNvSpPr txBox="1"/>
          <p:nvPr/>
        </p:nvSpPr>
        <p:spPr>
          <a:xfrm>
            <a:off x="7619999" y="1879550"/>
            <a:ext cx="3871978"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4"/>
                </a:solidFill>
              </a:defRPr>
            </a:lvl1pPr>
          </a:lstStyle>
          <a:p>
            <a:pPr/>
            <a:r>
              <a:t>EN QUÉ FIJARSE</a:t>
            </a:r>
          </a:p>
        </p:txBody>
      </p:sp>
      <p:sp>
        <p:nvSpPr>
          <p:cNvPr id="647" name="Text 4"/>
          <p:cNvSpPr txBox="1"/>
          <p:nvPr/>
        </p:nvSpPr>
        <p:spPr>
          <a:xfrm>
            <a:off x="7619999" y="2245271"/>
            <a:ext cx="3871978"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161A26"/>
                </a:solidFill>
              </a:defRPr>
            </a:lvl1pPr>
          </a:lstStyle>
          <a:p>
            <a:pPr/>
            <a:r>
              <a:t>Es el prompt opcional de la demo 0: añadir un botón Clear y comprobar que funciona.</a:t>
            </a:r>
          </a:p>
        </p:txBody>
      </p:sp>
      <p:sp>
        <p:nvSpPr>
          <p:cNvPr id="648" name="Text 5"/>
          <p:cNvSpPr txBox="1"/>
          <p:nvPr/>
        </p:nvSpPr>
        <p:spPr>
          <a:xfrm>
            <a:off x="7619999" y="2931071"/>
            <a:ext cx="3871978"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161A26"/>
                </a:solidFill>
              </a:defRPr>
            </a:lvl1pPr>
          </a:lstStyle>
          <a:p>
            <a:pPr/>
            <a:r>
              <a:t>El botón tiene un Name y un AutomationId coherentes, como exigen las instrucciones.</a:t>
            </a:r>
          </a:p>
        </p:txBody>
      </p:sp>
      <p:sp>
        <p:nvSpPr>
          <p:cNvPr id="649" name="Text 6"/>
          <p:cNvSpPr txBox="1"/>
          <p:nvPr/>
        </p:nvSpPr>
        <p:spPr>
          <a:xfrm>
            <a:off x="7619999" y="3616871"/>
            <a:ext cx="3871978" cy="8255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161A26"/>
                </a:solidFill>
              </a:defRPr>
            </a:lvl1pPr>
          </a:lstStyle>
          <a:p>
            <a:pPr/>
            <a:r>
              <a:t>Y lo comprueba de verdad: abre la app en el canvas, escribe, pulsa Clear y ve los campos vacíos.</a:t>
            </a:r>
          </a:p>
        </p:txBody>
      </p:sp>
      <p:sp>
        <p:nvSpPr>
          <p:cNvPr id="650" name="Text 7"/>
          <p:cNvSpPr txBox="1"/>
          <p:nvPr/>
        </p:nvSpPr>
        <p:spPr>
          <a:xfrm>
            <a:off x="812799" y="6238280"/>
            <a:ext cx="302782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C6470"/>
                </a:solidFill>
              </a:defRPr>
            </a:lvl1pPr>
          </a:lstStyle>
          <a:p>
            <a:pPr/>
            <a:r>
              <a:t>Extensibilidad de GitHub Copilot App</a:t>
            </a:r>
          </a:p>
        </p:txBody>
      </p:sp>
      <p:sp>
        <p:nvSpPr>
          <p:cNvPr id="651" name="Text 8"/>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rgbClr val="5C6470"/>
                </a:solidFill>
              </a:defRPr>
            </a:lvl1pPr>
          </a:lstStyle>
          <a:p>
            <a:pPr/>
            <a:r>
              <a:t>38</a:t>
            </a:r>
          </a:p>
        </p:txBody>
      </p:sp>
    </p:spTree>
  </p:cSld>
  <p:clrMapOvr>
    <a:masterClrMapping/>
  </p:clrMapOvr>
  <p:transition xmlns:p14="http://schemas.microsoft.com/office/powerpoint/2010/main" spd="med" advClick="1"/>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5"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2"/>
                </a:solidFill>
              </a:defRPr>
            </a:lvl1pPr>
          </a:lstStyle>
          <a:p>
            <a:pPr/>
            <a:r>
              <a:t>Y TAMBIÉN</a:t>
            </a:r>
          </a:p>
        </p:txBody>
      </p:sp>
      <p:sp>
        <p:nvSpPr>
          <p:cNvPr id="656" name="Text 1"/>
          <p:cNvSpPr txBox="1"/>
          <p:nvPr>
            <p:ph type="title"/>
          </p:nvPr>
        </p:nvSpPr>
        <p:spPr>
          <a:xfrm>
            <a:off x="812799" y="1127720"/>
            <a:ext cx="10883394" cy="472430"/>
          </a:xfrm>
          <a:prstGeom prst="rect">
            <a:avLst/>
          </a:prstGeom>
        </p:spPr>
        <p:txBody>
          <a:bodyPr/>
          <a:lstStyle>
            <a:lvl1pPr>
              <a:lnSpc>
                <a:spcPts val="3500"/>
              </a:lnSpc>
              <a:defRPr b="1"/>
            </a:lvl1pPr>
          </a:lstStyle>
          <a:p>
            <a:pPr/>
            <a:r>
              <a:t>Tres piezas más para completar el mapa</a:t>
            </a:r>
          </a:p>
        </p:txBody>
      </p:sp>
      <p:sp>
        <p:nvSpPr>
          <p:cNvPr id="657" name="Shape 2"/>
          <p:cNvSpPr/>
          <p:nvPr/>
        </p:nvSpPr>
        <p:spPr>
          <a:xfrm>
            <a:off x="815975" y="1882725"/>
            <a:ext cx="3380284" cy="1987551"/>
          </a:xfrm>
          <a:prstGeom prst="roundRect">
            <a:avLst>
              <a:gd name="adj" fmla="val 4952"/>
            </a:avLst>
          </a:prstGeom>
          <a:solidFill>
            <a:srgbClr val="1A2133"/>
          </a:solidFill>
          <a:ln w="6350">
            <a:solidFill>
              <a:srgbClr val="2B3550"/>
            </a:solidFill>
          </a:ln>
        </p:spPr>
        <p:txBody>
          <a:bodyPr lIns="45719" rIns="45719"/>
          <a:lstStyle/>
          <a:p>
            <a:pPr>
              <a:defRPr>
                <a:solidFill>
                  <a:srgbClr val="EEF0F4"/>
                </a:solidFill>
              </a:defRPr>
            </a:pPr>
          </a:p>
        </p:txBody>
      </p:sp>
      <p:sp>
        <p:nvSpPr>
          <p:cNvPr id="658" name="Text 3"/>
          <p:cNvSpPr txBox="1"/>
          <p:nvPr/>
        </p:nvSpPr>
        <p:spPr>
          <a:xfrm>
            <a:off x="1073149" y="2139900"/>
            <a:ext cx="2951914"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b="1" sz="2000">
                <a:solidFill>
                  <a:srgbClr val="EEF0F4"/>
                </a:solidFill>
                <a:latin typeface="Space Grotesk"/>
                <a:ea typeface="Space Grotesk"/>
                <a:cs typeface="Space Grotesk"/>
                <a:sym typeface="Space Grotesk"/>
              </a:defRPr>
            </a:lvl1pPr>
          </a:lstStyle>
          <a:p>
            <a:pPr/>
            <a:r>
              <a:t>Automatizaciones</a:t>
            </a:r>
          </a:p>
        </p:txBody>
      </p:sp>
      <p:sp>
        <p:nvSpPr>
          <p:cNvPr id="659" name="Text 4"/>
          <p:cNvSpPr txBox="1"/>
          <p:nvPr/>
        </p:nvSpPr>
        <p:spPr>
          <a:xfrm>
            <a:off x="1073149" y="2546300"/>
            <a:ext cx="2951914" cy="1092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Tareas programadas del agente que se ejecutan en la nube, sin necesidad de tener tu máquina encendida.</a:t>
            </a:r>
          </a:p>
        </p:txBody>
      </p:sp>
      <p:sp>
        <p:nvSpPr>
          <p:cNvPr id="660" name="Shape 5"/>
          <p:cNvSpPr/>
          <p:nvPr/>
        </p:nvSpPr>
        <p:spPr>
          <a:xfrm>
            <a:off x="4405808" y="1882725"/>
            <a:ext cx="3380334" cy="1987551"/>
          </a:xfrm>
          <a:prstGeom prst="roundRect">
            <a:avLst>
              <a:gd name="adj" fmla="val 4952"/>
            </a:avLst>
          </a:prstGeom>
          <a:solidFill>
            <a:srgbClr val="1A2133"/>
          </a:solidFill>
          <a:ln w="6350">
            <a:solidFill>
              <a:srgbClr val="2B3550"/>
            </a:solidFill>
          </a:ln>
        </p:spPr>
        <p:txBody>
          <a:bodyPr lIns="45719" rIns="45719"/>
          <a:lstStyle/>
          <a:p>
            <a:pPr>
              <a:defRPr>
                <a:solidFill>
                  <a:srgbClr val="EEF0F4"/>
                </a:solidFill>
              </a:defRPr>
            </a:pPr>
          </a:p>
        </p:txBody>
      </p:sp>
      <p:sp>
        <p:nvSpPr>
          <p:cNvPr id="661" name="Text 6"/>
          <p:cNvSpPr txBox="1"/>
          <p:nvPr/>
        </p:nvSpPr>
        <p:spPr>
          <a:xfrm>
            <a:off x="4662983" y="2139900"/>
            <a:ext cx="2951964"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b="1" sz="2000">
                <a:solidFill>
                  <a:srgbClr val="EEF0F4"/>
                </a:solidFill>
                <a:latin typeface="Space Grotesk"/>
                <a:ea typeface="Space Grotesk"/>
                <a:cs typeface="Space Grotesk"/>
                <a:sym typeface="Space Grotesk"/>
              </a:defRPr>
            </a:lvl1pPr>
          </a:lstStyle>
          <a:p>
            <a:pPr/>
            <a:r>
              <a:t>Copilot SDK</a:t>
            </a:r>
          </a:p>
        </p:txBody>
      </p:sp>
      <p:sp>
        <p:nvSpPr>
          <p:cNvPr id="662" name="Text 7"/>
          <p:cNvSpPr txBox="1"/>
          <p:nvPr/>
        </p:nvSpPr>
        <p:spPr>
          <a:xfrm>
            <a:off x="4662983" y="2546300"/>
            <a:ext cx="2951964" cy="1092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El camino inverso: el runtime del agente dentro de tu propia app o servicio, dirigido desde tu código.</a:t>
            </a:r>
          </a:p>
        </p:txBody>
      </p:sp>
      <p:sp>
        <p:nvSpPr>
          <p:cNvPr id="663" name="Shape 8"/>
          <p:cNvSpPr/>
          <p:nvPr/>
        </p:nvSpPr>
        <p:spPr>
          <a:xfrm>
            <a:off x="7995691" y="1882725"/>
            <a:ext cx="3380334" cy="1987551"/>
          </a:xfrm>
          <a:prstGeom prst="roundRect">
            <a:avLst>
              <a:gd name="adj" fmla="val 4952"/>
            </a:avLst>
          </a:prstGeom>
          <a:solidFill>
            <a:srgbClr val="1A2133"/>
          </a:solidFill>
          <a:ln w="6350">
            <a:solidFill>
              <a:srgbClr val="2B3550"/>
            </a:solidFill>
          </a:ln>
        </p:spPr>
        <p:txBody>
          <a:bodyPr lIns="45719" rIns="45719"/>
          <a:lstStyle/>
          <a:p>
            <a:pPr>
              <a:defRPr>
                <a:solidFill>
                  <a:srgbClr val="EEF0F4"/>
                </a:solidFill>
              </a:defRPr>
            </a:pPr>
          </a:p>
        </p:txBody>
      </p:sp>
      <p:sp>
        <p:nvSpPr>
          <p:cNvPr id="664" name="Text 9"/>
          <p:cNvSpPr txBox="1"/>
          <p:nvPr/>
        </p:nvSpPr>
        <p:spPr>
          <a:xfrm>
            <a:off x="8252866" y="2139900"/>
            <a:ext cx="2951964"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b="1" sz="2000">
                <a:solidFill>
                  <a:srgbClr val="EEF0F4"/>
                </a:solidFill>
                <a:latin typeface="Space Grotesk"/>
                <a:ea typeface="Space Grotesk"/>
                <a:cs typeface="Space Grotesk"/>
                <a:sym typeface="Space Grotesk"/>
              </a:defRPr>
            </a:lvl1pPr>
          </a:lstStyle>
          <a:p>
            <a:pPr/>
            <a:r>
              <a:t>Políticas</a:t>
            </a:r>
          </a:p>
        </p:txBody>
      </p:sp>
      <p:sp>
        <p:nvSpPr>
          <p:cNvPr id="665" name="Text 10"/>
          <p:cNvSpPr txBox="1"/>
          <p:nvPr/>
        </p:nvSpPr>
        <p:spPr>
          <a:xfrm>
            <a:off x="8252866" y="2546300"/>
            <a:ext cx="2951964" cy="1092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Los administradores deciden qué se puede usar e instalar mediante políticas y un managed-settings.json.</a:t>
            </a:r>
          </a:p>
        </p:txBody>
      </p:sp>
      <p:sp>
        <p:nvSpPr>
          <p:cNvPr id="666" name="Text 11"/>
          <p:cNvSpPr txBox="1"/>
          <p:nvPr/>
        </p:nvSpPr>
        <p:spPr>
          <a:xfrm>
            <a:off x="812799" y="4178250"/>
            <a:ext cx="10883394"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EEF0F4"/>
                </a:solidFill>
              </a:defRPr>
            </a:lvl1pPr>
          </a:lstStyle>
          <a:p>
            <a:pPr/>
            <a:r>
              <a:t>Y el motor también se elige: por sesión, por agente como en el paso 3, o por fase como en el paso 7.</a:t>
            </a:r>
          </a:p>
        </p:txBody>
      </p:sp>
      <p:sp>
        <p:nvSpPr>
          <p:cNvPr id="667" name="Text 12"/>
          <p:cNvSpPr txBox="1"/>
          <p:nvPr/>
        </p:nvSpPr>
        <p:spPr>
          <a:xfrm>
            <a:off x="812799" y="6238280"/>
            <a:ext cx="302782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defRPr>
            </a:lvl1pPr>
          </a:lstStyle>
          <a:p>
            <a:pPr/>
            <a:r>
              <a:t>Extensibilidad de GitHub Copilot App</a:t>
            </a:r>
          </a:p>
        </p:txBody>
      </p:sp>
      <p:sp>
        <p:nvSpPr>
          <p:cNvPr id="668" name="Text 13"/>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chemeClr val="accent6"/>
                </a:solidFill>
              </a:defRPr>
            </a:lvl1pPr>
          </a:lstStyle>
          <a:p>
            <a:pPr/>
            <a:r>
              <a:t>39</a:t>
            </a:r>
          </a:p>
        </p:txBody>
      </p:sp>
    </p:spTree>
  </p:cSld>
  <p:clrMapOvr>
    <a:masterClrMapping/>
  </p:clrMapOvr>
  <p:transition xmlns:p14="http://schemas.microsoft.com/office/powerpoint/2010/main" spd="med" advClick="1"/>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2"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2"/>
                </a:solidFill>
              </a:defRPr>
            </a:lvl1pPr>
          </a:lstStyle>
          <a:p>
            <a:pPr/>
            <a:r>
              <a:t>CIERRE</a:t>
            </a:r>
          </a:p>
        </p:txBody>
      </p:sp>
      <p:sp>
        <p:nvSpPr>
          <p:cNvPr id="673" name="Text 1"/>
          <p:cNvSpPr txBox="1"/>
          <p:nvPr>
            <p:ph type="title"/>
          </p:nvPr>
        </p:nvSpPr>
        <p:spPr>
          <a:xfrm>
            <a:off x="812799" y="1127720"/>
            <a:ext cx="10883394" cy="472430"/>
          </a:xfrm>
          <a:prstGeom prst="rect">
            <a:avLst/>
          </a:prstGeom>
        </p:spPr>
        <p:txBody>
          <a:bodyPr/>
          <a:lstStyle>
            <a:lvl1pPr>
              <a:lnSpc>
                <a:spcPts val="3500"/>
              </a:lnSpc>
              <a:defRPr b="1"/>
            </a:lvl1pPr>
          </a:lstStyle>
          <a:p>
            <a:pPr/>
            <a:r>
              <a:t>Qué pieza usar para cada necesidad</a:t>
            </a:r>
          </a:p>
        </p:txBody>
      </p:sp>
      <p:sp>
        <p:nvSpPr>
          <p:cNvPr id="674" name="Shape 2"/>
          <p:cNvSpPr/>
          <p:nvPr/>
        </p:nvSpPr>
        <p:spPr>
          <a:xfrm>
            <a:off x="11376025" y="1828749"/>
            <a:ext cx="0" cy="3345857"/>
          </a:xfrm>
          <a:prstGeom prst="line">
            <a:avLst/>
          </a:prstGeom>
          <a:ln w="6350">
            <a:solidFill>
              <a:srgbClr val="2B3550"/>
            </a:solidFill>
          </a:ln>
        </p:spPr>
        <p:txBody>
          <a:bodyPr lIns="45719" rIns="45719"/>
          <a:lstStyle/>
          <a:p>
            <a:pPr>
              <a:defRPr>
                <a:solidFill>
                  <a:srgbClr val="EEF0F4"/>
                </a:solidFill>
              </a:defRPr>
            </a:pPr>
          </a:p>
        </p:txBody>
      </p:sp>
      <p:sp>
        <p:nvSpPr>
          <p:cNvPr id="675" name="Shape 3"/>
          <p:cNvSpPr/>
          <p:nvPr/>
        </p:nvSpPr>
        <p:spPr>
          <a:xfrm>
            <a:off x="812800" y="5171430"/>
            <a:ext cx="10566401" cy="1"/>
          </a:xfrm>
          <a:prstGeom prst="line">
            <a:avLst/>
          </a:prstGeom>
          <a:ln w="6350">
            <a:solidFill>
              <a:srgbClr val="2B3550"/>
            </a:solidFill>
          </a:ln>
        </p:spPr>
        <p:txBody>
          <a:bodyPr lIns="45719" rIns="45719"/>
          <a:lstStyle/>
          <a:p>
            <a:pPr>
              <a:defRPr>
                <a:solidFill>
                  <a:srgbClr val="EEF0F4"/>
                </a:solidFill>
              </a:defRPr>
            </a:pPr>
          </a:p>
        </p:txBody>
      </p:sp>
      <p:graphicFrame>
        <p:nvGraphicFramePr>
          <p:cNvPr id="676" name="Table 0"/>
          <p:cNvGraphicFramePr/>
          <p:nvPr/>
        </p:nvGraphicFramePr>
        <p:xfrm>
          <a:off x="825500" y="1841450"/>
          <a:ext cx="10547350" cy="3326806"/>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6961251"/>
                <a:gridCol w="3586099"/>
              </a:tblGrid>
              <a:tr h="332680">
                <a:tc>
                  <a:txBody>
                    <a:bodyPr/>
                    <a:lstStyle/>
                    <a:p>
                      <a:pPr algn="l">
                        <a:lnSpc>
                          <a:spcPts val="1600"/>
                        </a:lnSpc>
                        <a:defRPr sz="1800">
                          <a:solidFill>
                            <a:srgbClr val="000000"/>
                          </a:solidFill>
                        </a:defRPr>
                      </a:pPr>
                      <a:r>
                        <a:rPr b="1" sz="1200">
                          <a:solidFill>
                            <a:schemeClr val="accent2"/>
                          </a:solidFill>
                        </a:rPr>
                        <a:t>Si necesitas</a:t>
                      </a:r>
                    </a:p>
                  </a:txBody>
                  <a:tcPr marL="53339" marR="53339" marT="53339" marB="53339" anchor="t" anchorCtr="0" horzOverflow="overflow">
                    <a:lnL w="12700">
                      <a:solidFill>
                        <a:srgbClr val="43464E"/>
                      </a:solidFill>
                    </a:lnL>
                    <a:lnR w="12700">
                      <a:solidFill>
                        <a:srgbClr val="4B515E"/>
                      </a:solidFill>
                    </a:lnR>
                    <a:lnT w="12700">
                      <a:solidFill>
                        <a:srgbClr val="43464E"/>
                      </a:solidFill>
                    </a:lnT>
                    <a:lnB w="12700">
                      <a:solidFill>
                        <a:srgbClr val="4B515E"/>
                      </a:solidFill>
                    </a:lnB>
                    <a:solidFill>
                      <a:srgbClr val="1A2133"/>
                    </a:solidFill>
                  </a:tcPr>
                </a:tc>
                <a:tc>
                  <a:txBody>
                    <a:bodyPr/>
                    <a:lstStyle/>
                    <a:p>
                      <a:pPr algn="l">
                        <a:lnSpc>
                          <a:spcPts val="1600"/>
                        </a:lnSpc>
                        <a:defRPr sz="1800">
                          <a:solidFill>
                            <a:srgbClr val="000000"/>
                          </a:solidFill>
                        </a:defRPr>
                      </a:pPr>
                      <a:r>
                        <a:rPr b="1" sz="1200">
                          <a:solidFill>
                            <a:schemeClr val="accent2"/>
                          </a:solidFill>
                        </a:rPr>
                        <a:t>Usa</a:t>
                      </a:r>
                    </a:p>
                  </a:txBody>
                  <a:tcPr marL="53339" marR="53339" marT="53339" marB="53339" anchor="t" anchorCtr="0" horzOverflow="overflow">
                    <a:lnL w="12700">
                      <a:solidFill>
                        <a:srgbClr val="4B515E"/>
                      </a:solidFill>
                    </a:lnL>
                    <a:lnR w="12700">
                      <a:solidFill>
                        <a:srgbClr val="4B515E"/>
                      </a:solidFill>
                    </a:lnR>
                    <a:lnT w="12700">
                      <a:solidFill>
                        <a:srgbClr val="43464E"/>
                      </a:solidFill>
                    </a:lnT>
                    <a:lnB w="12700">
                      <a:solidFill>
                        <a:srgbClr val="4B515E"/>
                      </a:solidFill>
                    </a:lnB>
                    <a:solidFill>
                      <a:srgbClr val="1A2133"/>
                    </a:solidFill>
                  </a:tcPr>
                </a:tc>
              </a:tr>
              <a:tr h="332680">
                <a:tc>
                  <a:txBody>
                    <a:bodyPr/>
                    <a:lstStyle/>
                    <a:p>
                      <a:pPr algn="l">
                        <a:lnSpc>
                          <a:spcPts val="1600"/>
                        </a:lnSpc>
                        <a:defRPr sz="1800">
                          <a:solidFill>
                            <a:srgbClr val="000000"/>
                          </a:solidFill>
                        </a:defRPr>
                      </a:pPr>
                      <a:r>
                        <a:rPr sz="1200">
                          <a:solidFill>
                            <a:srgbClr val="EEF0F4"/>
                          </a:solidFill>
                        </a:rPr>
                        <a:t>Reglas que se aplican en cada sesión</a:t>
                      </a:r>
                    </a:p>
                  </a:txBody>
                  <a:tcPr marL="53339" marR="53339" marT="53339" marB="53339" anchor="t" anchorCtr="0" horzOverflow="overflow">
                    <a:lnL w="12700">
                      <a:solidFill>
                        <a:srgbClr val="43464E"/>
                      </a:solidFill>
                    </a:lnL>
                    <a:lnR w="12700">
                      <a:solidFill>
                        <a:srgbClr val="43464E"/>
                      </a:solidFill>
                    </a:lnR>
                    <a:lnT w="12700">
                      <a:solidFill>
                        <a:srgbClr val="4B515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Instrucciones</a:t>
                      </a:r>
                    </a:p>
                  </a:txBody>
                  <a:tcPr marL="53339" marR="53339" marT="53339" marB="53339" anchor="t" anchorCtr="0" horzOverflow="overflow">
                    <a:lnL w="12700">
                      <a:solidFill>
                        <a:srgbClr val="43464E"/>
                      </a:solidFill>
                    </a:lnL>
                    <a:lnR w="12700">
                      <a:solidFill>
                        <a:srgbClr val="43464E"/>
                      </a:solidFill>
                    </a:lnR>
                    <a:lnT w="12700">
                      <a:solidFill>
                        <a:srgbClr val="4B515E"/>
                      </a:solidFill>
                    </a:lnT>
                    <a:lnB w="12700">
                      <a:solidFill>
                        <a:srgbClr val="43464E"/>
                      </a:solidFill>
                    </a:lnB>
                    <a:noFill/>
                  </a:tcPr>
                </a:tc>
              </a:tr>
              <a:tr h="332680">
                <a:tc>
                  <a:txBody>
                    <a:bodyPr/>
                    <a:lstStyle/>
                    <a:p>
                      <a:pPr algn="l">
                        <a:lnSpc>
                          <a:spcPts val="1600"/>
                        </a:lnSpc>
                        <a:defRPr sz="1800">
                          <a:solidFill>
                            <a:srgbClr val="000000"/>
                          </a:solidFill>
                        </a:defRPr>
                      </a:pPr>
                      <a:r>
                        <a:rPr sz="1200">
                          <a:solidFill>
                            <a:srgbClr val="EEF0F4"/>
                          </a:solidFill>
                        </a:rPr>
                        <a:t>Un procedimiento repetible, solo cuando hace falta</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Skill</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r>
              <a:tr h="332680">
                <a:tc>
                  <a:txBody>
                    <a:bodyPr/>
                    <a:lstStyle/>
                    <a:p>
                      <a:pPr algn="l">
                        <a:lnSpc>
                          <a:spcPts val="1600"/>
                        </a:lnSpc>
                        <a:defRPr sz="1800">
                          <a:solidFill>
                            <a:srgbClr val="000000"/>
                          </a:solidFill>
                        </a:defRPr>
                      </a:pPr>
                      <a:r>
                        <a:rPr sz="1200">
                          <a:solidFill>
                            <a:srgbClr val="EEF0F4"/>
                          </a:solidFill>
                        </a:rPr>
                        <a:t>Un especialista con permisos acotados</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Agente personalizado</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r>
              <a:tr h="332680">
                <a:tc>
                  <a:txBody>
                    <a:bodyPr/>
                    <a:lstStyle/>
                    <a:p>
                      <a:pPr algn="l">
                        <a:lnSpc>
                          <a:spcPts val="1600"/>
                        </a:lnSpc>
                        <a:defRPr sz="1800">
                          <a:solidFill>
                            <a:srgbClr val="000000"/>
                          </a:solidFill>
                        </a:defRPr>
                      </a:pPr>
                      <a:r>
                        <a:rPr sz="1200">
                          <a:solidFill>
                            <a:srgbClr val="EEF0F4"/>
                          </a:solidFill>
                        </a:rPr>
                        <a:t>Datos o acciones de un sistema externo</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Servidor MCP</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r>
              <a:tr h="332680">
                <a:tc>
                  <a:txBody>
                    <a:bodyPr/>
                    <a:lstStyle/>
                    <a:p>
                      <a:pPr algn="l">
                        <a:lnSpc>
                          <a:spcPts val="1600"/>
                        </a:lnSpc>
                        <a:defRPr sz="1800">
                          <a:solidFill>
                            <a:srgbClr val="000000"/>
                          </a:solidFill>
                        </a:defRPr>
                      </a:pPr>
                      <a:r>
                        <a:rPr sz="1200">
                          <a:solidFill>
                            <a:srgbClr val="EEF0F4"/>
                          </a:solidFill>
                        </a:rPr>
                        <a:t>Definiciones, referencias y renombrados exactos</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Servidor LSP</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r>
              <a:tr h="332680">
                <a:tc>
                  <a:txBody>
                    <a:bodyPr/>
                    <a:lstStyle/>
                    <a:p>
                      <a:pPr algn="l">
                        <a:lnSpc>
                          <a:spcPts val="1600"/>
                        </a:lnSpc>
                        <a:defRPr sz="1800">
                          <a:solidFill>
                            <a:srgbClr val="000000"/>
                          </a:solidFill>
                        </a:defRPr>
                      </a:pPr>
                      <a:r>
                        <a:rPr sz="1200">
                          <a:solidFill>
                            <a:srgbClr val="EEF0F4"/>
                          </a:solidFill>
                        </a:rPr>
                        <a:t>Bloquear o auditar sin depender del modelo</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Hook</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r>
              <a:tr h="332680">
                <a:tc>
                  <a:txBody>
                    <a:bodyPr/>
                    <a:lstStyle/>
                    <a:p>
                      <a:pPr algn="l">
                        <a:lnSpc>
                          <a:spcPts val="1600"/>
                        </a:lnSpc>
                        <a:defRPr sz="1800">
                          <a:solidFill>
                            <a:srgbClr val="000000"/>
                          </a:solidFill>
                        </a:defRPr>
                      </a:pPr>
                      <a:r>
                        <a:rPr sz="1200">
                          <a:solidFill>
                            <a:srgbClr val="EEF0F4"/>
                          </a:solidFill>
                        </a:rPr>
                        <a:t>Lógica con estado dentro de la sesión</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Extensión</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r>
              <a:tr h="332680">
                <a:tc>
                  <a:txBody>
                    <a:bodyPr/>
                    <a:lstStyle/>
                    <a:p>
                      <a:pPr algn="l">
                        <a:lnSpc>
                          <a:spcPts val="1600"/>
                        </a:lnSpc>
                        <a:defRPr sz="1800">
                          <a:solidFill>
                            <a:srgbClr val="000000"/>
                          </a:solidFill>
                        </a:defRPr>
                      </a:pPr>
                      <a:r>
                        <a:rPr sz="1200">
                          <a:solidFill>
                            <a:srgbClr val="EEF0F4"/>
                          </a:solidFill>
                        </a:rPr>
                        <a:t>Una interfaz para la persona y para el agente</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Canvas</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r>
              <a:tr h="332680">
                <a:tc>
                  <a:txBody>
                    <a:bodyPr/>
                    <a:lstStyle/>
                    <a:p>
                      <a:pPr algn="l">
                        <a:lnSpc>
                          <a:spcPts val="1600"/>
                        </a:lnSpc>
                        <a:defRPr sz="1800">
                          <a:solidFill>
                            <a:srgbClr val="000000"/>
                          </a:solidFill>
                        </a:defRPr>
                      </a:pPr>
                      <a:r>
                        <a:rPr sz="1200">
                          <a:solidFill>
                            <a:srgbClr val="EEF0F4"/>
                          </a:solidFill>
                        </a:rPr>
                        <a:t>Distribuirlo a otros repos y equipos</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c>
                  <a:txBody>
                    <a:bodyPr/>
                    <a:lstStyle/>
                    <a:p>
                      <a:pPr algn="l">
                        <a:lnSpc>
                          <a:spcPts val="1600"/>
                        </a:lnSpc>
                        <a:defRPr sz="1800">
                          <a:solidFill>
                            <a:srgbClr val="000000"/>
                          </a:solidFill>
                        </a:defRPr>
                      </a:pPr>
                      <a:r>
                        <a:rPr sz="1200">
                          <a:solidFill>
                            <a:srgbClr val="EEF0F4"/>
                          </a:solidFill>
                        </a:rPr>
                        <a:t>Plugin</a:t>
                      </a:r>
                    </a:p>
                  </a:txBody>
                  <a:tcPr marL="53339" marR="53339" marT="53339" marB="53339" anchor="t" anchorCtr="0" horzOverflow="overflow">
                    <a:lnL w="12700">
                      <a:solidFill>
                        <a:srgbClr val="43464E"/>
                      </a:solidFill>
                    </a:lnL>
                    <a:lnR w="12700">
                      <a:solidFill>
                        <a:srgbClr val="43464E"/>
                      </a:solidFill>
                    </a:lnR>
                    <a:lnT w="12700">
                      <a:solidFill>
                        <a:srgbClr val="43464E"/>
                      </a:solidFill>
                    </a:lnT>
                    <a:lnB w="12700">
                      <a:solidFill>
                        <a:srgbClr val="43464E"/>
                      </a:solidFill>
                    </a:lnB>
                    <a:noFill/>
                  </a:tcPr>
                </a:tc>
              </a:tr>
            </a:tbl>
          </a:graphicData>
        </a:graphic>
      </p:graphicFrame>
      <p:sp>
        <p:nvSpPr>
          <p:cNvPr id="677" name="Text 4"/>
          <p:cNvSpPr txBox="1"/>
          <p:nvPr/>
        </p:nvSpPr>
        <p:spPr>
          <a:xfrm>
            <a:off x="812799" y="5428605"/>
            <a:ext cx="10883394"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Empieza por arriba y baja solo cuando la fila anterior se quede corta.</a:t>
            </a:r>
          </a:p>
        </p:txBody>
      </p:sp>
      <p:sp>
        <p:nvSpPr>
          <p:cNvPr id="678" name="Text 5"/>
          <p:cNvSpPr txBox="1"/>
          <p:nvPr/>
        </p:nvSpPr>
        <p:spPr>
          <a:xfrm>
            <a:off x="812799" y="6238280"/>
            <a:ext cx="302782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defRPr>
            </a:lvl1pPr>
          </a:lstStyle>
          <a:p>
            <a:pPr/>
            <a:r>
              <a:t>Extensibilidad de GitHub Copilot App</a:t>
            </a:r>
          </a:p>
        </p:txBody>
      </p:sp>
      <p:sp>
        <p:nvSpPr>
          <p:cNvPr id="679" name="Text 6"/>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chemeClr val="accent6"/>
                </a:solidFill>
              </a:defRPr>
            </a:lvl1pPr>
          </a:lstStyle>
          <a:p>
            <a:pPr/>
            <a:r>
              <a:t>40</a:t>
            </a:r>
          </a:p>
        </p:txBody>
      </p:sp>
    </p:spTree>
  </p:cSld>
  <p:clrMapOvr>
    <a:masterClrMapping/>
  </p:clrMapOvr>
  <p:transition xmlns:p14="http://schemas.microsoft.com/office/powerpoint/2010/main" spd="med" advClick="1"/>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83"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2"/>
                </a:solidFill>
              </a:defRPr>
            </a:lvl1pPr>
          </a:lstStyle>
          <a:p>
            <a:pPr/>
            <a:r>
              <a:t>CIERRE</a:t>
            </a:r>
          </a:p>
        </p:txBody>
      </p:sp>
      <p:sp>
        <p:nvSpPr>
          <p:cNvPr id="684" name="Text 1"/>
          <p:cNvSpPr txBox="1"/>
          <p:nvPr>
            <p:ph type="title"/>
          </p:nvPr>
        </p:nvSpPr>
        <p:spPr>
          <a:xfrm>
            <a:off x="812799" y="1127720"/>
            <a:ext cx="10883394" cy="472430"/>
          </a:xfrm>
          <a:prstGeom prst="rect">
            <a:avLst/>
          </a:prstGeom>
        </p:spPr>
        <p:txBody>
          <a:bodyPr/>
          <a:lstStyle>
            <a:lvl1pPr>
              <a:lnSpc>
                <a:spcPts val="3500"/>
              </a:lnSpc>
              <a:defRPr b="1"/>
            </a:lvl1pPr>
          </a:lstStyle>
          <a:p>
            <a:pPr/>
            <a:r>
              <a:t>Más extensión, más superficie de ataque</a:t>
            </a:r>
          </a:p>
        </p:txBody>
      </p:sp>
      <p:sp>
        <p:nvSpPr>
          <p:cNvPr id="685" name="Shape 2"/>
          <p:cNvSpPr/>
          <p:nvPr/>
        </p:nvSpPr>
        <p:spPr>
          <a:xfrm>
            <a:off x="815975" y="1882725"/>
            <a:ext cx="3380284" cy="2025651"/>
          </a:xfrm>
          <a:prstGeom prst="roundRect">
            <a:avLst>
              <a:gd name="adj" fmla="val 4859"/>
            </a:avLst>
          </a:prstGeom>
          <a:solidFill>
            <a:srgbClr val="1A2133"/>
          </a:solidFill>
          <a:ln w="6350">
            <a:solidFill>
              <a:srgbClr val="2B3550"/>
            </a:solidFill>
          </a:ln>
        </p:spPr>
        <p:txBody>
          <a:bodyPr lIns="45719" rIns="45719"/>
          <a:lstStyle/>
          <a:p>
            <a:pPr>
              <a:defRPr>
                <a:solidFill>
                  <a:srgbClr val="EEF0F4"/>
                </a:solidFill>
              </a:defRPr>
            </a:pPr>
          </a:p>
        </p:txBody>
      </p:sp>
      <p:sp>
        <p:nvSpPr>
          <p:cNvPr id="686" name="Text 3"/>
          <p:cNvSpPr txBox="1"/>
          <p:nvPr/>
        </p:nvSpPr>
        <p:spPr>
          <a:xfrm>
            <a:off x="1073149" y="2139900"/>
            <a:ext cx="2951914"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b="1" sz="2000">
                <a:solidFill>
                  <a:srgbClr val="EEF0F4"/>
                </a:solidFill>
                <a:latin typeface="Space Grotesk"/>
                <a:ea typeface="Space Grotesk"/>
                <a:cs typeface="Space Grotesk"/>
                <a:sym typeface="Space Grotesk"/>
              </a:defRPr>
            </a:lvl1pPr>
          </a:lstStyle>
          <a:p>
            <a:pPr/>
            <a:r>
              <a:t>El repo ejecuta código</a:t>
            </a:r>
          </a:p>
        </p:txBody>
      </p:sp>
      <p:sp>
        <p:nvSpPr>
          <p:cNvPr id="687" name="Text 4"/>
          <p:cNvSpPr txBox="1"/>
          <p:nvPr/>
        </p:nvSpPr>
        <p:spPr>
          <a:xfrm>
            <a:off x="1073149" y="2546300"/>
            <a:ext cx="2951914" cy="8255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804672">
              <a:lnSpc>
                <a:spcPts val="1800"/>
              </a:lnSpc>
              <a:defRPr sz="1320">
                <a:solidFill>
                  <a:srgbClr val="A9B4C6"/>
                </a:solidFill>
              </a:defRPr>
            </a:lvl1pPr>
          </a:lstStyle>
          <a:p>
            <a:pPr/>
            <a:r>
              <a:t>Las extensiones de un proyecto se cargan al abrirlo. Revisa el repo de otra persona antes de abrirlo en la app.</a:t>
            </a:r>
          </a:p>
        </p:txBody>
      </p:sp>
      <p:sp>
        <p:nvSpPr>
          <p:cNvPr id="688" name="Shape 5"/>
          <p:cNvSpPr/>
          <p:nvPr/>
        </p:nvSpPr>
        <p:spPr>
          <a:xfrm>
            <a:off x="4405808" y="1882725"/>
            <a:ext cx="3380334" cy="2025651"/>
          </a:xfrm>
          <a:prstGeom prst="roundRect">
            <a:avLst>
              <a:gd name="adj" fmla="val 4859"/>
            </a:avLst>
          </a:prstGeom>
          <a:solidFill>
            <a:srgbClr val="1A2133"/>
          </a:solidFill>
          <a:ln w="6350">
            <a:solidFill>
              <a:srgbClr val="2B3550"/>
            </a:solidFill>
          </a:ln>
        </p:spPr>
        <p:txBody>
          <a:bodyPr lIns="45719" rIns="45719"/>
          <a:lstStyle/>
          <a:p>
            <a:pPr>
              <a:defRPr>
                <a:solidFill>
                  <a:srgbClr val="EEF0F4"/>
                </a:solidFill>
              </a:defRPr>
            </a:pPr>
          </a:p>
        </p:txBody>
      </p:sp>
      <p:sp>
        <p:nvSpPr>
          <p:cNvPr id="689" name="Text 6"/>
          <p:cNvSpPr txBox="1"/>
          <p:nvPr/>
        </p:nvSpPr>
        <p:spPr>
          <a:xfrm>
            <a:off x="4662983" y="2139900"/>
            <a:ext cx="2951964"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b="1" sz="2000">
                <a:solidFill>
                  <a:srgbClr val="EEF0F4"/>
                </a:solidFill>
                <a:latin typeface="Space Grotesk"/>
                <a:ea typeface="Space Grotesk"/>
                <a:cs typeface="Space Grotesk"/>
                <a:sym typeface="Space Grotesk"/>
              </a:defRPr>
            </a:lvl1pPr>
          </a:lstStyle>
          <a:p>
            <a:pPr/>
            <a:r>
              <a:t>Lo que instalas es una dependencia</a:t>
            </a:r>
          </a:p>
        </p:txBody>
      </p:sp>
      <p:sp>
        <p:nvSpPr>
          <p:cNvPr id="690" name="Text 7"/>
          <p:cNvSpPr txBox="1"/>
          <p:nvPr/>
        </p:nvSpPr>
        <p:spPr>
          <a:xfrm>
            <a:off x="4662983" y="2851100"/>
            <a:ext cx="2951964" cy="8255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GitHub no verifica skills ni plugins de terceros. Léelos como leerías una librería nueva.</a:t>
            </a:r>
          </a:p>
        </p:txBody>
      </p:sp>
      <p:sp>
        <p:nvSpPr>
          <p:cNvPr id="691" name="Shape 8"/>
          <p:cNvSpPr/>
          <p:nvPr/>
        </p:nvSpPr>
        <p:spPr>
          <a:xfrm>
            <a:off x="7995691" y="1882725"/>
            <a:ext cx="3380334" cy="2025651"/>
          </a:xfrm>
          <a:prstGeom prst="roundRect">
            <a:avLst>
              <a:gd name="adj" fmla="val 4859"/>
            </a:avLst>
          </a:prstGeom>
          <a:solidFill>
            <a:srgbClr val="1A2133"/>
          </a:solidFill>
          <a:ln w="6350">
            <a:solidFill>
              <a:srgbClr val="2B3550"/>
            </a:solidFill>
          </a:ln>
        </p:spPr>
        <p:txBody>
          <a:bodyPr lIns="45719" rIns="45719"/>
          <a:lstStyle/>
          <a:p>
            <a:pPr>
              <a:defRPr>
                <a:solidFill>
                  <a:srgbClr val="EEF0F4"/>
                </a:solidFill>
              </a:defRPr>
            </a:pPr>
          </a:p>
        </p:txBody>
      </p:sp>
      <p:sp>
        <p:nvSpPr>
          <p:cNvPr id="692" name="Text 9"/>
          <p:cNvSpPr txBox="1"/>
          <p:nvPr/>
        </p:nvSpPr>
        <p:spPr>
          <a:xfrm>
            <a:off x="8252866" y="2139900"/>
            <a:ext cx="2951964"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b="1" sz="2000">
                <a:solidFill>
                  <a:srgbClr val="EEF0F4"/>
                </a:solidFill>
                <a:latin typeface="Space Grotesk"/>
                <a:ea typeface="Space Grotesk"/>
                <a:cs typeface="Space Grotesk"/>
                <a:sym typeface="Space Grotesk"/>
              </a:defRPr>
            </a:lvl1pPr>
          </a:lstStyle>
          <a:p>
            <a:pPr/>
            <a:r>
              <a:t>Mínimo privilegio</a:t>
            </a:r>
          </a:p>
        </p:txBody>
      </p:sp>
      <p:sp>
        <p:nvSpPr>
          <p:cNvPr id="693" name="Text 10"/>
          <p:cNvSpPr txBox="1"/>
          <p:nvPr/>
        </p:nvSpPr>
        <p:spPr>
          <a:xfrm>
            <a:off x="8252866" y="2546300"/>
            <a:ext cx="2951964" cy="10922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A9B4C6"/>
                </a:solidFill>
              </a:defRPr>
            </a:lvl1pPr>
          </a:lstStyle>
          <a:p>
            <a:pPr/>
            <a:r>
              <a:t>Herramientas acotadas en los agentes, servidores solo en loopback y secretos pedidos por nombre.</a:t>
            </a:r>
          </a:p>
        </p:txBody>
      </p:sp>
      <p:sp>
        <p:nvSpPr>
          <p:cNvPr id="694" name="Text 11"/>
          <p:cNvSpPr txBox="1"/>
          <p:nvPr/>
        </p:nvSpPr>
        <p:spPr>
          <a:xfrm>
            <a:off x="812799" y="4216350"/>
            <a:ext cx="10883394"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EEF0F4"/>
                </a:solidFill>
              </a:defRPr>
            </a:lvl1pPr>
          </a:lstStyle>
          <a:p>
            <a:pPr/>
            <a:r>
              <a:t>Todo lo que has visto son ficheros en un repo: pasan por revisión de código como cualquier otro cambio.</a:t>
            </a:r>
          </a:p>
        </p:txBody>
      </p:sp>
      <p:sp>
        <p:nvSpPr>
          <p:cNvPr id="695" name="Text 12"/>
          <p:cNvSpPr txBox="1"/>
          <p:nvPr/>
        </p:nvSpPr>
        <p:spPr>
          <a:xfrm>
            <a:off x="812799" y="6238280"/>
            <a:ext cx="302782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defRPr>
            </a:lvl1pPr>
          </a:lstStyle>
          <a:p>
            <a:pPr/>
            <a:r>
              <a:t>Extensibilidad de GitHub Copilot App</a:t>
            </a:r>
          </a:p>
        </p:txBody>
      </p:sp>
      <p:sp>
        <p:nvSpPr>
          <p:cNvPr id="696" name="Text 13"/>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chemeClr val="accent6"/>
                </a:solidFill>
              </a:defRPr>
            </a:lvl1pPr>
          </a:lstStyle>
          <a:p>
            <a:pPr/>
            <a:r>
              <a:t>41</a:t>
            </a:r>
          </a:p>
        </p:txBody>
      </p:sp>
    </p:spTree>
  </p:cSld>
  <p:clrMapOvr>
    <a:masterClrMapping/>
  </p:clrMapOvr>
  <p:transition xmlns:p14="http://schemas.microsoft.com/office/powerpoint/2010/main" spd="med" advClick="1"/>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00" name="Text 0"/>
          <p:cNvSpPr txBox="1"/>
          <p:nvPr>
            <p:ph type="title"/>
          </p:nvPr>
        </p:nvSpPr>
        <p:spPr>
          <a:xfrm>
            <a:off x="812799" y="1715790"/>
            <a:ext cx="4859594" cy="772121"/>
          </a:xfrm>
          <a:prstGeom prst="rect">
            <a:avLst/>
          </a:prstGeom>
        </p:spPr>
        <p:txBody>
          <a:bodyPr/>
          <a:lstStyle>
            <a:lvl1pPr>
              <a:lnSpc>
                <a:spcPts val="5800"/>
              </a:lnSpc>
              <a:defRPr b="1" sz="5600"/>
            </a:lvl1pPr>
          </a:lstStyle>
          <a:p>
            <a:pPr/>
            <a:r>
              <a:t>Gracias</a:t>
            </a:r>
          </a:p>
        </p:txBody>
      </p:sp>
      <p:sp>
        <p:nvSpPr>
          <p:cNvPr id="701" name="Text 1"/>
          <p:cNvSpPr txBox="1"/>
          <p:nvPr/>
        </p:nvSpPr>
        <p:spPr>
          <a:xfrm>
            <a:off x="812799" y="2665709"/>
            <a:ext cx="4859594" cy="10160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600"/>
              </a:lnSpc>
              <a:defRPr sz="2000">
                <a:solidFill>
                  <a:srgbClr val="A9B4C6"/>
                </a:solidFill>
              </a:defRPr>
            </a:lvl1pPr>
          </a:lstStyle>
          <a:p>
            <a:pPr/>
            <a:r>
              <a:t>Empieza con un fichero de instrucciones. Sube un escalón solo cuando el anterior se quede corto.</a:t>
            </a:r>
          </a:p>
        </p:txBody>
      </p:sp>
      <p:sp>
        <p:nvSpPr>
          <p:cNvPr id="702" name="Text 2"/>
          <p:cNvSpPr txBox="1"/>
          <p:nvPr/>
        </p:nvSpPr>
        <p:spPr>
          <a:xfrm>
            <a:off x="812799" y="3859510"/>
            <a:ext cx="4859594"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2400"/>
              </a:lnSpc>
              <a:defRPr b="1" sz="2000">
                <a:solidFill>
                  <a:srgbClr val="EEF0F4"/>
                </a:solidFill>
                <a:latin typeface="Space Grotesk"/>
                <a:ea typeface="Space Grotesk"/>
                <a:cs typeface="Space Grotesk"/>
                <a:sym typeface="Space Grotesk"/>
              </a:defRPr>
            </a:pPr>
            <a:r>
              <a:t>¿Preguntas?</a:t>
            </a:r>
          </a:p>
          <a:p>
            <a:pPr>
              <a:lnSpc>
                <a:spcPts val="2400"/>
              </a:lnSpc>
              <a:defRPr b="1" sz="2000">
                <a:solidFill>
                  <a:schemeClr val="accent2"/>
                </a:solidFill>
                <a:latin typeface="Space Grotesk"/>
                <a:ea typeface="Space Grotesk"/>
                <a:cs typeface="Space Grotesk"/>
                <a:sym typeface="Space Grotesk"/>
              </a:defRPr>
            </a:pPr>
            <a:r>
              <a:t>Las difíciles se las paso a Copilot.</a:t>
            </a:r>
          </a:p>
        </p:txBody>
      </p:sp>
      <p:sp>
        <p:nvSpPr>
          <p:cNvPr id="703" name="Text 3"/>
          <p:cNvSpPr txBox="1"/>
          <p:nvPr/>
        </p:nvSpPr>
        <p:spPr>
          <a:xfrm>
            <a:off x="812799" y="4672310"/>
            <a:ext cx="4859594"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b="1" sz="1500">
                <a:solidFill>
                  <a:srgbClr val="EEF0F4"/>
                </a:solidFill>
              </a:defRPr>
            </a:lvl1pPr>
          </a:lstStyle>
          <a:p>
            <a:pPr/>
            <a:r>
              <a:t>Javier Suárez Ruiz</a:t>
            </a:r>
          </a:p>
        </p:txBody>
      </p:sp>
      <p:sp>
        <p:nvSpPr>
          <p:cNvPr id="704" name="Shape 4"/>
          <p:cNvSpPr/>
          <p:nvPr/>
        </p:nvSpPr>
        <p:spPr>
          <a:xfrm>
            <a:off x="6143625" y="1642765"/>
            <a:ext cx="5232400" cy="3369270"/>
          </a:xfrm>
          <a:prstGeom prst="roundRect">
            <a:avLst>
              <a:gd name="adj" fmla="val 2921"/>
            </a:avLst>
          </a:prstGeom>
          <a:solidFill>
            <a:srgbClr val="1A2133"/>
          </a:solidFill>
          <a:ln w="6350">
            <a:solidFill>
              <a:srgbClr val="2B3550"/>
            </a:solidFill>
          </a:ln>
        </p:spPr>
        <p:txBody>
          <a:bodyPr lIns="45719" rIns="45719"/>
          <a:lstStyle/>
          <a:p>
            <a:pPr>
              <a:defRPr>
                <a:solidFill>
                  <a:srgbClr val="EEF0F4"/>
                </a:solidFill>
              </a:defRPr>
            </a:pPr>
          </a:p>
        </p:txBody>
      </p:sp>
      <p:sp>
        <p:nvSpPr>
          <p:cNvPr id="705" name="Text 5"/>
          <p:cNvSpPr txBox="1"/>
          <p:nvPr/>
        </p:nvSpPr>
        <p:spPr>
          <a:xfrm>
            <a:off x="6400799" y="1899940"/>
            <a:ext cx="4859594"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2"/>
                </a:solidFill>
              </a:defRPr>
            </a:lvl1pPr>
          </a:lstStyle>
          <a:p>
            <a:pPr/>
            <a:r>
              <a:t>DÓNDE SEGUIR</a:t>
            </a:r>
          </a:p>
        </p:txBody>
      </p:sp>
      <p:sp>
        <p:nvSpPr>
          <p:cNvPr id="706" name="Text 6"/>
          <p:cNvSpPr txBox="1"/>
          <p:nvPr/>
        </p:nvSpPr>
        <p:spPr>
          <a:xfrm>
            <a:off x="6400799" y="2240259"/>
            <a:ext cx="48595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2100"/>
              </a:lnSpc>
              <a:defRPr b="1" sz="1500">
                <a:solidFill>
                  <a:srgbClr val="EEF0F4"/>
                </a:solidFill>
              </a:defRPr>
            </a:pPr>
            <a:r>
              <a:t>Documentación</a:t>
            </a:r>
          </a:p>
          <a:p>
            <a:pPr>
              <a:lnSpc>
                <a:spcPts val="2100"/>
              </a:lnSpc>
              <a:defRPr sz="1500">
                <a:solidFill>
                  <a:srgbClr val="A9B4C6"/>
                </a:solidFill>
              </a:defRPr>
            </a:pPr>
            <a:r>
              <a:t>docs.github.com/copilot, sección de la app</a:t>
            </a:r>
          </a:p>
        </p:txBody>
      </p:sp>
      <p:sp>
        <p:nvSpPr>
          <p:cNvPr id="707" name="Text 7"/>
          <p:cNvSpPr txBox="1"/>
          <p:nvPr/>
        </p:nvSpPr>
        <p:spPr>
          <a:xfrm>
            <a:off x="6400799" y="2900659"/>
            <a:ext cx="48595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2100"/>
              </a:lnSpc>
              <a:defRPr b="1" sz="1500">
                <a:solidFill>
                  <a:srgbClr val="EEF0F4"/>
                </a:solidFill>
              </a:defRPr>
            </a:pPr>
            <a:r>
              <a:t>Catálogo de la comunidad</a:t>
            </a:r>
          </a:p>
          <a:p>
            <a:pPr>
              <a:lnSpc>
                <a:spcPts val="2100"/>
              </a:lnSpc>
              <a:defRPr sz="1500">
                <a:solidFill>
                  <a:srgbClr val="A9B4C6"/>
                </a:solidFill>
              </a:defRPr>
            </a:pPr>
            <a:r>
              <a:t>awesome-copilot.github.com</a:t>
            </a:r>
          </a:p>
        </p:txBody>
      </p:sp>
      <p:sp>
        <p:nvSpPr>
          <p:cNvPr id="708" name="Text 8"/>
          <p:cNvSpPr txBox="1"/>
          <p:nvPr/>
        </p:nvSpPr>
        <p:spPr>
          <a:xfrm>
            <a:off x="6400799" y="3561060"/>
            <a:ext cx="48595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2100"/>
              </a:lnSpc>
              <a:defRPr b="1" sz="1500">
                <a:solidFill>
                  <a:srgbClr val="EEF0F4"/>
                </a:solidFill>
              </a:defRPr>
            </a:pPr>
            <a:r>
              <a:t>SDK de extensiones</a:t>
            </a:r>
          </a:p>
          <a:p>
            <a:pPr>
              <a:lnSpc>
                <a:spcPts val="2100"/>
              </a:lnSpc>
              <a:defRPr sz="1500">
                <a:solidFill>
                  <a:srgbClr val="A9B4C6"/>
                </a:solidFill>
              </a:defRPr>
            </a:pPr>
            <a:r>
              <a:t>Paquete @github/copilot-sdk en npm</a:t>
            </a:r>
          </a:p>
        </p:txBody>
      </p:sp>
      <p:sp>
        <p:nvSpPr>
          <p:cNvPr id="709" name="Text 9"/>
          <p:cNvSpPr txBox="1"/>
          <p:nvPr/>
        </p:nvSpPr>
        <p:spPr>
          <a:xfrm>
            <a:off x="6400799" y="4221460"/>
            <a:ext cx="48595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2100"/>
              </a:lnSpc>
              <a:defRPr b="1" sz="1500">
                <a:solidFill>
                  <a:srgbClr val="EEF0F4"/>
                </a:solidFill>
              </a:defRPr>
            </a:pPr>
            <a:r>
              <a:t>El ejemplo del canvas</a:t>
            </a:r>
          </a:p>
          <a:p>
            <a:pPr>
              <a:lnSpc>
                <a:spcPts val="2100"/>
              </a:lnSpc>
              <a:defRPr sz="1500">
                <a:solidFill>
                  <a:srgbClr val="A9B4C6"/>
                </a:solidFill>
              </a:defRPr>
            </a:pPr>
            <a:r>
              <a:t>github.com/jsuarezruiz/copilot-avalonia</a:t>
            </a:r>
          </a:p>
        </p:txBody>
      </p:sp>
      <p:sp>
        <p:nvSpPr>
          <p:cNvPr id="710" name="Text 10"/>
          <p:cNvSpPr txBox="1"/>
          <p:nvPr/>
        </p:nvSpPr>
        <p:spPr>
          <a:xfrm>
            <a:off x="812799" y="6238280"/>
            <a:ext cx="302782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chemeClr val="accent6"/>
                </a:solidFill>
              </a:defRPr>
            </a:lvl1pPr>
          </a:lstStyle>
          <a:p>
            <a:pPr/>
            <a:r>
              <a:t>Extensibilidad de GitHub Copilot App</a:t>
            </a:r>
          </a:p>
        </p:txBody>
      </p:sp>
      <p:sp>
        <p:nvSpPr>
          <p:cNvPr id="711" name="Text 11"/>
          <p:cNvSpPr txBox="1"/>
          <p:nvPr/>
        </p:nvSpPr>
        <p:spPr>
          <a:xfrm>
            <a:off x="11145490" y="6238280"/>
            <a:ext cx="23371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600"/>
              </a:lnSpc>
              <a:defRPr sz="1200">
                <a:solidFill>
                  <a:schemeClr val="accent6"/>
                </a:solidFill>
              </a:defRPr>
            </a:lvl1pPr>
          </a:lstStyle>
          <a:p>
            <a:pPr/>
            <a:r>
              <a:t>42</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Extensibilidad de GitHub Copilot App">
  <a:themeElements>
    <a:clrScheme name="Extensibilidad de GitHub Copilot App">
      <a:dk1>
        <a:srgbClr val="10141F"/>
      </a:dk1>
      <a:lt1>
        <a:srgbClr val="10141F"/>
      </a:lt1>
      <a:dk2>
        <a:srgbClr val="A7A7A7"/>
      </a:dk2>
      <a:lt2>
        <a:srgbClr val="535353"/>
      </a:lt2>
      <a:accent1>
        <a:srgbClr val="F2B84B"/>
      </a:accent1>
      <a:accent2>
        <a:srgbClr val="9D8CFF"/>
      </a:accent2>
      <a:accent3>
        <a:srgbClr val="DCD6FF"/>
      </a:accent3>
      <a:accent4>
        <a:srgbClr val="5B46E0"/>
      </a:accent4>
      <a:accent5>
        <a:srgbClr val="6FD3B8"/>
      </a:accent5>
      <a:accent6>
        <a:srgbClr val="7F8BA3"/>
      </a:accent6>
      <a:hlink>
        <a:srgbClr val="0000FF"/>
      </a:hlink>
      <a:folHlink>
        <a:srgbClr val="FF00FF"/>
      </a:folHlink>
    </a:clrScheme>
    <a:fontScheme name="Extensibilidad de GitHub Copilot App">
      <a:majorFont>
        <a:latin typeface="IBM Plex Sans"/>
        <a:ea typeface="IBM Plex Sans"/>
        <a:cs typeface="IBM Plex Sans"/>
      </a:majorFont>
      <a:minorFont>
        <a:latin typeface="Helvetica"/>
        <a:ea typeface="Helvetica"/>
        <a:cs typeface="Helvetica"/>
      </a:minorFont>
    </a:fontScheme>
    <a:fmtScheme name="Extensibilidad de GitHub Copilot App">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EF0F4"/>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0141F"/>
            </a:solidFill>
            <a:effectLst/>
            <a:uFillTx/>
            <a:latin typeface="+mj-lt"/>
            <a:ea typeface="+mj-ea"/>
            <a:cs typeface="+mj-cs"/>
            <a:sym typeface="IBM Plex San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0141F"/>
            </a:solidFill>
            <a:effectLst/>
            <a:uFillTx/>
            <a:latin typeface="+mj-lt"/>
            <a:ea typeface="+mj-ea"/>
            <a:cs typeface="+mj-cs"/>
            <a:sym typeface="IBM Plex San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Extensibilidad de GitHub Copilot App">
  <a:themeElements>
    <a:clrScheme name="Extensibilidad de GitHub Copilot App">
      <a:dk1>
        <a:srgbClr val="10141F"/>
      </a:dk1>
      <a:lt1>
        <a:srgbClr val="1F1B0F"/>
      </a:lt1>
      <a:dk2>
        <a:srgbClr val="A7A7A7"/>
      </a:dk2>
      <a:lt2>
        <a:srgbClr val="535353"/>
      </a:lt2>
      <a:accent1>
        <a:srgbClr val="F2B84B"/>
      </a:accent1>
      <a:accent2>
        <a:srgbClr val="9D8CFF"/>
      </a:accent2>
      <a:accent3>
        <a:srgbClr val="DCD6FF"/>
      </a:accent3>
      <a:accent4>
        <a:srgbClr val="5B46E0"/>
      </a:accent4>
      <a:accent5>
        <a:srgbClr val="6FD3B8"/>
      </a:accent5>
      <a:accent6>
        <a:srgbClr val="7F8BA3"/>
      </a:accent6>
      <a:hlink>
        <a:srgbClr val="0000FF"/>
      </a:hlink>
      <a:folHlink>
        <a:srgbClr val="FF00FF"/>
      </a:folHlink>
    </a:clrScheme>
    <a:fontScheme name="Extensibilidad de GitHub Copilot App">
      <a:majorFont>
        <a:latin typeface="IBM Plex Sans"/>
        <a:ea typeface="IBM Plex Sans"/>
        <a:cs typeface="IBM Plex Sans"/>
      </a:majorFont>
      <a:minorFont>
        <a:latin typeface="Helvetica"/>
        <a:ea typeface="Helvetica"/>
        <a:cs typeface="Helvetica"/>
      </a:minorFont>
    </a:fontScheme>
    <a:fmtScheme name="Extensibilidad de GitHub Copilot App">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EF0F4"/>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0141F"/>
            </a:solidFill>
            <a:effectLst/>
            <a:uFillTx/>
            <a:latin typeface="+mj-lt"/>
            <a:ea typeface="+mj-ea"/>
            <a:cs typeface="+mj-cs"/>
            <a:sym typeface="IBM Plex San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0141F"/>
            </a:solidFill>
            <a:effectLst/>
            <a:uFillTx/>
            <a:latin typeface="+mj-lt"/>
            <a:ea typeface="+mj-ea"/>
            <a:cs typeface="+mj-cs"/>
            <a:sym typeface="IBM Plex San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