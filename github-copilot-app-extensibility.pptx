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30 seconds. Quick personal introduction. The idea of the talk: the GitHub Copilot app can be extended in nine different places and we will go through all of them, each with a small demo on the same repo. The examples use an Avalonia app because it is what I have at hand, but nothing we will see is specific to Avalonia: swap the example for your stack and everything applies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a minute, without stopping. Who I am: I work at Avalonia UI, on the framework and on products such as Avalonia MAUI, Avalonia Charts and the navigation system. The example that runs through the talk, copilot-avalonia, is a project of mine: that is why the demos use an Avalonia app, but everything we will see applies to any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agent that ships with the app is good, but it is the same for everybody. Extending it means closing three gaps: what it knows about your project, what it can do outside the repo, and how you control it and work alongside it. Under each card are the pieces that cover that gap. This classification comes back at the end, in the table of what to use in each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minute and a half. Show the route and the rule of the talk: each step adds a single piece to the same repo and we try it live. Steps 1 to 6 are text files, 7 and 8 are JavaScript with the SDK, and 9 is packaging. It is the cheat sheet of the talk: do not read it all. Point out two things. First: everything hangs from .github or from the root of the repo, so it is reviewed in a pull request like any other change. Second: the table goes from less to more power and from less to more risk. Extensions run code when the repo is opened, which is why we will talk about security again at the end. Two paths for almost everything: files in the repo, which the team shares, or the app Settings and ~/.copilot/, which are yours alone. In step 3 we will see how to give each agent its own model, and in step 7 how to orchestrate them with code, HydraFusion style. At the end there is a short block with what stays outside the nine: automations, the embedded SDK and policies. The sample repo is an Avalonia app, but it is only the stage: no piece depends on the technology of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It is not an editor: it is the place from which you launch and supervise agents. The last line is the one that matters for this talk: almost everything we will see is files inside the repo, so whatever you extend for the app also works for Copilot CLI, and travels with the code to the rest of the team. Extensions and canvases are still experimental. Canvases add their own surfaces to the side panel. On the right, the other way to extend: instead of files in the repo, the app's Customize page. It has a catalog with featured items and one tab per type: MCP, plugins, skills, extensions and canvas. The Installed tab is useful for debugging: it lists what is active and where it comes from, personal, built-in or from a project. In the screenshot you can see the Add button at the top right to add your own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0, two minutes. Question first, without touching code: “What rules should I follow when I change the UI in this repo? Answer in at most five short bullets. If the repo states no rules, say so.” The last sentence asks it to say so instead of presenting as rules what it infers from the code (without it, it sometimes lists conventions inferred from the CSS). In step 0 the agent finds no rules (there is no AGENTS.md, CLAUDE.md or copilot-instructions.md) and answers with generic advice inferred from the folder structure: a reasonable answer that does not know the team. It takes about 40 seconds, most of it the two read confirmations the agent asks for. Optional second beat: the Clear button, the same prompt that closes the talk. The run takes between 30 seconds and two and a half minutes; in testing the button already came out with Name and AutomationId and sometimes the agent ran the app, so do not sell it as a bad result: it coming out well is not a guarantee. If you are short of time, show the already executed result (fallback: demo0-rules.png and demo0-baseline.png). We will close those gaps one by one, from less to more. The light slides like this one are always demos: each one has the prompt, what you should see and the project it runs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of explanation; the demo is the next slide. Instructions are the cheapest step and the one that returns the most. Rule of thumb: if you have repeated yourself twice in the chat, it goes into the instructions. A limitation that leads into the next step: everything you put here takes up context in every session, so do not put long procedures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two minutes. The same question (with the same final sentence, “If the repo states no rules, say so.”, which changes nothing here because the repo does declare rules) and the same model, with a different answer: now the agent lists the team's rules, and what counts is what demo 0 could not guess: PascalCase ids that end with the control type (GreetButton), never changing an existing AutomationId, visible text in English and the build command, besides Name and AutomationId being equal. It reads them from .github/copilot-instructions.md at the start of the session. If demo 0 said something about AutomationId, it was a hint from the repo's documentation, not a rule. Before, it had to guess and now it knows, and that is what to underline. Optional second beat: the Clear button. The code may come out the same as in demo 0, but now it is a rule of the repo and does not depend on luck. Fallback: demo1-rules.png. If the agent says it received no instructions, check that you answered the trust prompt and open a new session (see demos/01-instructions.txt). Closing message: instructions are for rules, not for procedures. For procedures,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description is the most important part of a skill: it is the only thing the agent sees at first and it decides when the skill is used. That is why it says what it does and when to use it. The body is a procedure with a verification at the end. Difference from instructions: it takes up no context while it is not needed. Skills follow an open format, so they also work in other agent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Open a new session in the 02-skill project. 2. Invoke the skill by name. 3. Let it propose the names. Do not confirm the edit yet. Demo 2, two minutes. SampleApp has 15 interactive controls and five menu items without an AutomationId: it is a real finding in the repo, not a prepared example. Notice that the agent follows the steps in order and asks for confirmation, because the skill says so. Do not confirm the edit: those five gaps are also useful in demo 4. What to look at in the screenshot: The agent reads axaml.instructions.md and looks for the .axaml files: path instructions apply on their own. Then it asks with a card: the table brings the five MenuItems without an identifier, with their line and a proposed name, and marks NewItemMenu and NameBox as already set. Press Skip (Esc) or choose Leave files unchanged: nothing is edited. Fallback for demo 2: use it if the live demo fails or for those who download the slides. It is a real run on the talk's repo, with the slide's prompt. The agent followed the skill's procedure: it located the views, made an inventory and presented the table before editing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Difference from a skill: a skill is a procedure used by the agent you already have. A custom agent is another agent, with its own system prompt and its own tools, and it works in its own context. The line to point at is tools: there the limit is set by the configuration, not by the goodwill of the model. The main agent can also delegate work to it as a subagent.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Open a new session in the 03-agent project. 2. Send a first message (“Hi”): the agent selector only appears once the session is running. Then type /agent avalonia-ui-tester and press Enter (tested on version 1.1.30), or pick it in the selector, to the right of Auto · Balance. 3. Ask for the plan. Then ask it to fix something. Demo 3, two and a half minutes. Keep the plan it generates: it is the one we will load into the canvas in demo 8. Second prompt to show the limit: “Add the AutomationId that is missing on the menu”. Message: up to here the agent knows more and behaves better, but it still has no new capabilities. That comes now. What to look at in the screenshot: The agent is chosen in the message box: at the bottom you can read avalonia-ui-tester. Each case brings setup, steps and expected result, and names the controls by their AutomationId. It only used reading: no commands and no edits. Fallback for demo 3. Real run with the avalonia-ui-tester agent. It covered what its definition asks for: happy path, empty and long inputs, light and dark theme, and keyboard without a mouse. At the end of the plan, which is visible in the screenshot, it added a section of risks and blockers: the light and dark theme menu items without an AutomationId and the main content not having a scroll container. It also warned that it had not run the app, as it is told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seconds. Bridge from the agent we have just seen: an agent is a role, and a role can have its own model. In September GitHub published Project HydraFusion, a research preview in Copilot CLI. It is enabled with /experimental on and chosen in /model as HydraFusion (Research Preview). On each turn it decides between three patterns. Single: one model and that is it. Cascade: an efficient model drafts and a quality gate accepts it or escalates it to a stronger one. Critique: a critic from another model family, which only reads and has no tools, reviews the draft and there is a single correction. The numbers are theirs, against Claude Opus 5 alone: much lower cost with similar quality, and better on TerminalBench. Its principles are good for anyone: count the whole cost, keep each leg bounded, isolated review, a failure must not break anything, and validate the routing. HydraFusion is a closed box: you do not choose the models. But the pieces to build the same pattern are already in the app, and that is what we are going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Four agent files and not a single line of code. Choosing the model for each role is a field: model in the agent file, as you can see at the top right. If you leave it out, the agent uses the session's model. I checked it in the app: I gave an agent a model my account does not have and the subagent refused to start. That is good news: the model is configuration, not a suggestion, and it does not switch to another on its own. The CLI also accepts a list of models in order of preference, but in the app I tried it did not fall back to the second one. The orchestrator is the only one the person chooses, with /agent, and it has the agent tool, which lets it delegate to other custom agents. Each subagent starts with the model from its file: a model with good reasoning plans, one specialised in code writes, and one from another family reviews, and it can only read. It is HydraFusion's Critique pattern built by hand. The rule at the bottom is written in the orchestrator's instructions: at most one round of corrections, which is what HydraFusion calls bounded legs. In Copilot CLI there are two shortcuts that do not touch the repo: /model plan sets a model only for plan mode and goes back to the session's model on exit, and /subagents chooses the model, effort and context window for each subagent, including the built-in rubber-duck, which by default looks for a model from another family. Both are saved in your settings as planModel and subagents.agents. The models are the ones I have in my account; change them for the ones you see in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Open a new session in the 03b-hierarchy project. 2. Send “Hi” and type /agent orchestrator (tested on 1.1.30). 3. While it works, point at each subagent and the time of each phase. Demo 3b, three minutes: the run takes about two minutes (on version 1.1.30 the subagents report 11 seconds for the planner, 24 for the coder and 47 for the reviewer), so launch it, explain the hierarchy while it works and come back at the end. In the earlier test: planner 30 seconds, coder 53 and reviewer 35. The orchestrator does not write code: it only hands out the work. Plan B: the screenshot on this slide. If a subagent does not start, it is almost always because its model is not available on your account: change it in its file to one of those you see in /model. What to look at in the screenshot: Each phase is done by a different subagent, with the model from its file. The final table brings the three configured models: claude-sonnet-5.5, gpt-5.3-codex and gemini-3.8-flash. In this run the reviewer approved on the first try, so there was no correction round; if it asks for changes, the coder has just one more chance. Fallback for demo 3b. If you repeat the demo, reset the repo afterwards: the coder edits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minute and a half. So far we have changed what the agent knows. MCP changes what it can do. It is an open standard: the same server works in the app, in the CLI, in VS Code and in any other MCP client. The normal thing is to use servers that already exist (GitHub, Playwright, your database), and the app brings a catalog in Customize. We write our own just to show that there is no magic: the one in the demo publishes list_controls and find_missing_automation_ids in about 240 lines of Node with no dependencies. At the bottom right is everything needed for the agent to have a new tool: a description with its schema and three responses. initialize introduces the server, tools/list returns the catalog and tools/call runs it. The messages are JSON-RPC, one per line, over standard input and output. In a real project you would use the official MCP SDK, which adds validation and more content types. The tool's description is what the model reads to decide when to call it: it deserves as much care as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Use the 04-mcp project. 2. In a terminal, add the server to your user configuration with the line from 04-mcp.txt: copilot mcp add axaml-inspector -- node ~/copilot-talk/04-mcp/tools/axaml-inspector/server.mjs. 3. Open a new session with the default agent and ask the question. Demo 4, two minutes. Important: the app does not load the repo's .mcp.json or .github/mcp.json (tested on version 1.1.30). Without step 2 the agent does not find the tool and, depending on the run, reads the AXAML directly or launches the server through the shell, which is not an MCP call. With the server in the user configuration (~/.copilot/mcp-config.json) the new session uses it as a native tool and the answer arrives in one call. The Add server button in Customize, MCP was not tested: do step 2 with it once before the talk. When you finish, reset with copilot mcp remove axaml-inspector. Compare with demo 2: the skill reached the same result by searching text, here a tool returns it. The two pieces combine: the skill already says “if find_missing_automation_ids exists, use it”. Plan B if the server does not load: run it in the terminal with the command from the script and show the JSON response. What to look at in the screenshot: The step “Axaml Inspector · Find Missing Automation Ids” is a native call to the server's tool, not a shell command. The five MenuItems come out with their line, and the names carry the access key as they are in the AXAML (_File, E_xit). Fallback for demo 4. Customize's MCP tab also brings a catalog of servers by category with an Add server button on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Without LSP the agent understands code by searching text: it works, but it confuses comments, documentation and similar names, and it spends context reading whole files. With a language server it asks the same things your editor does: go to definition, find references, rename a symbol, see types and documentation. Each language has its own server: here the Roslyn one for C#, which is launched with dotnet dnx and needs the .NET 10 SDK. The lsp-setup skill from the Awesome GitHub Copilot catalog configures it for you for fourteen languages. A plugin can distribute the configuration with the lspServers key. Honest warning: the documentation describes it for Copilot CLI. As with any server, only install those that come from trusted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a minute and a half. The definition is in AppBuilderExtensions.cs of the host and the only real call in SampleApp's Program.cs. The same word appears 13 times in 7 files if you search it as text (git grep in 05-lsp): README, documentation and comments. Start the server once before the talk, because the first run downloads it. In testing the app loaded the LSP configuration and answered with the lsp tool. When cold, the first call can fail with a transport framing error: the agent retries and succeeds. Plan B: do this demo in the CLI on the same repo, with the same file and the same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minute and a half. It is the only declarative piece that does not go through the model: it is your own code running in the lifecycle. Available events: sessionStart, sessionEnd, userPromptSubmitted, preToolUse, postToolUse, errorOccurred, agentStop and subagentStop, among others. Typical uses: blocking dangerous commands, protecting paths, auditing, running a linter after each edit. There are three scopes: repo, user and company policy. A hook has no API of its own: it is a program that reads JSON on standard input and, if it wants to block, writes JSON on output. It can be Node, bash, PowerShell or Python. The rules are a deny-list: the script splits the command into its parts and looks at, for example, rm with -r and -f, git push with --force and the paths that are about to be written (.github/workflows and LICENSE). At the bottom right is the core of the program. Two design details: if the input cannot be read, the script does not block the session, and every decision is written to an audit log. The important thing is that these rules are enforced even if the model decides to ignore the instructions, but they only cover what the list knows: it is a safety net, not a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Open a new session in the 06-hooks project. 2. Ask for something destructive on a test folder. 3. Show the audit log the hook leaves. Demo 6, two minutes. Checked in the app: the hook blocks the command. The prompt first creates a test folder because docs/_site does not exist in a clean clone and, if the hook failed, only that folder would be deleted. Plan B in the terminal: pass a JSON with toolName bash and the rm -rf command to guard.mjs on stdin and show the deny response. The hook also protects .github/workflows against writes: you can show it if time is left. What to look at in the screenshot: The agent prepares a single shell command that creates the folder and deletes it. The hook denies it before it runs: nothing is created or deleted. The agent tells it as it is: the command was blocked by a safety guard and tmp-demo was neither created nor deleted. On version 1.1.30, after seeing the denial (“Denied by preToolUse hook: Forced recursive delete (rm -rf)”), the agent created the file, deleted it with rm and removed the empty folder with rmdir: the hook stops the command, not the goal. It is the best argument for slide 20: a safety net, not a sandbox. Either result is fine, and in both the audit log records DENY (alternative screenshot: demo6-hook-workaround.png). Fallback for demo 6. Real run: the hook in .github/hooks worked in the app. A detail from testing: the first request, deleting docs/_site, never tested the hook because that folder does not exist in a clean clone and the agent checked before running anything. That is why the demo prompt creates a test folder first. It is also a safe prompt: if the hook failed, only that temporary folder would be deleted.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seconds to breathe. Summary: with six text files the agent knows our rules, has a procedure, a role, a new tool, precise understanding of the code and a limit. All of that is reviewed in a pull request. What comes now runs our own code inside the session, and it is still experimental: the API can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minute and a half. Difference from MCP: an MCP server only publishes tools and knows nothing about the session. An extension lives inside it: it sees the events, can intercept tools, inject context and send messages to the agent. The code does three things that a file hook or an MCP server cannot do together. It registers a tool of its own. It adds an in-process hook: it looks at the prompt before the agent sees it and, if it talks about interfaces, suggests using our tool; nobody has to remember to ask for it. And it listens to events: it counts the tools run and writes a summary in the session when the turn ends. The variable toolCalls lives between calls because the extension is a process that lasts as long as the session. Rules worth saying out loud: only .mjs files, each tool name must be unique among all loaded extensions, and no console.log. Do not call session.send inside onUserPromptSubmitted or you will create a loop. Project in .github/extensions, personal in ~/.copilot/extensions.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Do not read it all: it is the map of what fits in an extension. Point at three rows. Hooks: the same points as file hooks, but in process and with memory. requestedEnvironmentVariables: Copilot removes sensitive variables from the extensions' environment and they must be requested by name, with explicit approval. Workflows: orchestration of subagents, still experimental. Extensions are the Swiss army knife: almost everything before can also be done from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Use the 07-extension project. The code has already been seen: there is no need to open the file. 2. New session: “avalonia-tools loaded” appears. 3. Ask the question. Demo 7, a minute and a half. The extension is a little over a hundred lines. Show that nobody told the agent to use the tool: the onUserPromptSubmitted hook injected the suggestion when it detected the word canvas. Variant if time is left: comment out UseCopilotAvalonia() in Program.cs and repeat; the tool returns the specific problem. After changing an extension you have to start a new session. What to look at in the screenshot: The call appears by name: avalonia_project_info. The answer comes from the tool's result: Avalonia 11.3, net8.0, no problems. A single call. Without the tool it would have read three files to work it out. Fallback for demo 7. Real run: the avalonia-tools extension in .github/extensions loaded by itself when the project was opened and its avalonia_project_info tool was available without installing anything. The tool reads the csproj, Program.cs and the launch profile and returns a summary. In the demo 8 screenshot you can also see the effect of the extension's hook: the agent calls this tool before opening a canvas without anybody asking it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We go back to the hierarchy of step 3, but now the order is not decided by a model reading instructions: the code decides it. It is a Dynamic Workflow, in preview since October 1 in Copilot CLI and in the app, and it lives inside an extension: it is registered with joinSession, workflows and defineWorkflow. ctx.agent launches a subagent and accepts agent, to use one of our agent files with its model, and model, to force another one. On the left, the three phases. The reviewer answers with a schema, so the code knows whether it approved without interpreting text. On the right is HydraFusion's Cascade pattern: only if the reviewer rejects, the same agent repeats the work with a model from a newer generation and the same family, so the reviewer is still from another one. And the limits are declared: at most seven subagents in the worst case. The runtime saves each step, so a run that stops at a limit can be resumed.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Open a new session in the 07b-workflow project with the default agent. 2. Ask for the workflow. If the app asks for permission, approve it. 3. Open Dynamic workflows, above the prompt, and enter the run. Demo 7b, three minutes. In one rehearsal the workflow run took 44 seconds; in the full tests the panel showed Completed 2m (version 1.1.29) and 104 seconds passed until the final summary (version 1.1.30: planner 10 seconds, coder 23, reviewer 56). The chat looks idle after 15 seconds while the workflow carries on in the background: wait for the summary. Launch it and explain the panels while it runs; if you are short of time, show the screenshot. Open the run's panel while it runs: current phase, agents started and active, and AI credits. From there it can be paused and resumed. Outside the app, the same workflow is launched with copilot workflow run plan-code-review and the arguments in JSON, which is how you would put it in a pipeline. Plan B: the screenshot on this slide. What to look at in the screenshot: At the top, the summary: the plan-code-review workflow finished and the reviewer approved without problems, so it never escalated to a more capable model. At the bottom, the Dynamic workflows panel with the run under Recently finished: Completed, 2m. Fallback for demo 7b. The same task as in demo 3b, the Reset button, with the same three agents, but here the order is set by the code and the review returns a JSON with a fixed shape. In an earlier rehearsal the run's panel showed the detail: 11, 20 and 13 seconds per phase, Escalate skipped, 8.01 credits and 3 of the 7 agents allowed by meta.limits (44 seconds in total). That per-phase view is not in this screenshot. The result also warns that node --test tests/*.mjs fails because in step 7b the copilot-avalonia extension is not there: it is a previous problem unrelated to the change. It is not a fair comparison of models; it is a sample of what changes when the flow is controlled by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A canvas is not an interface generator: it is a work surface where the state is visible and both can change it. Examples: a triage board, a plan, a release checklist, a browser session. Technically it is an extension that declares canvases. The quick way to start is /create-canvas: you describe the flow and the actions, and the agent writes the extension. We are going to do it by hand to see what is underneath. The canvas SDK is experimental.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minute and a half. On the left, the contract: open starts the interface and returns its URL, and it can be repeated with the same instanceId, so it has to be idempotent. actions are the agent's verbs: name them as verbs. onClose cleans up: it closes the server and frees whatever you opened. Three identifiers worth keeping apart: canvasId is the type of canvas the extension declares, instanceId is the specific panel somebody opened, and extensionId is derived by Copilot from the origin and the name. The description of the canvas and that of each action are what the agent reads to decide when to use it: they are part of the design. Behind the panel there is no special framework: a Node HTTP server that serves a page. Three security decisions: listen only on 127.0.0.1, a port chosen by the system and a random token in the path, so that without the full URL everything answers 404. On the right, the direction that makes a canvas special: the page does not run the tests, it makes a POST and the extension calls session.send. The interface becomes a way of steering the agent. Rules: action names cannot start with “canvas.” and errors are thrown with CanvasError and a code. The state lives in memory: if you need it to survive the session, keep it in the session's working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Open a new session in the 08-canvas project. 2. Ask for the canvas with three cases. 3. Add a case yourself and mark another by hand. 4. Ask “How is the plan going?”. Demo 8, two minutes. The two directions are what matters. From the agent to the canvas: add_case and set_status. From the person to the agent: your clicks change the state it reads. There is a third: the “Ask Copilot to run it” button calls session.send from the extension, so the interface triggers work by the agent. Do not press it yet: we use it in the next demo. What to look at in the screenshot: Three calls: avalonia_project_info, list_canvas_capabilities and open_canvas. The three cases were created by the agent from the prompt and appear as Pending: the counter at the top says 3 cases, 0 passed, 0 failed, 3 pending. Nothing has been touched by hand yet: change a status and add a case live. At the bottom, the blue Ask Copilot to run it button. Fallback for demo 8. Real run of the ui-test-plan canvas. The first call, avalonia_project_info, was not in the prompt: it was triggered by the previous step's extension hook on seeing the word canvas. It is a good example of pieces that combine. It does not appear live: the 08-canvas folder only has the canvas. The counter at the top updates by itself when you change or add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minute and a half. It is an example, not the subject of the talk: it shows how far a canvas can go when what is behind it is not a list but a complex external process. In the screenshot you see the same as in the previous demo: on the left the “Invoke canvas action” calls, on the right the panel with the interface. It is open source and fits in a 600-line extension.mjs plus a .NET host. On the right of the slide, the architecture: the extension does not contain the logic, it is a thin adapter. Everything hard lives in a separate process with its own API, and that is a good design decision for two reasons. First, the canvas SDK is experimental: if it changes, only the adapter has to be rewritten. Second, the same API serves scripts and tests without Copilot. The path of a single action from end to end is four hops: the agent asks for fill_control on NameBox, the extension makes a POST to /api/input/fill_control, the host writes into the real TextBox and filled.valueMatches: true comes back, a result that can be verified. Swap the Avalonia app for an emulator, a browser, a device or a dashboard and the pattern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seconds. The same two functions as the minimal canvas, in production form. On the left, open: instead of starting a server of its own, it launches the app with an environment variable and waits for it to print its URL. Before accepting it, it checks that it points to loopback. On the right, a pattern worth copying: a function that builds actions. Every action that modifies something goes through leasedAction, which requires having control and queues them so they run in order. That way the safety rule lives in a single place and does not depend on each action remembering to check it. Notice that the description says it too: the agent reads it before getting it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New session in the 09-real-canvas project, with the default agent. Open the plan with the demo 8 prompt and then launch the prompt. 2. Point at the lease banner and press Take back control. 3. In the test plan, press “Ask Copilot to run it” (tested on version 1.1.30: the agent takes about 46 seconds and marks the three cases as Passed). Demo 9, three minutes: on version 1.1.30 the first prompt took 34 seconds (on 1.1.29, a minute and a half) and running the plan 46. It is the only demo with two canvases at once: the demo 8 test plan and the app. The third step joins them: the plan's interface asks the agent to run the cases against the app and it marks each one. Have the app built beforehand so that it starts fast. Plan B: start the app in canvas mode from the terminal and open the URL it prints in the browser. Plan C: the GIFs in the repo's images folder. What to look at in the screenshot: The purple banner: Agent has control, with its reason and the Take back control button. The app appears in the panel with the greeting already painted. In the chat, the agent asked for the name with a card, because the prompt says “my name” and it does not know it: answer it. If you want to avoid the question, put the name in the prompt (“enter the name Javier”). Fallback for demo 9. The agent opens the canvas, asks for the name, fills NameBox, presses GreetButton and reads the greeting from GreetingText: Hello, Javier Suárez!. The test plan tab stays open next to it: they are two canvases in the same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Fallback for the end of demo 9, and the screenshot that best sums up the block. The third message of the session, “Run the test plan in canvas…”, was not typed by anybody: it was sent by the extension with session.send when the blue “Ask Copilot to run it” button was pressed (tested on version 1.1.30: the agent took 46 seconds). The agent read the plan with get_plan, used the other canvas to press the counter, switch the theme to dark and take a screenshot, and recorded the result of each case with set_status. The notes are concrete evidence: the text went from Clicked 0 times to Clicked 1 time and the screenshot showed dark backgrounds with light text. Two canvases from two different extensions collaborating without knowing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These are general lessons, not Avalonia ones. Shared control: in copilot-avalonia it is a 120-second lease by default that pauses manual input, and revoking it needs no permission, so the agent can never lock you out. Verify: fill_control returns whether the final value matches, and if an action fails the ones waiting behind it are skipped. Limit: 64 KiB JSON, 80 MiB screenshots. Data: the canvas description tells the agent that the app's content is not instructions. Two practical warnings: a new session after every change to the extension, and test in the app, because the CLI 1.0.80 prompt mode does not expose the canvas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Everything we have done lives in a repo and only serves whoever works in it. A plugin takes it out of there: you install it once and have it in all your projects, or you hand it to other teams. A marketplace is simply a repo with a marketplace.json that lists plugins. In copilot-avalonia the same repo is the plugin and its marketplace, and its plugin.json uses the extensions key to distribute the extension with the canvas. To try the kit's one locally, do not install from the folder (that form is deprecated): add the repo as a marketplace with copilot plugin marketplace add . and install with copilot plugin install avalonia-kit@devdays-sevilla. The plugin is loaded live from the folder, with nothing copied.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In a terminal, from the kit's folder: copilot plugin marketplace add . and then copilot plugin install avalonia-kit@devdays-sevilla. 2. In the app, a new session in a project with no skills or agents (the 00-baseline project): “Use the /avalonia-automation-ids skill to review src/SampleApp.” 3. Then, for the agent: “Use the avalonia-ui-tester agent to design the test plan for SampleApp's main screen, in English.” Demo 10, three minutes: on version 1.1.30 the skill took 37 seconds (it includes a build) and the agent another 37. The installer says Installed 1 skill because it only counts skills: the agent is also loaded, with the name avalonia-kit:avalonia-ui-tester, and the app runs it as a subagent. When you finish, reset: copilot plugin uninstall avalonia-kit and copilot plugin marketplace remove devdays-sevilla. Requirement for the audience: the jsuarezruiz/copilot-avalonia repo and the kit's repo have to be public on GitHub for anybody to add them as a marketplace. What to look at in the screenshot: Loaded skill avalonia-automation-ids although the repo has no skill: it arrived with the plugin, which is loaded live from the kit's folder. The same table of five MenuItems from demo 2 comes out. Fallback for demo 10: the images/demo10-plugin-agent.png screenshot shows the plugin's agent working as a subagent (about 30 seconds). An installed plugin is valid for all projects, not only for the repo where you tried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and it is the narrative close of the talk. We go back to the optional prompt of demo 0, the Clear button one. At the beginning the agent edited the code and little else. Now, with the pieces loaded, it follows the repo's rules and also verifies the result in the real app, without anybody explaining it in the prompt: it typed Ada, got Hello, Ada!, pressed Clear and checked that both controls ended up empty. No single piece does this on its own. Together, they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no demo. Automations: they are in the app's sidebar; they are sessions that launch themselves on a schedule and use the same customizations of the repo. Copilot SDK: it is the same package the extensions use, but from the outside: your program starts and drives the agent. There are SDKs for Node, Python, Go, Rust and .NET. Policies: in a company, what a team can install is decided by an administrator, and that conditions everything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It is the slide for the photo. Rule of use: start at the top and go down only when the previous row falls short. Most teams solve eighty percent with the first three rows. Combinations count too: a skill that uses an MCP tool, an agent with a server of its own, a canvas distributed in a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seconds. It is not meant to scare, it is meant to be used with judgement. The extensions in .github/extensions are code that runs with your permissions when you open the project. Hooks also run commands. A third-party skill or plugin can bring hidden instructions. The good thing is that everything is text in a repo: it is reviewed in a pull request, it is versioned and it can be audited. In a company, administrators can limit what gets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twenty seconds and five minutes of questions. Final message: you do not need to write a canvas to get the most out of extensibility. The biggest return is in the first steps. Frequently asked questions to have ready: difference between MCP and extensions, whether this also works in VS Code and in the CLI, how much context the instructions use, and what is stable and what is experimental (extensions and canvas are experimental).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10141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EEF0F4"/>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9550"/>
            <a:ext cx="10566400" cy="4165650"/>
          </a:xfrm>
          <a:prstGeom prst="rect">
            <a:avLst/>
          </a:prstGeom>
          <a:noFill/>
          <a:ln/>
        </p:spPr>
        <p:txBody>
          <a:bodyPr wrap="square" lIns="0" tIns="0" rIns="0" bIns="0" rtlCol="0" anchor="t"/>
          <a:lstStyle>
            <a:lvl1pPr algn="l" indent="0" marL="0">
              <a:lnSpc>
                <a:spcPct val="140000"/>
              </a:lnSpc>
              <a:buNone/>
              <a:defRPr lang="en-US" sz="1600" dirty="0">
                <a:solidFill>
                  <a:srgbClr val="EEF0F4"/>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0141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EEF0F4"/>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9550"/>
            <a:ext cx="10566400" cy="4165650"/>
          </a:xfrm>
          <a:prstGeom prst="rect">
            <a:avLst/>
          </a:prstGeom>
          <a:noFill/>
          <a:ln/>
        </p:spPr>
        <p:txBody>
          <a:bodyPr wrap="square" lIns="0" tIns="0" rIns="0" bIns="0" rtlCol="0" anchor="t"/>
          <a:lstStyle>
            <a:lvl1pPr algn="l" indent="0" marL="0">
              <a:lnSpc>
                <a:spcPct val="140000"/>
              </a:lnSpc>
              <a:buNone/>
              <a:defRPr lang="en-US" sz="1600" dirty="0">
                <a:solidFill>
                  <a:srgbClr val="EEF0F4"/>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e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41F"/>
        </a:solidFill>
      </p:bgPr>
    </p:bg>
    <p:spTree>
      <p:nvGrpSpPr>
        <p:cNvPr id="1" name=""/>
        <p:cNvGrpSpPr/>
        <p:nvPr/>
      </p:nvGrpSpPr>
      <p:grpSpPr>
        <a:xfrm>
          <a:off x="0" y="0"/>
          <a:ext cx="0" cy="0"/>
          <a:chOff x="0" y="0"/>
          <a:chExt cx="0" cy="0"/>
        </a:xfrm>
      </p:grpSpPr>
      <p:pic>
        <p:nvPicPr>
          <p:cNvPr id="2" name="Image 0" descr="Logotipo de GitHub Copilot">    </p:cNvPr>
          <p:cNvPicPr>
            <a:picLocks noChangeAspect="1"/>
          </p:cNvPicPr>
          <p:nvPr/>
        </p:nvPicPr>
        <p:blipFill>
          <a:blip r:embed="rId1"/>
          <a:srcRect l="0" r="0" t="-55" b="-55"/>
          <a:stretch/>
        </p:blipFill>
        <p:spPr>
          <a:xfrm>
            <a:off x="7315200" y="5518150"/>
            <a:ext cx="4064000" cy="527050"/>
          </a:xfrm>
          <a:prstGeom prst="rect">
            <a:avLst/>
          </a:prstGeom>
        </p:spPr>
      </p:pic>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TALK · 45 MINUTES</a:t>
            </a:r>
            <a:endParaRPr lang="en-US" sz="1200" dirty="0"/>
          </a:p>
        </p:txBody>
      </p:sp>
      <p:sp>
        <p:nvSpPr>
          <p:cNvPr id="4" name="Text 1"/>
          <p:cNvSpPr/>
          <p:nvPr>
            <p:ph type="title"/>
          </p:nvPr>
        </p:nvSpPr>
        <p:spPr>
          <a:xfrm>
            <a:off x="812800" y="1959670"/>
            <a:ext cx="10883392" cy="1518841"/>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EEF0F4"/>
                </a:solidFill>
                <a:latin typeface="Space Grotesk" pitchFamily="34" charset="0"/>
                <a:ea typeface="Space Grotesk" pitchFamily="34" charset="-122"/>
                <a:cs typeface="Space Grotesk" pitchFamily="34" charset="-120"/>
              </a:rPr>
              <a:t>Extending the</a:t>
            </a:r>
            <a:endParaRPr lang="en-US" sz="5600" dirty="0"/>
          </a:p>
          <a:p>
            <a:pPr algn="l" indent="0" marL="0">
              <a:lnSpc>
                <a:spcPts val="5880"/>
              </a:lnSpc>
              <a:buNone/>
            </a:pPr>
            <a:r>
              <a:rPr lang="en-US" sz="5600" b="1" i="0" dirty="0">
                <a:solidFill>
                  <a:srgbClr val="EEF0F4"/>
                </a:solidFill>
                <a:latin typeface="Space Grotesk" pitchFamily="34" charset="0"/>
                <a:ea typeface="Space Grotesk" pitchFamily="34" charset="-122"/>
                <a:cs typeface="Space Grotesk" pitchFamily="34" charset="-120"/>
              </a:rPr>
              <a:t>GitHub Copilot App</a:t>
            </a:r>
            <a:endParaRPr lang="en-US" sz="5600" dirty="0"/>
          </a:p>
        </p:txBody>
      </p:sp>
      <p:sp>
        <p:nvSpPr>
          <p:cNvPr id="5" name="Text 2"/>
          <p:cNvSpPr/>
          <p:nvPr/>
        </p:nvSpPr>
        <p:spPr>
          <a:xfrm>
            <a:off x="812800" y="3656310"/>
            <a:ext cx="6802120"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A9B4C6"/>
                </a:solidFill>
                <a:latin typeface="IBM Plex Sans" pitchFamily="34" charset="0"/>
                <a:ea typeface="IBM Plex Sans" pitchFamily="34" charset="-122"/>
                <a:cs typeface="IBM Plex Sans" pitchFamily="34" charset="-120"/>
              </a:rPr>
              <a:t>Every extension point, from instructions to plugins, with a demo of each.</a:t>
            </a:r>
            <a:endParaRPr lang="en-US" sz="2000" dirty="0"/>
          </a:p>
        </p:txBody>
      </p:sp>
      <p:sp>
        <p:nvSpPr>
          <p:cNvPr id="6" name="Text 3"/>
          <p:cNvSpPr/>
          <p:nvPr/>
        </p:nvSpPr>
        <p:spPr>
          <a:xfrm>
            <a:off x="812800" y="5250259"/>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Javier Suárez Ruiz</a:t>
            </a:r>
            <a:endParaRPr lang="en-US" sz="1500" dirty="0"/>
          </a:p>
        </p:txBody>
      </p:sp>
      <p:sp>
        <p:nvSpPr>
          <p:cNvPr id="7" name="Text 4"/>
          <p:cNvSpPr/>
          <p:nvPr/>
        </p:nvSpPr>
        <p:spPr>
          <a:xfrm>
            <a:off x="812800" y="556775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GitHub Copilot DevDays Sevilla · SevillaDotNet</a:t>
            </a:r>
            <a:endParaRPr lang="en-US" sz="1200" dirty="0"/>
          </a:p>
        </p:txBody>
      </p:sp>
      <p:sp>
        <p:nvSpPr>
          <p:cNvPr id="8" name="Text 5"/>
          <p:cNvSpPr/>
          <p:nvPr/>
        </p:nvSpPr>
        <p:spPr>
          <a:xfrm>
            <a:off x="812800" y="58318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Wednesday, October 28, 2026 · espacio_RES, Seville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ABOUT ME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Javier Suárez Ruiz</a:t>
            </a:r>
            <a:endParaRPr lang="en-US" sz="3200" dirty="0"/>
          </a:p>
        </p:txBody>
      </p:sp>
      <p:pic>
        <p:nvPicPr>
          <p:cNvPr id="4" name="Image 0" descr="Foto de Javier Suárez Ruiz">    </p:cNvPr>
          <p:cNvPicPr>
            <a:picLocks noChangeAspect="1"/>
          </p:cNvPicPr>
          <p:nvPr/>
        </p:nvPicPr>
        <p:blipFill>
          <a:blip r:embed="rId1"/>
          <a:srcRect l="0" r="0" t="0" b="0"/>
          <a:stretch/>
        </p:blipFill>
        <p:spPr>
          <a:xfrm>
            <a:off x="838200" y="1904950"/>
            <a:ext cx="3251200" cy="3251200"/>
          </a:xfrm>
          <a:prstGeom prst="roundRect">
            <a:avLst>
              <a:gd name="adj" fmla="val 49219"/>
            </a:avLst>
          </a:prstGeom>
        </p:spPr>
      </p:pic>
      <p:sp>
        <p:nvSpPr>
          <p:cNvPr id="5" name="Shape 2"/>
          <p:cNvSpPr/>
          <p:nvPr/>
        </p:nvSpPr>
        <p:spPr>
          <a:xfrm>
            <a:off x="825500" y="1892250"/>
            <a:ext cx="3276600" cy="3276600"/>
          </a:xfrm>
          <a:prstGeom prst="roundRect">
            <a:avLst>
              <a:gd name="adj" fmla="val 49225"/>
            </a:avLst>
          </a:prstGeom>
          <a:noFill/>
          <a:ln w="25400">
            <a:solidFill>
              <a:srgbClr val="2B3550"/>
            </a:solidFill>
            <a:prstDash val="solid"/>
          </a:ln>
        </p:spPr>
        <p:txBody>
          <a:bodyPr/>
          <a:p/>
        </p:txBody>
      </p:sp>
      <p:sp>
        <p:nvSpPr>
          <p:cNvPr id="6" name="Text 3"/>
          <p:cNvSpPr/>
          <p:nvPr/>
        </p:nvSpPr>
        <p:spPr>
          <a:xfrm>
            <a:off x="4622800" y="2604740"/>
            <a:ext cx="695909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9D8CFF"/>
                </a:solidFill>
                <a:latin typeface="Space Grotesk" pitchFamily="34" charset="0"/>
                <a:ea typeface="Space Grotesk" pitchFamily="34" charset="-122"/>
                <a:cs typeface="Space Grotesk" pitchFamily="34" charset="-120"/>
              </a:rPr>
              <a:t>Developer at Avalonia UI</a:t>
            </a:r>
            <a:endParaRPr lang="en-US" sz="2000" dirty="0"/>
          </a:p>
        </p:txBody>
      </p:sp>
      <p:sp>
        <p:nvSpPr>
          <p:cNvPr id="7" name="Text 4"/>
          <p:cNvSpPr/>
          <p:nvPr/>
        </p:nvSpPr>
        <p:spPr>
          <a:xfrm>
            <a:off x="4622800" y="3087340"/>
            <a:ext cx="69590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I work on the Avalonia framework and the products built on it.</a:t>
            </a:r>
            <a:endParaRPr lang="en-US" sz="1500" dirty="0"/>
          </a:p>
        </p:txBody>
      </p:sp>
      <p:sp>
        <p:nvSpPr>
          <p:cNvPr id="8" name="Text 5"/>
          <p:cNvSpPr/>
          <p:nvPr/>
        </p:nvSpPr>
        <p:spPr>
          <a:xfrm>
            <a:off x="4622800" y="3531840"/>
            <a:ext cx="69590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C#, .NET and cross-platform UI, with a special interest in developer tools.</a:t>
            </a:r>
            <a:endParaRPr lang="en-US" sz="1500" dirty="0"/>
          </a:p>
        </p:txBody>
      </p:sp>
      <p:sp>
        <p:nvSpPr>
          <p:cNvPr id="9" name="Text 6"/>
          <p:cNvSpPr/>
          <p:nvPr/>
        </p:nvSpPr>
        <p:spPr>
          <a:xfrm>
            <a:off x="4622800" y="4243040"/>
            <a:ext cx="69590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github.com/jsuarezruiz</a:t>
            </a:r>
            <a:endParaRPr lang="en-US" sz="1200" dirty="0"/>
          </a:p>
        </p:txBody>
      </p:sp>
      <p:sp>
        <p:nvSpPr>
          <p:cNvPr id="10" name="Text 7"/>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1" name="Text 8"/>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WHY EXTEND</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A generic agent doesn't know your project</a:t>
            </a:r>
            <a:endParaRPr lang="en-US" sz="3200" dirty="0"/>
          </a:p>
        </p:txBody>
      </p:sp>
      <p:sp>
        <p:nvSpPr>
          <p:cNvPr id="4" name="Shape 2"/>
          <p:cNvSpPr/>
          <p:nvPr/>
        </p:nvSpPr>
        <p:spPr>
          <a:xfrm>
            <a:off x="815975" y="1882725"/>
            <a:ext cx="3380284" cy="2035770"/>
          </a:xfrm>
          <a:prstGeom prst="roundRect">
            <a:avLst>
              <a:gd name="adj" fmla="val 4835"/>
            </a:avLst>
          </a:prstGeom>
          <a:solidFill>
            <a:srgbClr val="1A2133"/>
          </a:solidFill>
          <a:ln w="6350">
            <a:solidFill>
              <a:srgbClr val="2B3550"/>
            </a:solidFill>
            <a:prstDash val="solid"/>
          </a:ln>
        </p:spPr>
        <p:txBody>
          <a:bodyPr/>
          <a:p/>
        </p:txBody>
      </p:sp>
      <p:sp>
        <p:nvSpPr>
          <p:cNvPr id="5" name="Text 3"/>
          <p:cNvSpPr/>
          <p:nvPr/>
        </p:nvSpPr>
        <p:spPr>
          <a:xfrm>
            <a:off x="1073150" y="2139900"/>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What it knows</a:t>
            </a:r>
            <a:endParaRPr lang="en-US" sz="2000" dirty="0"/>
          </a:p>
        </p:txBody>
      </p:sp>
      <p:sp>
        <p:nvSpPr>
          <p:cNvPr id="6" name="Text 4"/>
          <p:cNvSpPr/>
          <p:nvPr/>
        </p:nvSpPr>
        <p:spPr>
          <a:xfrm>
            <a:off x="1073150" y="2546300"/>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Your team's rules, procedures and roles are not in any model.</a:t>
            </a:r>
            <a:endParaRPr lang="en-US" sz="1500" dirty="0"/>
          </a:p>
        </p:txBody>
      </p:sp>
      <p:sp>
        <p:nvSpPr>
          <p:cNvPr id="7" name="Text 5"/>
          <p:cNvSpPr/>
          <p:nvPr/>
        </p:nvSpPr>
        <p:spPr>
          <a:xfrm>
            <a:off x="1073150" y="3448000"/>
            <a:ext cx="29519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8CFF"/>
                </a:solidFill>
                <a:latin typeface="IBM Plex Sans" pitchFamily="34" charset="0"/>
                <a:ea typeface="IBM Plex Sans" pitchFamily="34" charset="-122"/>
                <a:cs typeface="IBM Plex Sans" pitchFamily="34" charset="-120"/>
              </a:rPr>
              <a:t>Instructions, skills, agents</a:t>
            </a:r>
            <a:endParaRPr lang="en-US" sz="1200" dirty="0"/>
          </a:p>
        </p:txBody>
      </p:sp>
      <p:sp>
        <p:nvSpPr>
          <p:cNvPr id="8" name="Shape 6"/>
          <p:cNvSpPr/>
          <p:nvPr/>
        </p:nvSpPr>
        <p:spPr>
          <a:xfrm>
            <a:off x="4405809" y="1882725"/>
            <a:ext cx="3380333" cy="2035770"/>
          </a:xfrm>
          <a:prstGeom prst="roundRect">
            <a:avLst>
              <a:gd name="adj" fmla="val 4835"/>
            </a:avLst>
          </a:prstGeom>
          <a:solidFill>
            <a:srgbClr val="1A2133"/>
          </a:solidFill>
          <a:ln w="6350">
            <a:solidFill>
              <a:srgbClr val="2B3550"/>
            </a:solidFill>
            <a:prstDash val="solid"/>
          </a:ln>
        </p:spPr>
        <p:txBody>
          <a:bodyPr/>
          <a:p/>
        </p:txBody>
      </p:sp>
      <p:sp>
        <p:nvSpPr>
          <p:cNvPr id="9" name="Text 7"/>
          <p:cNvSpPr/>
          <p:nvPr/>
        </p:nvSpPr>
        <p:spPr>
          <a:xfrm>
            <a:off x="4662984" y="2139900"/>
            <a:ext cx="29519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What it can do</a:t>
            </a:r>
            <a:endParaRPr lang="en-US" sz="2000" dirty="0"/>
          </a:p>
        </p:txBody>
      </p:sp>
      <p:sp>
        <p:nvSpPr>
          <p:cNvPr id="10" name="Text 8"/>
          <p:cNvSpPr/>
          <p:nvPr/>
        </p:nvSpPr>
        <p:spPr>
          <a:xfrm>
            <a:off x="4662984" y="2546300"/>
            <a:ext cx="2951963"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Your services, data and tools live outside the repo and the chat.</a:t>
            </a:r>
            <a:endParaRPr lang="en-US" sz="1500" dirty="0"/>
          </a:p>
        </p:txBody>
      </p:sp>
      <p:sp>
        <p:nvSpPr>
          <p:cNvPr id="11" name="Text 9"/>
          <p:cNvSpPr/>
          <p:nvPr/>
        </p:nvSpPr>
        <p:spPr>
          <a:xfrm>
            <a:off x="4662984" y="3448000"/>
            <a:ext cx="2951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8CFF"/>
                </a:solidFill>
                <a:latin typeface="IBM Plex Sans" pitchFamily="34" charset="0"/>
                <a:ea typeface="IBM Plex Sans" pitchFamily="34" charset="-122"/>
                <a:cs typeface="IBM Plex Sans" pitchFamily="34" charset="-120"/>
              </a:rPr>
              <a:t>MCP and LSP servers, extensions</a:t>
            </a:r>
            <a:endParaRPr lang="en-US" sz="1200" dirty="0"/>
          </a:p>
        </p:txBody>
      </p:sp>
      <p:sp>
        <p:nvSpPr>
          <p:cNvPr id="12" name="Shape 10"/>
          <p:cNvSpPr/>
          <p:nvPr/>
        </p:nvSpPr>
        <p:spPr>
          <a:xfrm>
            <a:off x="7995692" y="1882725"/>
            <a:ext cx="3380333" cy="2035770"/>
          </a:xfrm>
          <a:prstGeom prst="roundRect">
            <a:avLst>
              <a:gd name="adj" fmla="val 4835"/>
            </a:avLst>
          </a:prstGeom>
          <a:solidFill>
            <a:srgbClr val="1A2133"/>
          </a:solidFill>
          <a:ln w="6350">
            <a:solidFill>
              <a:srgbClr val="2B3550"/>
            </a:solidFill>
            <a:prstDash val="solid"/>
          </a:ln>
        </p:spPr>
        <p:txBody>
          <a:bodyPr/>
          <a:p/>
        </p:txBody>
      </p:sp>
      <p:sp>
        <p:nvSpPr>
          <p:cNvPr id="13" name="Text 11"/>
          <p:cNvSpPr/>
          <p:nvPr/>
        </p:nvSpPr>
        <p:spPr>
          <a:xfrm>
            <a:off x="8252867" y="2139900"/>
            <a:ext cx="29519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How you control it</a:t>
            </a:r>
            <a:endParaRPr lang="en-US" sz="2000" dirty="0"/>
          </a:p>
        </p:txBody>
      </p:sp>
      <p:sp>
        <p:nvSpPr>
          <p:cNvPr id="14" name="Text 12"/>
          <p:cNvSpPr/>
          <p:nvPr/>
        </p:nvSpPr>
        <p:spPr>
          <a:xfrm>
            <a:off x="8252867" y="2546300"/>
            <a:ext cx="2951963"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Limits that don't depend on the model, and interfaces to work alongside it.</a:t>
            </a:r>
            <a:endParaRPr lang="en-US" sz="1500" dirty="0"/>
          </a:p>
        </p:txBody>
      </p:sp>
      <p:sp>
        <p:nvSpPr>
          <p:cNvPr id="15" name="Text 13"/>
          <p:cNvSpPr/>
          <p:nvPr/>
        </p:nvSpPr>
        <p:spPr>
          <a:xfrm>
            <a:off x="8252867" y="3448000"/>
            <a:ext cx="2951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8CFF"/>
                </a:solidFill>
                <a:latin typeface="IBM Plex Sans" pitchFamily="34" charset="0"/>
                <a:ea typeface="IBM Plex Sans" pitchFamily="34" charset="-122"/>
                <a:cs typeface="IBM Plex Sans" pitchFamily="34" charset="-120"/>
              </a:rPr>
              <a:t>Hooks, canvas, plugins</a:t>
            </a:r>
            <a:endParaRPr lang="en-US" sz="1200" dirty="0"/>
          </a:p>
        </p:txBody>
      </p:sp>
      <p:sp>
        <p:nvSpPr>
          <p:cNvPr id="16" name="Text 14"/>
          <p:cNvSpPr/>
          <p:nvPr/>
        </p:nvSpPr>
        <p:spPr>
          <a:xfrm>
            <a:off x="812800" y="4226471"/>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Each extension point fills one of these gaps. We go from the cheapest to the most powerful.</a:t>
            </a:r>
            <a:endParaRPr lang="en-US" sz="1500" dirty="0"/>
          </a:p>
        </p:txBody>
      </p:sp>
      <p:sp>
        <p:nvSpPr>
          <p:cNvPr id="17" name="Text 15"/>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8" name="Text 16"/>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THE ROUTE AND THE MAP</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Nine extension points, each with its demo</a:t>
            </a:r>
            <a:endParaRPr lang="en-US" sz="3200" dirty="0"/>
          </a:p>
        </p:txBody>
      </p:sp>
      <p:sp>
        <p:nvSpPr>
          <p:cNvPr id="4" name="Shape 2"/>
          <p:cNvSpPr/>
          <p:nvPr/>
        </p:nvSpPr>
        <p:spPr>
          <a:xfrm>
            <a:off x="11376025" y="1777950"/>
            <a:ext cx="0" cy="3345855"/>
          </a:xfrm>
          <a:prstGeom prst="line">
            <a:avLst/>
          </a:prstGeom>
          <a:noFill/>
          <a:ln w="6350">
            <a:solidFill>
              <a:srgbClr val="2B3550"/>
            </a:solidFill>
            <a:prstDash val="solid"/>
          </a:ln>
        </p:spPr>
        <p:txBody>
          <a:bodyPr/>
          <a:p/>
        </p:txBody>
      </p:sp>
      <p:sp>
        <p:nvSpPr>
          <p:cNvPr id="5" name="Shape 3"/>
          <p:cNvSpPr/>
          <p:nvPr/>
        </p:nvSpPr>
        <p:spPr>
          <a:xfrm>
            <a:off x="812800" y="5120630"/>
            <a:ext cx="10566400" cy="0"/>
          </a:xfrm>
          <a:prstGeom prst="line">
            <a:avLst/>
          </a:prstGeom>
          <a:noFill/>
          <a:ln w="6350">
            <a:solidFill>
              <a:srgbClr val="2B3550"/>
            </a:solidFill>
            <a:prstDash val="solid"/>
          </a:ln>
        </p:spPr>
        <p:txBody>
          <a:bodyPr/>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47350" cy="3326805"/>
        </p:xfrm>
        <a:graphic>
          <a:graphicData uri="http://schemas.openxmlformats.org/drawingml/2006/table">
            <a:tbl>
              <a:tblPr/>
              <a:tblGrid>
                <a:gridCol w="527368"/>
                <a:gridCol w="1687576"/>
                <a:gridCol w="2847785"/>
                <a:gridCol w="3902519"/>
                <a:gridCol w="1582102"/>
              </a:tblGrid>
              <a:tr h="332680">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Piece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What it adds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Where it lives in the repo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Format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Instructions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Rules that always apply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.github/copilot-instructions.md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Markdown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Skills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On-demand procedures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.github/skills/&lt;name&gt;/SKILL.md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Markdown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Agents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Roles with tools and a model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.github/agents/&lt;name&gt;.agent.md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Markdown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MCP servers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External data and actions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.mcp.json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JSON and a process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LSP servers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Precise code understanding</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.github/lsp.json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JSON and a process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6</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Hooks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Deterministic guardrails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.github/hooks/*.json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JSON and a command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7</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Extensions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Code and workflows in the session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.github/extensions/&lt;name&gt;/extension.mjs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JavaScript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8</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Canvas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shared interface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Inside an extension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JavaScript and web</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9</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Plugins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Everything packaged and shareable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plugin.json and marketplace.json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bl>
          </a:graphicData>
        </a:graphic>
      </p:graphicFrame>
      <p:sp>
        <p:nvSpPr>
          <p:cNvPr id="7" name="Text 4"/>
          <p:cNvSpPr/>
          <p:nvPr/>
        </p:nvSpPr>
        <p:spPr>
          <a:xfrm>
            <a:off x="812800" y="5327005"/>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1 to 6 are declared with files. 7 and 8 are programmed with the SDK. 9 distributes it all.</a:t>
            </a:r>
            <a:endParaRPr lang="en-US" sz="1500" dirty="0"/>
          </a:p>
        </p:txBody>
      </p:sp>
      <p:sp>
        <p:nvSpPr>
          <p:cNvPr id="8" name="Text 5"/>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9" name="Text 6"/>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THE LANDSCAPE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What the GitHub Copilot app is</a:t>
            </a:r>
            <a:endParaRPr lang="en-US" sz="3200" dirty="0"/>
          </a:p>
        </p:txBody>
      </p:sp>
      <p:sp>
        <p:nvSpPr>
          <p:cNvPr id="4" name="Text 2"/>
          <p:cNvSpPr/>
          <p:nvPr/>
        </p:nvSpPr>
        <p:spPr>
          <a:xfrm>
            <a:off x="812800" y="1828750"/>
            <a:ext cx="4813808"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Desktop and native, from GitHub.</a:t>
            </a:r>
            <a:r>
              <a:rPr lang="en-US" sz="1500" dirty="0">
                <a:solidFill>
                  <a:srgbClr val="EEF0F4"/>
                </a:solidFill>
                <a:latin typeface="IBM Plex Sans" pitchFamily="34" charset="0"/>
                <a:ea typeface="IBM Plex Sans" pitchFamily="34" charset="-122"/>
                <a:cs typeface="IBM Plex Sans" pitchFamily="34" charset="-120"/>
              </a:rPr>
              <a:t> </a:t>
            </a:r>
            <a:r>
              <a:rPr lang="en-US" sz="1500" dirty="0">
                <a:solidFill>
                  <a:srgbClr val="A9B4C6"/>
                </a:solidFill>
                <a:latin typeface="IBM Plex Sans" pitchFamily="34" charset="0"/>
                <a:ea typeface="IBM Plex Sans" pitchFamily="34" charset="-122"/>
                <a:cs typeface="IBM Plex Sans" pitchFamily="34" charset="-120"/>
              </a:rPr>
              <a:t>macOS, Windows and Linux, available since June 17, 2026.</a:t>
            </a:r>
            <a:endParaRPr lang="en-US" sz="1500" dirty="0"/>
          </a:p>
        </p:txBody>
      </p:sp>
      <p:sp>
        <p:nvSpPr>
          <p:cNvPr id="5" name="Text 3"/>
          <p:cNvSpPr/>
          <p:nvPr/>
        </p:nvSpPr>
        <p:spPr>
          <a:xfrm>
            <a:off x="812800" y="2514550"/>
            <a:ext cx="4813808"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Parallel sessions.</a:t>
            </a:r>
            <a:r>
              <a:rPr lang="en-US" sz="1500" dirty="0">
                <a:solidFill>
                  <a:srgbClr val="EEF0F4"/>
                </a:solidFill>
                <a:latin typeface="IBM Plex Sans" pitchFamily="34" charset="0"/>
                <a:ea typeface="IBM Plex Sans" pitchFamily="34" charset="-122"/>
                <a:cs typeface="IBM Plex Sans" pitchFamily="34" charset="-120"/>
              </a:rPr>
              <a:t> </a:t>
            </a:r>
            <a:r>
              <a:rPr lang="en-US" sz="1500" dirty="0">
                <a:solidFill>
                  <a:srgbClr val="A9B4C6"/>
                </a:solidFill>
                <a:latin typeface="IBM Plex Sans" pitchFamily="34" charset="0"/>
                <a:ea typeface="IBM Plex Sans" pitchFamily="34" charset="-122"/>
                <a:cs typeface="IBM Plex Sans" pitchFamily="34" charset="-120"/>
              </a:rPr>
              <a:t>Each one starts from an issue, a pull request or a prompt, on its own branch and worktree.</a:t>
            </a:r>
            <a:endParaRPr lang="en-US" sz="1500" dirty="0"/>
          </a:p>
        </p:txBody>
      </p:sp>
      <p:sp>
        <p:nvSpPr>
          <p:cNvPr id="6" name="Text 4"/>
          <p:cNvSpPr/>
          <p:nvPr/>
        </p:nvSpPr>
        <p:spPr>
          <a:xfrm>
            <a:off x="812800" y="3200350"/>
            <a:ext cx="49784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Everything in view.</a:t>
            </a:r>
            <a:r>
              <a:rPr lang="en-US" sz="1500" dirty="0">
                <a:solidFill>
                  <a:srgbClr val="EEF0F4"/>
                </a:solidFill>
                <a:latin typeface="IBM Plex Sans" pitchFamily="34" charset="0"/>
                <a:ea typeface="IBM Plex Sans" pitchFamily="34" charset="-122"/>
                <a:cs typeface="IBM Plex Sans" pitchFamily="34" charset="-120"/>
              </a:rPr>
              <a:t> </a:t>
            </a:r>
            <a:r>
              <a:rPr lang="en-US" sz="1500" dirty="0">
                <a:solidFill>
                  <a:srgbClr val="A9B4C6"/>
                </a:solidFill>
                <a:latin typeface="IBM Plex Sans" pitchFamily="34" charset="0"/>
                <a:ea typeface="IBM Plex Sans" pitchFamily="34" charset="-122"/>
                <a:cs typeface="IBM Plex Sans" pitchFamily="34" charset="-120"/>
              </a:rPr>
              <a:t>Diffs, terminal and browser built in.</a:t>
            </a:r>
            <a:endParaRPr lang="en-US" sz="1500" dirty="0"/>
          </a:p>
        </p:txBody>
      </p:sp>
      <p:sp>
        <p:nvSpPr>
          <p:cNvPr id="7" name="Text 5"/>
          <p:cNvSpPr/>
          <p:nvPr/>
        </p:nvSpPr>
        <p:spPr>
          <a:xfrm>
            <a:off x="812800" y="3619450"/>
            <a:ext cx="4813808"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9D8CFF"/>
                </a:solidFill>
                <a:latin typeface="IBM Plex Sans" pitchFamily="34" charset="0"/>
                <a:ea typeface="IBM Plex Sans" pitchFamily="34" charset="-122"/>
                <a:cs typeface="IBM Plex Sans" pitchFamily="34" charset="-120"/>
              </a:rPr>
              <a:t>Same foundation as Copilot CLI.</a:t>
            </a:r>
            <a:r>
              <a:rPr lang="en-US" sz="1500" dirty="0">
                <a:solidFill>
                  <a:srgbClr val="EEF0F4"/>
                </a:solidFill>
                <a:latin typeface="IBM Plex Sans" pitchFamily="34" charset="0"/>
                <a:ea typeface="IBM Plex Sans" pitchFamily="34" charset="-122"/>
                <a:cs typeface="IBM Plex Sans" pitchFamily="34" charset="-120"/>
              </a:rPr>
              <a:t> </a:t>
            </a:r>
            <a:r>
              <a:rPr lang="en-US" sz="1500" dirty="0">
                <a:solidFill>
                  <a:srgbClr val="A9B4C6"/>
                </a:solidFill>
                <a:latin typeface="IBM Plex Sans" pitchFamily="34" charset="0"/>
                <a:ea typeface="IBM Plex Sans" pitchFamily="34" charset="-122"/>
                <a:cs typeface="IBM Plex Sans" pitchFamily="34" charset="-120"/>
              </a:rPr>
              <a:t>Skills, MCP servers and repo extensions load the same way in both.</a:t>
            </a:r>
            <a:endParaRPr lang="en-US" sz="1500" dirty="0"/>
          </a:p>
        </p:txBody>
      </p:sp>
      <p:pic>
        <p:nvPicPr>
          <p:cNvPr id="8" name="Image 0" descr="La página Customize de la GitHub Copilot app, con pestañas MCP, Plugins, Skills, Extensions, Canvas e Installed y un catálogo de elementos destacados">    </p:cNvPr>
          <p:cNvPicPr>
            <a:picLocks noChangeAspect="1"/>
          </p:cNvPicPr>
          <p:nvPr/>
        </p:nvPicPr>
        <p:blipFill>
          <a:blip r:embed="rId1"/>
          <a:srcRect l="0" r="0" t="-7" b="-7"/>
          <a:stretch/>
        </p:blipFill>
        <p:spPr>
          <a:xfrm>
            <a:off x="5797550" y="1835100"/>
            <a:ext cx="5575300" cy="3352800"/>
          </a:xfrm>
          <a:prstGeom prst="roundRect">
            <a:avLst>
              <a:gd name="adj" fmla="val 2083"/>
            </a:avLst>
          </a:prstGeom>
        </p:spPr>
      </p:pic>
      <p:sp>
        <p:nvSpPr>
          <p:cNvPr id="9" name="Shape 6"/>
          <p:cNvSpPr/>
          <p:nvPr/>
        </p:nvSpPr>
        <p:spPr>
          <a:xfrm>
            <a:off x="5794375" y="1831925"/>
            <a:ext cx="5581650" cy="3359150"/>
          </a:xfrm>
          <a:prstGeom prst="roundRect">
            <a:avLst>
              <a:gd name="adj" fmla="val 2174"/>
            </a:avLst>
          </a:prstGeom>
          <a:noFill/>
          <a:ln w="6350">
            <a:solidFill>
              <a:srgbClr val="2B3550"/>
            </a:solidFill>
            <a:prstDash val="solid"/>
          </a:ln>
        </p:spPr>
        <p:txBody>
          <a:bodyPr/>
          <a:p/>
        </p:txBody>
      </p:sp>
      <p:sp>
        <p:nvSpPr>
          <p:cNvPr id="10" name="Text 7"/>
          <p:cNvSpPr/>
          <p:nvPr/>
        </p:nvSpPr>
        <p:spPr>
          <a:xfrm>
            <a:off x="5791200" y="5270450"/>
            <a:ext cx="575564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Real capture · Customize has a tab per piece. What you add here is yours; what goes in the repo belongs to the team.</a:t>
            </a:r>
            <a:endParaRPr lang="en-US" sz="1200" dirty="0"/>
          </a:p>
        </p:txBody>
      </p:sp>
      <p:sp>
        <p:nvSpPr>
          <p:cNvPr id="11" name="Text 8"/>
          <p:cNvSpPr/>
          <p:nvPr/>
        </p:nvSpPr>
        <p:spPr>
          <a:xfrm>
            <a:off x="812800" y="6238280"/>
            <a:ext cx="514296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Source: GitHub Changelog, June 17, 2026, and GitHub Docs</a:t>
            </a:r>
            <a:endParaRPr lang="en-US" sz="1200" dirty="0"/>
          </a:p>
        </p:txBody>
      </p:sp>
      <p:sp>
        <p:nvSpPr>
          <p:cNvPr id="12" name="Text 9"/>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0</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starting point, uncustomized</a:t>
            </a:r>
            <a:endParaRPr lang="en-US" sz="3200" dirty="0"/>
          </a:p>
        </p:txBody>
      </p:sp>
      <p:sp>
        <p:nvSpPr>
          <p:cNvPr id="4" name="Text 2"/>
          <p:cNvSpPr/>
          <p:nvPr/>
        </p:nvSpPr>
        <p:spPr>
          <a:xfrm>
            <a:off x="855712" y="1981150"/>
            <a:ext cx="4288017" cy="2363391"/>
          </a:xfrm>
          <a:prstGeom prst="rect">
            <a:avLst/>
          </a:prstGeom>
          <a:noFill/>
          <a:ln/>
        </p:spPr>
        <p:txBody>
          <a:bodyPr wrap="square" lIns="0" tIns="0" rIns="0" bIns="0" rtlCol="0" anchor="t">
            <a:normAutofit/>
          </a:bodyPr>
          <a:lstStyle/>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The copilot-avalonia repo as is, in a new session.</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Ask the question and read what it says.</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Optional: the Clear button prompt that closes the talk.</a:t>
            </a:r>
            <a:endParaRPr lang="en-US" sz="1500" dirty="0"/>
          </a:p>
        </p:txBody>
      </p:sp>
      <p:sp>
        <p:nvSpPr>
          <p:cNvPr id="5" name="Shape 3"/>
          <p:cNvSpPr/>
          <p:nvPr/>
        </p:nvSpPr>
        <p:spPr>
          <a:xfrm>
            <a:off x="5329783" y="1981150"/>
            <a:ext cx="6049417" cy="2337991"/>
          </a:xfrm>
          <a:prstGeom prst="roundRect">
            <a:avLst>
              <a:gd name="adj" fmla="val 4346"/>
            </a:avLst>
          </a:prstGeom>
          <a:solidFill>
            <a:srgbClr val="161A26"/>
          </a:solidFill>
          <a:ln/>
        </p:spPr>
        <p:txBody>
          <a:bodyPr/>
          <a:p/>
        </p:txBody>
      </p:sp>
      <p:sp>
        <p:nvSpPr>
          <p:cNvPr id="6" name="Text 4"/>
          <p:cNvSpPr/>
          <p:nvPr/>
        </p:nvSpPr>
        <p:spPr>
          <a:xfrm>
            <a:off x="5583783" y="2235150"/>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7" name="Text 5"/>
          <p:cNvSpPr/>
          <p:nvPr/>
        </p:nvSpPr>
        <p:spPr>
          <a:xfrm>
            <a:off x="5583783" y="2550071"/>
            <a:ext cx="5707659" cy="685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What rules should I follow when I change the UI in this repo? Answer in at most five short bullets. If the repo states no rules, say so.</a:t>
            </a:r>
            <a:endParaRPr lang="en-US" sz="1200" dirty="0"/>
          </a:p>
        </p:txBody>
      </p:sp>
      <p:pic>
        <p:nvPicPr>
          <p:cNvPr id="8" name="Image 0" descr="line">    </p:cNvPr>
          <p:cNvPicPr>
            <a:picLocks noChangeAspect="1"/>
          </p:cNvPicPr>
          <p:nvPr/>
        </p:nvPicPr>
        <p:blipFill>
          <a:blip r:embed="rId1"/>
          <a:srcRect l="0" r="0" t="-16" b="-16"/>
          <a:stretch/>
        </p:blipFill>
        <p:spPr>
          <a:xfrm>
            <a:off x="5583783" y="3337471"/>
            <a:ext cx="5541417" cy="6350"/>
          </a:xfrm>
          <a:prstGeom prst="rect">
            <a:avLst/>
          </a:prstGeom>
        </p:spPr>
      </p:pic>
      <p:sp>
        <p:nvSpPr>
          <p:cNvPr id="9" name="Text 6"/>
          <p:cNvSpPr/>
          <p:nvPr/>
        </p:nvSpPr>
        <p:spPr>
          <a:xfrm>
            <a:off x="5583783" y="3445421"/>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10" name="Text 7"/>
          <p:cNvSpPr/>
          <p:nvPr/>
        </p:nvSpPr>
        <p:spPr>
          <a:xfrm>
            <a:off x="5583783" y="3760341"/>
            <a:ext cx="570765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It says there are no UI-specific rules and offers generic advice from the folder layout.</a:t>
            </a:r>
            <a:endParaRPr lang="en-US" sz="1500" dirty="0"/>
          </a:p>
        </p:txBody>
      </p:sp>
      <p:sp>
        <p:nvSpPr>
          <p:cNvPr id="11" name="Text 8"/>
          <p:cNvSpPr/>
          <p:nvPr/>
        </p:nvSpPr>
        <p:spPr>
          <a:xfrm>
            <a:off x="812800" y="462394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00-baseline</a:t>
            </a:r>
            <a:endParaRPr lang="en-US" sz="1200" dirty="0"/>
          </a:p>
        </p:txBody>
      </p:sp>
      <p:sp>
        <p:nvSpPr>
          <p:cNvPr id="12" name="Text 9"/>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0"/>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1 · INSTRUCTIONS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Rules the agent always reads</a:t>
            </a:r>
            <a:endParaRPr lang="en-US" sz="3200" dirty="0"/>
          </a:p>
        </p:txBody>
      </p:sp>
      <p:sp>
        <p:nvSpPr>
          <p:cNvPr id="4" name="Text 2"/>
          <p:cNvSpPr/>
          <p:nvPr/>
        </p:nvSpPr>
        <p:spPr>
          <a:xfrm>
            <a:off x="812800" y="1879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Markdown loaded at the start of every session. No special syntax: what you'd tell someone new on the team.</a:t>
            </a:r>
            <a:endParaRPr lang="en-US" sz="1500" dirty="0"/>
          </a:p>
        </p:txBody>
      </p:sp>
      <p:sp>
        <p:nvSpPr>
          <p:cNvPr id="5" name="Text 3"/>
          <p:cNvSpPr/>
          <p:nvPr/>
        </p:nvSpPr>
        <p:spPr>
          <a:xfrm>
            <a:off x="812800" y="28320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Three scopes: the whole repo, a specific path with applyTo, and your user in ~/.copilot/.</a:t>
            </a:r>
            <a:endParaRPr lang="en-US" sz="1500" dirty="0"/>
          </a:p>
        </p:txBody>
      </p:sp>
      <p:sp>
        <p:nvSpPr>
          <p:cNvPr id="6" name="Text 4"/>
          <p:cNvSpPr/>
          <p:nvPr/>
        </p:nvSpPr>
        <p:spPr>
          <a:xfrm>
            <a:off x="812800" y="35178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Use them for what always applies. What you only need sometimes is a skill.</a:t>
            </a:r>
            <a:endParaRPr lang="en-US" sz="1500" dirty="0"/>
          </a:p>
        </p:txBody>
      </p:sp>
      <p:sp>
        <p:nvSpPr>
          <p:cNvPr id="7" name="Shape 5"/>
          <p:cNvSpPr/>
          <p:nvPr/>
        </p:nvSpPr>
        <p:spPr>
          <a:xfrm>
            <a:off x="5221833" y="1882725"/>
            <a:ext cx="6154192" cy="3658791"/>
          </a:xfrm>
          <a:prstGeom prst="roundRect">
            <a:avLst>
              <a:gd name="adj" fmla="val 2690"/>
            </a:avLst>
          </a:prstGeom>
          <a:solidFill>
            <a:srgbClr val="1A2133"/>
          </a:solidFill>
          <a:ln w="6350">
            <a:solidFill>
              <a:srgbClr val="2B3550"/>
            </a:solidFill>
            <a:prstDash val="solid"/>
          </a:ln>
        </p:spPr>
        <p:txBody>
          <a:bodyPr/>
          <a:p/>
        </p:txBody>
      </p:sp>
      <p:sp>
        <p:nvSpPr>
          <p:cNvPr id="8" name="Text 6"/>
          <p:cNvSpPr/>
          <p:nvPr/>
        </p:nvSpPr>
        <p:spPr>
          <a:xfrm>
            <a:off x="5428208" y="20891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.github/copilot-instructions.md</a:t>
            </a:r>
            <a:endParaRPr lang="en-US" sz="1200" dirty="0"/>
          </a:p>
        </p:txBody>
      </p:sp>
      <p:sp>
        <p:nvSpPr>
          <p:cNvPr id="9" name="Text 7"/>
          <p:cNvSpPr/>
          <p:nvPr/>
        </p:nvSpPr>
        <p:spPr>
          <a:xfrm>
            <a:off x="5428208" y="2404021"/>
            <a:ext cx="5913685" cy="1625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 UI conventions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Every interactive control has Name and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AutomationProperties.AutomationId.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PascalCase, ending with the control type:</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GreetButton, NameBox, PriorityCombo.</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Build before you finish:</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dotnet build src/SampleApp/SampleApp.csproj</a:t>
            </a:r>
            <a:endParaRPr lang="en-US" sz="1200" dirty="0"/>
          </a:p>
        </p:txBody>
      </p:sp>
      <p:sp>
        <p:nvSpPr>
          <p:cNvPr id="10" name="Text 8"/>
          <p:cNvSpPr/>
          <p:nvPr/>
        </p:nvSpPr>
        <p:spPr>
          <a:xfrm>
            <a:off x="5428208" y="4105821"/>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.github/instructions/axaml.instructions.md</a:t>
            </a:r>
            <a:endParaRPr lang="en-US" sz="1200" dirty="0"/>
          </a:p>
        </p:txBody>
      </p:sp>
      <p:sp>
        <p:nvSpPr>
          <p:cNvPr id="11" name="Text 9"/>
          <p:cNvSpPr/>
          <p:nvPr/>
        </p:nvSpPr>
        <p:spPr>
          <a:xfrm>
            <a:off x="5428208" y="4420741"/>
            <a:ext cx="5913685"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applyTo: </a:t>
            </a:r>
            <a:r>
              <a:rPr lang="en-US" sz="1200" dirty="0">
                <a:solidFill>
                  <a:srgbClr val="F2B84B"/>
                </a:solidFill>
                <a:latin typeface="JetBrains Mono" pitchFamily="49" charset="0"/>
                <a:ea typeface="JetBrains Mono" pitchFamily="49" charset="-122"/>
                <a:cs typeface="JetBrains Mono" pitchFamily="49" charset="-120"/>
              </a:rPr>
              <a:t>"**/*.axaml"</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Use compiled bindings and declare x:DataType.</a:t>
            </a:r>
            <a:endParaRPr lang="en-US" sz="1200" dirty="0"/>
          </a:p>
        </p:txBody>
      </p:sp>
      <p:sp>
        <p:nvSpPr>
          <p:cNvPr id="12"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1"/>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1</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same prompt, now with rules</a:t>
            </a:r>
            <a:endParaRPr lang="en-US" sz="3200" dirty="0"/>
          </a:p>
        </p:txBody>
      </p:sp>
      <p:sp>
        <p:nvSpPr>
          <p:cNvPr id="4" name="Text 2"/>
          <p:cNvSpPr/>
          <p:nvPr/>
        </p:nvSpPr>
        <p:spPr>
          <a:xfrm>
            <a:off x="855712" y="1981150"/>
            <a:ext cx="4288017" cy="2363391"/>
          </a:xfrm>
          <a:prstGeom prst="rect">
            <a:avLst/>
          </a:prstGeom>
          <a:noFill/>
          <a:ln/>
        </p:spPr>
        <p:txBody>
          <a:bodyPr wrap="square" lIns="0" tIns="0" rIns="0" bIns="0" rtlCol="0" anchor="t">
            <a:normAutofit/>
          </a:bodyPr>
          <a:lstStyle/>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Open the 01-instructions project in a new session.</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Show the two files: reading two lines is enough.</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Repeat the previous demo's prompt.</a:t>
            </a:r>
            <a:endParaRPr lang="en-US" sz="1500" dirty="0"/>
          </a:p>
        </p:txBody>
      </p:sp>
      <p:sp>
        <p:nvSpPr>
          <p:cNvPr id="5" name="Shape 3"/>
          <p:cNvSpPr/>
          <p:nvPr/>
        </p:nvSpPr>
        <p:spPr>
          <a:xfrm>
            <a:off x="5329783" y="1981150"/>
            <a:ext cx="6049417" cy="2337991"/>
          </a:xfrm>
          <a:prstGeom prst="roundRect">
            <a:avLst>
              <a:gd name="adj" fmla="val 4346"/>
            </a:avLst>
          </a:prstGeom>
          <a:solidFill>
            <a:srgbClr val="161A26"/>
          </a:solidFill>
          <a:ln/>
        </p:spPr>
        <p:txBody>
          <a:bodyPr/>
          <a:p/>
        </p:txBody>
      </p:sp>
      <p:sp>
        <p:nvSpPr>
          <p:cNvPr id="6" name="Text 4"/>
          <p:cNvSpPr/>
          <p:nvPr/>
        </p:nvSpPr>
        <p:spPr>
          <a:xfrm>
            <a:off x="5583783" y="2235150"/>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7" name="Text 5"/>
          <p:cNvSpPr/>
          <p:nvPr/>
        </p:nvSpPr>
        <p:spPr>
          <a:xfrm>
            <a:off x="5583783" y="2550071"/>
            <a:ext cx="5707659" cy="685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What rules should I follow when I change the UI in this repo? Answer in at most five short bullets. If the repo states no rules, say so.</a:t>
            </a:r>
            <a:endParaRPr lang="en-US" sz="1200" dirty="0"/>
          </a:p>
        </p:txBody>
      </p:sp>
      <p:pic>
        <p:nvPicPr>
          <p:cNvPr id="8" name="Image 0" descr="line">    </p:cNvPr>
          <p:cNvPicPr>
            <a:picLocks noChangeAspect="1"/>
          </p:cNvPicPr>
          <p:nvPr/>
        </p:nvPicPr>
        <p:blipFill>
          <a:blip r:embed="rId1"/>
          <a:srcRect l="0" r="0" t="-16" b="-16"/>
          <a:stretch/>
        </p:blipFill>
        <p:spPr>
          <a:xfrm>
            <a:off x="5583783" y="3337471"/>
            <a:ext cx="5541417" cy="6350"/>
          </a:xfrm>
          <a:prstGeom prst="rect">
            <a:avLst/>
          </a:prstGeom>
        </p:spPr>
      </p:pic>
      <p:sp>
        <p:nvSpPr>
          <p:cNvPr id="9" name="Text 6"/>
          <p:cNvSpPr/>
          <p:nvPr/>
        </p:nvSpPr>
        <p:spPr>
          <a:xfrm>
            <a:off x="5583783" y="3445421"/>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10" name="Text 7"/>
          <p:cNvSpPr/>
          <p:nvPr/>
        </p:nvSpPr>
        <p:spPr>
          <a:xfrm>
            <a:off x="5583783" y="3760341"/>
            <a:ext cx="570765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It lists our rules: PascalCase ids ending with the control type, never change an id, English text, the build command.</a:t>
            </a:r>
            <a:endParaRPr lang="en-US" sz="1500" dirty="0"/>
          </a:p>
        </p:txBody>
      </p:sp>
      <p:sp>
        <p:nvSpPr>
          <p:cNvPr id="11" name="Text 8"/>
          <p:cNvSpPr/>
          <p:nvPr/>
        </p:nvSpPr>
        <p:spPr>
          <a:xfrm>
            <a:off x="812800" y="462394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01-instructions</a:t>
            </a:r>
            <a:endParaRPr lang="en-US" sz="1200" dirty="0"/>
          </a:p>
        </p:txBody>
      </p:sp>
      <p:sp>
        <p:nvSpPr>
          <p:cNvPr id="12" name="Text 9"/>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0"/>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2 · SKILLS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Procedures loaded on demand</a:t>
            </a:r>
            <a:endParaRPr lang="en-US" sz="3200" dirty="0"/>
          </a:p>
        </p:txBody>
      </p:sp>
      <p:sp>
        <p:nvSpPr>
          <p:cNvPr id="4" name="Text 2"/>
          <p:cNvSpPr/>
          <p:nvPr/>
        </p:nvSpPr>
        <p:spPr>
          <a:xfrm>
            <a:off x="812800" y="1879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 folder with a SKILL.md. The agent only sees the name and description until the task fits.</a:t>
            </a:r>
            <a:endParaRPr lang="en-US" sz="1500" dirty="0"/>
          </a:p>
        </p:txBody>
      </p:sp>
      <p:sp>
        <p:nvSpPr>
          <p:cNvPr id="5" name="Text 3"/>
          <p:cNvSpPr/>
          <p:nvPr/>
        </p:nvSpPr>
        <p:spPr>
          <a:xfrm>
            <a:off x="812800" y="28320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Then it loads the full procedure, with any scripts and files that come with it.</a:t>
            </a:r>
            <a:endParaRPr lang="en-US" sz="1500" dirty="0"/>
          </a:p>
        </p:txBody>
      </p:sp>
      <p:sp>
        <p:nvSpPr>
          <p:cNvPr id="6" name="Text 4"/>
          <p:cNvSpPr/>
          <p:nvPr/>
        </p:nvSpPr>
        <p:spPr>
          <a:xfrm>
            <a:off x="812800" y="35178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It activates on its own from the description, or by hand with /name. To list them: /skills list.</a:t>
            </a:r>
            <a:endParaRPr lang="en-US" sz="1500" dirty="0"/>
          </a:p>
        </p:txBody>
      </p:sp>
      <p:sp>
        <p:nvSpPr>
          <p:cNvPr id="7" name="Shape 5"/>
          <p:cNvSpPr/>
          <p:nvPr/>
        </p:nvSpPr>
        <p:spPr>
          <a:xfrm>
            <a:off x="5221833" y="1882725"/>
            <a:ext cx="6154192" cy="3242270"/>
          </a:xfrm>
          <a:prstGeom prst="roundRect">
            <a:avLst>
              <a:gd name="adj" fmla="val 3036"/>
            </a:avLst>
          </a:prstGeom>
          <a:solidFill>
            <a:srgbClr val="1A2133"/>
          </a:solidFill>
          <a:ln w="6350">
            <a:solidFill>
              <a:srgbClr val="2B3550"/>
            </a:solidFill>
            <a:prstDash val="solid"/>
          </a:ln>
        </p:spPr>
        <p:txBody>
          <a:bodyPr/>
          <a:p/>
        </p:txBody>
      </p:sp>
      <p:sp>
        <p:nvSpPr>
          <p:cNvPr id="8" name="Text 6"/>
          <p:cNvSpPr/>
          <p:nvPr/>
        </p:nvSpPr>
        <p:spPr>
          <a:xfrm>
            <a:off x="5428208" y="20891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.github/skills/avalonia-automation-ids/SKILL.md</a:t>
            </a:r>
            <a:endParaRPr lang="en-US" sz="1200" dirty="0"/>
          </a:p>
        </p:txBody>
      </p:sp>
      <p:sp>
        <p:nvSpPr>
          <p:cNvPr id="9" name="Text 7"/>
          <p:cNvSpPr/>
          <p:nvPr/>
        </p:nvSpPr>
        <p:spPr>
          <a:xfrm>
            <a:off x="5428208" y="2404021"/>
            <a:ext cx="591368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name: </a:t>
            </a:r>
            <a:r>
              <a:rPr lang="en-US" sz="1200" dirty="0">
                <a:solidFill>
                  <a:srgbClr val="F2B84B"/>
                </a:solidFill>
                <a:latin typeface="JetBrains Mono" pitchFamily="49" charset="0"/>
                <a:ea typeface="JetBrains Mono" pitchFamily="49" charset="-122"/>
                <a:cs typeface="JetBrains Mono" pitchFamily="49" charset="-120"/>
              </a:rPr>
              <a:t>avalonia-automation-ids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description: </a:t>
            </a:r>
            <a:r>
              <a:rPr lang="en-US" sz="1200" dirty="0">
                <a:solidFill>
                  <a:srgbClr val="F2B84B"/>
                </a:solidFill>
                <a:latin typeface="JetBrains Mono" pitchFamily="49" charset="0"/>
                <a:ea typeface="JetBrains Mono" pitchFamily="49" charset="-122"/>
                <a:cs typeface="JetBrains Mono" pitchFamily="49" charset="-120"/>
              </a:rPr>
              <a:t>Audits and fixes the AutomationIds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in the AXAML views. Use it when preparing a</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screen for UI tests.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1. Find the *.axaml files, skipping bin and obj.</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2. Inventory the interactive controls.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3. Table: file, line, type, proposed id.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4. Ask for confirmation before editing.</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5. Verify: build and check nothing is missing.</a:t>
            </a:r>
            <a:endParaRPr lang="en-US" sz="1200" dirty="0"/>
          </a:p>
        </p:txBody>
      </p:sp>
      <p:sp>
        <p:nvSpPr>
          <p:cNvPr id="10" name="Text 8"/>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1" name="Text 9"/>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2</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Audit the AutomationIds with a skill</a:t>
            </a:r>
            <a:endParaRPr lang="en-US" sz="3200" dirty="0"/>
          </a:p>
        </p:txBody>
      </p:sp>
      <p:sp>
        <p:nvSpPr>
          <p:cNvPr id="4" name="Shape 2"/>
          <p:cNvSpPr/>
          <p:nvPr/>
        </p:nvSpPr>
        <p:spPr>
          <a:xfrm>
            <a:off x="812800" y="1879550"/>
            <a:ext cx="4546600" cy="2444552"/>
          </a:xfrm>
          <a:prstGeom prst="roundRect">
            <a:avLst>
              <a:gd name="adj" fmla="val 4156"/>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Use the /avalonia-automation-ids skill to review src/SampleApp.</a:t>
            </a:r>
            <a:endParaRPr lang="en-US" sz="1200" dirty="0"/>
          </a:p>
        </p:txBody>
      </p:sp>
      <p:pic>
        <p:nvPicPr>
          <p:cNvPr id="7" name="Image 0" descr="line">    </p:cNvPr>
          <p:cNvPicPr>
            <a:picLocks noChangeAspect="1"/>
          </p:cNvPicPr>
          <p:nvPr/>
        </p:nvPicPr>
        <p:blipFill>
          <a:blip r:embed="rId1"/>
          <a:srcRect l="0" r="0" t="0" b="0"/>
          <a:stretch/>
        </p:blipFill>
        <p:spPr>
          <a:xfrm>
            <a:off x="1066800" y="3007271"/>
            <a:ext cx="4038600" cy="6350"/>
          </a:xfrm>
          <a:prstGeom prst="rect">
            <a:avLst/>
          </a:prstGeom>
        </p:spPr>
      </p:pic>
      <p:sp>
        <p:nvSpPr>
          <p:cNvPr id="8" name="Text 5"/>
          <p:cNvSpPr/>
          <p:nvPr/>
        </p:nvSpPr>
        <p:spPr>
          <a:xfrm>
            <a:off x="1066800" y="31152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4301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table with the five MenuItems that have no identifier (File, Exit, View, Light theme and Dark theme) and a proposed name for each.</a:t>
            </a:r>
            <a:endParaRPr lang="en-US" sz="1200" dirty="0"/>
          </a:p>
        </p:txBody>
      </p:sp>
      <p:sp>
        <p:nvSpPr>
          <p:cNvPr id="10" name="Text 7"/>
          <p:cNvSpPr/>
          <p:nvPr/>
        </p:nvSpPr>
        <p:spPr>
          <a:xfrm>
            <a:off x="812800" y="447650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02-skill</a:t>
            </a:r>
            <a:endParaRPr lang="en-US" sz="1200" dirty="0"/>
          </a:p>
        </p:txBody>
      </p:sp>
      <p:pic>
        <p:nvPicPr>
          <p:cNvPr id="11" name="Image 1" descr="GitHub Copilot app: the skill asks which of five menu items without an AutomationId to fix">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the skill loads and proposes five identifiers</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3 · CUSTOM AGENTS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A role with scoped tools</a:t>
            </a:r>
            <a:endParaRPr lang="en-US" sz="3200" dirty="0"/>
          </a:p>
        </p:txBody>
      </p:sp>
      <p:sp>
        <p:nvSpPr>
          <p:cNvPr id="4" name="Text 2"/>
          <p:cNvSpPr/>
          <p:nvPr/>
        </p:nvSpPr>
        <p:spPr>
          <a:xfrm>
            <a:off x="812800" y="1879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An .agent.md file defines a specialist: what it knows, how it works and which tools it can touch.</a:t>
            </a:r>
            <a:endParaRPr lang="en-US" sz="1500" dirty="0"/>
          </a:p>
        </p:txBody>
      </p:sp>
      <p:sp>
        <p:nvSpPr>
          <p:cNvPr id="5" name="Text 3"/>
          <p:cNvSpPr/>
          <p:nvPr/>
        </p:nvSpPr>
        <p:spPr>
          <a:xfrm>
            <a:off x="812800" y="28320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 tools list is the real limit. With read and search, this tester can't edit or run anything.</a:t>
            </a:r>
            <a:endParaRPr lang="en-US" sz="1500" dirty="0"/>
          </a:p>
        </p:txBody>
      </p:sp>
      <p:sp>
        <p:nvSpPr>
          <p:cNvPr id="6" name="Text 4"/>
          <p:cNvSpPr/>
          <p:nvPr/>
        </p:nvSpPr>
        <p:spPr>
          <a:xfrm>
            <a:off x="812800" y="35178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Pick it with /agent or the selector. Omit tools and it gets them all.</a:t>
            </a:r>
            <a:endParaRPr lang="en-US" sz="1500" dirty="0"/>
          </a:p>
        </p:txBody>
      </p:sp>
      <p:sp>
        <p:nvSpPr>
          <p:cNvPr id="7" name="Shape 5"/>
          <p:cNvSpPr/>
          <p:nvPr/>
        </p:nvSpPr>
        <p:spPr>
          <a:xfrm>
            <a:off x="5221833" y="1882725"/>
            <a:ext cx="6154192" cy="3699470"/>
          </a:xfrm>
          <a:prstGeom prst="roundRect">
            <a:avLst>
              <a:gd name="adj" fmla="val 2661"/>
            </a:avLst>
          </a:prstGeom>
          <a:solidFill>
            <a:srgbClr val="1A2133"/>
          </a:solidFill>
          <a:ln w="6350">
            <a:solidFill>
              <a:srgbClr val="2B3550"/>
            </a:solidFill>
            <a:prstDash val="solid"/>
          </a:ln>
        </p:spPr>
        <p:txBody>
          <a:bodyPr/>
          <a:p/>
        </p:txBody>
      </p:sp>
      <p:sp>
        <p:nvSpPr>
          <p:cNvPr id="8" name="Text 6"/>
          <p:cNvSpPr/>
          <p:nvPr/>
        </p:nvSpPr>
        <p:spPr>
          <a:xfrm>
            <a:off x="5428208" y="20891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.github/agents/avalonia-ui-tester.agent.md</a:t>
            </a:r>
            <a:endParaRPr lang="en-US" sz="1200" dirty="0"/>
          </a:p>
        </p:txBody>
      </p:sp>
      <p:sp>
        <p:nvSpPr>
          <p:cNvPr id="9" name="Text 7"/>
          <p:cNvSpPr/>
          <p:nvPr/>
        </p:nvSpPr>
        <p:spPr>
          <a:xfrm>
            <a:off x="5428208" y="2404021"/>
            <a:ext cx="5913685" cy="2997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name: </a:t>
            </a:r>
            <a:r>
              <a:rPr lang="en-US" sz="1200" dirty="0">
                <a:solidFill>
                  <a:srgbClr val="F2B84B"/>
                </a:solidFill>
                <a:latin typeface="JetBrains Mono" pitchFamily="49" charset="0"/>
                <a:ea typeface="JetBrains Mono" pitchFamily="49" charset="-122"/>
                <a:cs typeface="JetBrains Mono" pitchFamily="49" charset="-120"/>
              </a:rPr>
              <a:t>avalonia-ui-tester</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description: </a:t>
            </a:r>
            <a:r>
              <a:rPr lang="en-US" sz="1200" dirty="0">
                <a:solidFill>
                  <a:srgbClr val="F2B84B"/>
                </a:solidFill>
                <a:latin typeface="JetBrains Mono" pitchFamily="49" charset="0"/>
                <a:ea typeface="JetBrains Mono" pitchFamily="49" charset="-122"/>
                <a:cs typeface="JetBrains Mono" pitchFamily="49" charset="-120"/>
              </a:rPr>
              <a:t>Specialist in testing Avalonia UIs.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Designs UI test plans and reviews screens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without changing production code.</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tools: </a:t>
            </a:r>
            <a:r>
              <a:rPr lang="en-US" sz="1200" dirty="0">
                <a:solidFill>
                  <a:srgbClr val="9D8CFF"/>
                </a:solidFill>
                <a:latin typeface="JetBrains Mono" pitchFamily="49" charset="0"/>
                <a:ea typeface="JetBrains Mono" pitchFamily="49" charset="-122"/>
                <a:cs typeface="JetBrains Mono" pitchFamily="49" charset="-120"/>
              </a:rPr>
              <a:t>["read", "search"]</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You are a tester of desktop UIs built with Avalonia.</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Identify each control by its AutomationId.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Each case: setup, steps and expected result.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If an id is missing, flag it as a blocker.</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Don't assume results: say what would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have to run to verify it.</a:t>
            </a:r>
            <a:endParaRPr lang="en-US" sz="1200" dirty="0"/>
          </a:p>
        </p:txBody>
      </p:sp>
      <p:sp>
        <p:nvSpPr>
          <p:cNvPr id="10" name="Text 8"/>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1" name="Text 9"/>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3</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A tester that can't touch the code</a:t>
            </a:r>
            <a:endParaRPr lang="en-US" sz="3200" dirty="0"/>
          </a:p>
        </p:txBody>
      </p:sp>
      <p:sp>
        <p:nvSpPr>
          <p:cNvPr id="4" name="Shape 2"/>
          <p:cNvSpPr/>
          <p:nvPr/>
        </p:nvSpPr>
        <p:spPr>
          <a:xfrm>
            <a:off x="812800" y="1879550"/>
            <a:ext cx="4546600" cy="2444552"/>
          </a:xfrm>
          <a:prstGeom prst="roundRect">
            <a:avLst>
              <a:gd name="adj" fmla="val 4156"/>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Design the test plan for SampleApp's main screen, in English.</a:t>
            </a:r>
            <a:endParaRPr lang="en-US" sz="1200" dirty="0"/>
          </a:p>
        </p:txBody>
      </p:sp>
      <p:pic>
        <p:nvPicPr>
          <p:cNvPr id="7" name="Image 0" descr="line">    </p:cNvPr>
          <p:cNvPicPr>
            <a:picLocks noChangeAspect="1"/>
          </p:cNvPicPr>
          <p:nvPr/>
        </p:nvPicPr>
        <p:blipFill>
          <a:blip r:embed="rId1"/>
          <a:srcRect l="0" r="0" t="0" b="0"/>
          <a:stretch/>
        </p:blipFill>
        <p:spPr>
          <a:xfrm>
            <a:off x="1066800" y="3007271"/>
            <a:ext cx="4038600" cy="6350"/>
          </a:xfrm>
          <a:prstGeom prst="rect">
            <a:avLst/>
          </a:prstGeom>
        </p:spPr>
      </p:pic>
      <p:sp>
        <p:nvSpPr>
          <p:cNvPr id="8" name="Text 5"/>
          <p:cNvSpPr/>
          <p:nvPr/>
        </p:nvSpPr>
        <p:spPr>
          <a:xfrm>
            <a:off x="1066800" y="31152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4301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table of cases that names each control by its AutomationId. Asked to change code, it can't: it only has read and search.</a:t>
            </a:r>
            <a:endParaRPr lang="en-US" sz="1200" dirty="0"/>
          </a:p>
        </p:txBody>
      </p:sp>
      <p:sp>
        <p:nvSpPr>
          <p:cNvPr id="10" name="Text 7"/>
          <p:cNvSpPr/>
          <p:nvPr/>
        </p:nvSpPr>
        <p:spPr>
          <a:xfrm>
            <a:off x="812800" y="447650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03-agent</a:t>
            </a:r>
            <a:endParaRPr lang="en-US" sz="1200" dirty="0"/>
          </a:p>
        </p:txBody>
      </p:sp>
      <p:pic>
        <p:nvPicPr>
          <p:cNvPr id="11" name="Image 1" descr="GitHub Copilot app: the avalonia-ui-tester agent's test plan, with the agent chip under the prompt">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the plan names each control by its AutomationId</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3 · AGENTS · ONE MODEL PER ROLE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HydraFusion: several models, one answer</a:t>
            </a:r>
            <a:endParaRPr lang="en-US" sz="3200" dirty="0"/>
          </a:p>
        </p:txBody>
      </p:sp>
      <p:sp>
        <p:nvSpPr>
          <p:cNvPr id="4" name="Shape 2"/>
          <p:cNvSpPr/>
          <p:nvPr/>
        </p:nvSpPr>
        <p:spPr>
          <a:xfrm>
            <a:off x="815975" y="1831925"/>
            <a:ext cx="3380284" cy="1593850"/>
          </a:xfrm>
          <a:prstGeom prst="roundRect">
            <a:avLst>
              <a:gd name="adj" fmla="val 6175"/>
            </a:avLst>
          </a:prstGeom>
          <a:solidFill>
            <a:srgbClr val="1A2133"/>
          </a:solidFill>
          <a:ln w="6350">
            <a:solidFill>
              <a:srgbClr val="2B3550"/>
            </a:solidFill>
            <a:prstDash val="solid"/>
          </a:ln>
        </p:spPr>
        <p:txBody>
          <a:bodyPr/>
          <a:p/>
        </p:txBody>
      </p:sp>
      <p:sp>
        <p:nvSpPr>
          <p:cNvPr id="5" name="Text 3"/>
          <p:cNvSpPr/>
          <p:nvPr/>
        </p:nvSpPr>
        <p:spPr>
          <a:xfrm>
            <a:off x="1022350" y="2038300"/>
            <a:ext cx="305656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Single</a:t>
            </a:r>
            <a:endParaRPr lang="en-US" sz="2000" dirty="0"/>
          </a:p>
        </p:txBody>
      </p:sp>
      <p:sp>
        <p:nvSpPr>
          <p:cNvPr id="6" name="Text 4"/>
          <p:cNvSpPr/>
          <p:nvPr/>
        </p:nvSpPr>
        <p:spPr>
          <a:xfrm>
            <a:off x="1022350" y="2419300"/>
            <a:ext cx="305656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One model handles the turn when nothing more is needed.</a:t>
            </a:r>
            <a:endParaRPr lang="en-US" sz="1500" dirty="0"/>
          </a:p>
        </p:txBody>
      </p:sp>
      <p:sp>
        <p:nvSpPr>
          <p:cNvPr id="7" name="Shape 5"/>
          <p:cNvSpPr/>
          <p:nvPr/>
        </p:nvSpPr>
        <p:spPr>
          <a:xfrm>
            <a:off x="4405809" y="1831925"/>
            <a:ext cx="3380333" cy="1593850"/>
          </a:xfrm>
          <a:prstGeom prst="roundRect">
            <a:avLst>
              <a:gd name="adj" fmla="val 6175"/>
            </a:avLst>
          </a:prstGeom>
          <a:solidFill>
            <a:srgbClr val="1A2133"/>
          </a:solidFill>
          <a:ln w="6350">
            <a:solidFill>
              <a:srgbClr val="9D8CFF"/>
            </a:solidFill>
            <a:prstDash val="solid"/>
          </a:ln>
        </p:spPr>
        <p:txBody>
          <a:bodyPr/>
          <a:p/>
        </p:txBody>
      </p:sp>
      <p:sp>
        <p:nvSpPr>
          <p:cNvPr id="8" name="Text 6"/>
          <p:cNvSpPr/>
          <p:nvPr/>
        </p:nvSpPr>
        <p:spPr>
          <a:xfrm>
            <a:off x="4612184" y="2038300"/>
            <a:ext cx="305661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9D8CFF"/>
                </a:solidFill>
                <a:latin typeface="Space Grotesk" pitchFamily="34" charset="0"/>
                <a:ea typeface="Space Grotesk" pitchFamily="34" charset="-122"/>
                <a:cs typeface="Space Grotesk" pitchFamily="34" charset="-120"/>
              </a:rPr>
              <a:t>Cascade</a:t>
            </a:r>
            <a:endParaRPr lang="en-US" sz="2000" dirty="0"/>
          </a:p>
        </p:txBody>
      </p:sp>
      <p:sp>
        <p:nvSpPr>
          <p:cNvPr id="9" name="Text 7"/>
          <p:cNvSpPr/>
          <p:nvPr/>
        </p:nvSpPr>
        <p:spPr>
          <a:xfrm>
            <a:off x="4612184" y="2419300"/>
            <a:ext cx="3056611"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An efficient model drafts. A quality gate accepts it or passes it to a stronger one.</a:t>
            </a:r>
            <a:endParaRPr lang="en-US" sz="1500" dirty="0"/>
          </a:p>
        </p:txBody>
      </p:sp>
      <p:sp>
        <p:nvSpPr>
          <p:cNvPr id="10" name="Shape 8"/>
          <p:cNvSpPr/>
          <p:nvPr/>
        </p:nvSpPr>
        <p:spPr>
          <a:xfrm>
            <a:off x="7995692" y="1831925"/>
            <a:ext cx="3380333" cy="1593850"/>
          </a:xfrm>
          <a:prstGeom prst="roundRect">
            <a:avLst>
              <a:gd name="adj" fmla="val 6175"/>
            </a:avLst>
          </a:prstGeom>
          <a:solidFill>
            <a:srgbClr val="1A2133"/>
          </a:solidFill>
          <a:ln w="6350">
            <a:solidFill>
              <a:srgbClr val="F2B84B"/>
            </a:solidFill>
            <a:prstDash val="solid"/>
          </a:ln>
        </p:spPr>
        <p:txBody>
          <a:bodyPr/>
          <a:p/>
        </p:txBody>
      </p:sp>
      <p:sp>
        <p:nvSpPr>
          <p:cNvPr id="11" name="Text 9"/>
          <p:cNvSpPr/>
          <p:nvPr/>
        </p:nvSpPr>
        <p:spPr>
          <a:xfrm>
            <a:off x="8202067" y="2038300"/>
            <a:ext cx="305661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B84B"/>
                </a:solidFill>
                <a:latin typeface="Space Grotesk" pitchFamily="34" charset="0"/>
                <a:ea typeface="Space Grotesk" pitchFamily="34" charset="-122"/>
                <a:cs typeface="Space Grotesk" pitchFamily="34" charset="-120"/>
              </a:rPr>
              <a:t>Critique</a:t>
            </a:r>
            <a:endParaRPr lang="en-US" sz="2000" dirty="0"/>
          </a:p>
        </p:txBody>
      </p:sp>
      <p:sp>
        <p:nvSpPr>
          <p:cNvPr id="12" name="Text 10"/>
          <p:cNvSpPr/>
          <p:nvPr/>
        </p:nvSpPr>
        <p:spPr>
          <a:xfrm>
            <a:off x="8202067" y="2419300"/>
            <a:ext cx="3056611"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A critic from another family reviews without tools and the author fixes it once.</a:t>
            </a:r>
            <a:endParaRPr lang="en-US" sz="1500" dirty="0"/>
          </a:p>
        </p:txBody>
      </p:sp>
      <p:sp>
        <p:nvSpPr>
          <p:cNvPr id="13" name="Shape 11"/>
          <p:cNvSpPr/>
          <p:nvPr/>
        </p:nvSpPr>
        <p:spPr>
          <a:xfrm>
            <a:off x="812800" y="3689300"/>
            <a:ext cx="10566400" cy="0"/>
          </a:xfrm>
          <a:prstGeom prst="line">
            <a:avLst/>
          </a:prstGeom>
          <a:noFill/>
          <a:ln w="12700">
            <a:solidFill>
              <a:srgbClr val="2B3550"/>
            </a:solidFill>
            <a:prstDash val="solid"/>
          </a:ln>
        </p:spPr>
        <p:txBody>
          <a:bodyPr/>
          <a:p/>
        </p:txBody>
      </p:sp>
      <p:sp>
        <p:nvSpPr>
          <p:cNvPr id="14" name="Text 12"/>
          <p:cNvSpPr/>
          <p:nvPr/>
        </p:nvSpPr>
        <p:spPr>
          <a:xfrm>
            <a:off x="812800" y="384805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Versus Claude Opus 5 alone, according to the GitHub blog</a:t>
            </a:r>
            <a:endParaRPr lang="en-US" sz="1200" dirty="0"/>
          </a:p>
        </p:txBody>
      </p:sp>
      <p:sp>
        <p:nvSpPr>
          <p:cNvPr id="15" name="Text 13"/>
          <p:cNvSpPr/>
          <p:nvPr/>
        </p:nvSpPr>
        <p:spPr>
          <a:xfrm>
            <a:off x="812800" y="4162971"/>
            <a:ext cx="3488233"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2B84B"/>
                </a:solidFill>
                <a:latin typeface="Space Grotesk" pitchFamily="34" charset="0"/>
                <a:ea typeface="Space Grotesk" pitchFamily="34" charset="-122"/>
                <a:cs typeface="Space Grotesk" pitchFamily="34" charset="-120"/>
              </a:rPr>
              <a:t>−67% cost</a:t>
            </a:r>
            <a:endParaRPr lang="en-US" sz="2000" dirty="0"/>
          </a:p>
        </p:txBody>
      </p:sp>
      <p:sp>
        <p:nvSpPr>
          <p:cNvPr id="16" name="Text 14"/>
          <p:cNvSpPr/>
          <p:nvPr/>
        </p:nvSpPr>
        <p:spPr>
          <a:xfrm>
            <a:off x="812800" y="4543971"/>
            <a:ext cx="348823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TerminalBench 2.1 · +4.9 points</a:t>
            </a:r>
            <a:endParaRPr lang="en-US" sz="1200" dirty="0"/>
          </a:p>
        </p:txBody>
      </p:sp>
      <p:sp>
        <p:nvSpPr>
          <p:cNvPr id="17" name="Text 15"/>
          <p:cNvSpPr/>
          <p:nvPr/>
        </p:nvSpPr>
        <p:spPr>
          <a:xfrm>
            <a:off x="4402634" y="4162971"/>
            <a:ext cx="348828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2B84B"/>
                </a:solidFill>
                <a:latin typeface="Space Grotesk" pitchFamily="34" charset="0"/>
                <a:ea typeface="Space Grotesk" pitchFamily="34" charset="-122"/>
                <a:cs typeface="Space Grotesk" pitchFamily="34" charset="-120"/>
              </a:rPr>
              <a:t>−36% cost</a:t>
            </a:r>
            <a:endParaRPr lang="en-US" sz="2000" dirty="0"/>
          </a:p>
        </p:txBody>
      </p:sp>
      <p:sp>
        <p:nvSpPr>
          <p:cNvPr id="18" name="Text 16"/>
          <p:cNvSpPr/>
          <p:nvPr/>
        </p:nvSpPr>
        <p:spPr>
          <a:xfrm>
            <a:off x="4402634" y="4543971"/>
            <a:ext cx="34882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DeepSWE · −1.5 points</a:t>
            </a:r>
            <a:endParaRPr lang="en-US" sz="1200" dirty="0"/>
          </a:p>
        </p:txBody>
      </p:sp>
      <p:sp>
        <p:nvSpPr>
          <p:cNvPr id="19" name="Text 17"/>
          <p:cNvSpPr/>
          <p:nvPr/>
        </p:nvSpPr>
        <p:spPr>
          <a:xfrm>
            <a:off x="7992517" y="4162971"/>
            <a:ext cx="348828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2B84B"/>
                </a:solidFill>
                <a:latin typeface="Space Grotesk" pitchFamily="34" charset="0"/>
                <a:ea typeface="Space Grotesk" pitchFamily="34" charset="-122"/>
                <a:cs typeface="Space Grotesk" pitchFamily="34" charset="-120"/>
              </a:rPr>
              <a:t>−65% cost</a:t>
            </a:r>
            <a:endParaRPr lang="en-US" sz="2000" dirty="0"/>
          </a:p>
        </p:txBody>
      </p:sp>
      <p:sp>
        <p:nvSpPr>
          <p:cNvPr id="20" name="Text 18"/>
          <p:cNvSpPr/>
          <p:nvPr/>
        </p:nvSpPr>
        <p:spPr>
          <a:xfrm>
            <a:off x="7992517" y="4543971"/>
            <a:ext cx="34882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CheckpointBench · −0.1 points</a:t>
            </a:r>
            <a:endParaRPr lang="en-US" sz="1200" dirty="0"/>
          </a:p>
        </p:txBody>
      </p:sp>
      <p:sp>
        <p:nvSpPr>
          <p:cNvPr id="21" name="Text 19"/>
          <p:cNvSpPr/>
          <p:nvPr/>
        </p:nvSpPr>
        <p:spPr>
          <a:xfrm>
            <a:off x="812800" y="501129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Preview in Copilot CLI · /experimental on · /model → HydraFusion (Research Preview)</a:t>
            </a:r>
            <a:endParaRPr lang="en-US" sz="1200" dirty="0"/>
          </a:p>
        </p:txBody>
      </p:sp>
      <p:sp>
        <p:nvSpPr>
          <p:cNvPr id="22" name="Text 2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23" name="Text 2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3 · AGENTS · ONE MODEL PER ROLE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A hierarchy: each agent with its own model</a:t>
            </a:r>
            <a:endParaRPr lang="en-US" sz="3200" dirty="0"/>
          </a:p>
        </p:txBody>
      </p:sp>
      <p:sp>
        <p:nvSpPr>
          <p:cNvPr id="4" name="Shape 2"/>
          <p:cNvSpPr/>
          <p:nvPr/>
        </p:nvSpPr>
        <p:spPr>
          <a:xfrm>
            <a:off x="815975" y="1882775"/>
            <a:ext cx="4565650" cy="1517650"/>
          </a:xfrm>
          <a:prstGeom prst="roundRect">
            <a:avLst>
              <a:gd name="adj" fmla="val 6485"/>
            </a:avLst>
          </a:prstGeom>
          <a:solidFill>
            <a:srgbClr val="1A2133"/>
          </a:solidFill>
          <a:ln w="6350">
            <a:solidFill>
              <a:srgbClr val="EEF0F4"/>
            </a:solidFill>
            <a:prstDash val="solid"/>
          </a:ln>
        </p:spPr>
        <p:txBody>
          <a:bodyPr/>
          <a:p/>
        </p:txBody>
      </p:sp>
      <p:sp>
        <p:nvSpPr>
          <p:cNvPr id="5" name="Text 3"/>
          <p:cNvSpPr/>
          <p:nvPr/>
        </p:nvSpPr>
        <p:spPr>
          <a:xfrm>
            <a:off x="1022350" y="2225080"/>
            <a:ext cx="427748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orchestrator</a:t>
            </a:r>
            <a:endParaRPr lang="en-US" sz="2000" dirty="0"/>
          </a:p>
        </p:txBody>
      </p:sp>
      <p:sp>
        <p:nvSpPr>
          <p:cNvPr id="6" name="Text 4"/>
          <p:cNvSpPr/>
          <p:nvPr/>
        </p:nvSpPr>
        <p:spPr>
          <a:xfrm>
            <a:off x="1022350" y="2580680"/>
            <a:ext cx="427748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Session model · agent, read, search, todo</a:t>
            </a:r>
            <a:endParaRPr lang="en-US" sz="1200" dirty="0"/>
          </a:p>
        </p:txBody>
      </p:sp>
      <p:sp>
        <p:nvSpPr>
          <p:cNvPr id="7" name="Text 5"/>
          <p:cNvSpPr/>
          <p:nvPr/>
        </p:nvSpPr>
        <p:spPr>
          <a:xfrm>
            <a:off x="1022350" y="2844800"/>
            <a:ext cx="427748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Hands out the work. Writes no code.</a:t>
            </a:r>
            <a:endParaRPr lang="en-US" sz="1200" dirty="0"/>
          </a:p>
        </p:txBody>
      </p:sp>
      <p:sp>
        <p:nvSpPr>
          <p:cNvPr id="8" name="Shape 6"/>
          <p:cNvSpPr/>
          <p:nvPr/>
        </p:nvSpPr>
        <p:spPr>
          <a:xfrm>
            <a:off x="5692775" y="1882775"/>
            <a:ext cx="5683250" cy="1517650"/>
          </a:xfrm>
          <a:prstGeom prst="roundRect">
            <a:avLst>
              <a:gd name="adj" fmla="val 6485"/>
            </a:avLst>
          </a:prstGeom>
          <a:solidFill>
            <a:srgbClr val="1A2133"/>
          </a:solidFill>
          <a:ln w="6350">
            <a:solidFill>
              <a:srgbClr val="2B3550"/>
            </a:solidFill>
            <a:prstDash val="solid"/>
          </a:ln>
        </p:spPr>
        <p:txBody>
          <a:bodyPr/>
          <a:p/>
        </p:txBody>
      </p:sp>
      <p:sp>
        <p:nvSpPr>
          <p:cNvPr id="9" name="Text 7"/>
          <p:cNvSpPr/>
          <p:nvPr/>
        </p:nvSpPr>
        <p:spPr>
          <a:xfrm>
            <a:off x="5899150" y="2038350"/>
            <a:ext cx="5428615" cy="237282"/>
          </a:xfrm>
          <a:prstGeom prst="rect">
            <a:avLst/>
          </a:prstGeom>
          <a:noFill/>
          <a:ln/>
        </p:spPr>
        <p:txBody>
          <a:bodyPr wrap="square" lIns="0" tIns="0" rIns="0" bIns="0" rtlCol="0" anchor="t">
            <a:normAutofit/>
          </a:bodyPr>
          <a:lstStyle/>
          <a:p>
            <a:pPr algn="l" indent="0" marL="0">
              <a:lnSpc>
                <a:spcPts val="1675"/>
              </a:lnSpc>
              <a:buNone/>
            </a:pPr>
            <a:r>
              <a:rPr lang="en-US" sz="1196" b="1" dirty="0">
                <a:solidFill>
                  <a:srgbClr val="F2B84B"/>
                </a:solidFill>
                <a:latin typeface="IBM Plex Sans" pitchFamily="34" charset="0"/>
                <a:ea typeface="IBM Plex Sans" pitchFamily="34" charset="-122"/>
                <a:cs typeface="IBM Plex Sans" pitchFamily="34" charset="-120"/>
              </a:rPr>
              <a:t>coder.agent.md: the model is a field</a:t>
            </a:r>
            <a:endParaRPr lang="en-US" sz="1196" dirty="0"/>
          </a:p>
        </p:txBody>
      </p:sp>
      <p:sp>
        <p:nvSpPr>
          <p:cNvPr id="10" name="Text 8"/>
          <p:cNvSpPr/>
          <p:nvPr/>
        </p:nvSpPr>
        <p:spPr>
          <a:xfrm>
            <a:off x="5899150" y="2301032"/>
            <a:ext cx="5428615" cy="706537"/>
          </a:xfrm>
          <a:prstGeom prst="rect">
            <a:avLst/>
          </a:prstGeom>
          <a:noFill/>
          <a:ln/>
        </p:spPr>
        <p:txBody>
          <a:bodyPr wrap="square" lIns="0" tIns="0" rIns="0" bIns="0" rtlCol="0" anchor="t">
            <a:normAutofit/>
          </a:bodyPr>
          <a:lstStyle/>
          <a:p>
            <a:pPr algn="l" indent="0" marL="0">
              <a:lnSpc>
                <a:spcPts val="1789"/>
              </a:lnSpc>
              <a:buNone/>
            </a:pPr>
            <a:r>
              <a:rPr lang="en-US" sz="1193" dirty="0">
                <a:solidFill>
                  <a:srgbClr val="D7DEEA"/>
                </a:solidFill>
                <a:latin typeface="JetBrains Mono" pitchFamily="49" charset="0"/>
                <a:ea typeface="JetBrains Mono" pitchFamily="49" charset="-122"/>
                <a:cs typeface="JetBrains Mono" pitchFamily="49" charset="-120"/>
              </a:rPr>
              <a:t>name: coder</a:t>
            </a:r>
            <a:endParaRPr lang="en-US" sz="1193" dirty="0"/>
          </a:p>
          <a:p>
            <a:pPr algn="l" indent="0" marL="0">
              <a:lnSpc>
                <a:spcPts val="1789"/>
              </a:lnSpc>
              <a:buNone/>
            </a:pPr>
            <a:r>
              <a:rPr lang="en-US" sz="1193" dirty="0">
                <a:solidFill>
                  <a:srgbClr val="9D8CFF"/>
                </a:solidFill>
                <a:latin typeface="JetBrains Mono" pitchFamily="49" charset="0"/>
                <a:ea typeface="JetBrains Mono" pitchFamily="49" charset="-122"/>
                <a:cs typeface="JetBrains Mono" pitchFamily="49" charset="-120"/>
              </a:rPr>
              <a:t>model</a:t>
            </a:r>
            <a:r>
              <a:rPr lang="en-US" sz="1193" dirty="0">
                <a:solidFill>
                  <a:srgbClr val="D7DEEA"/>
                </a:solidFill>
                <a:latin typeface="JetBrains Mono" pitchFamily="49" charset="0"/>
                <a:ea typeface="JetBrains Mono" pitchFamily="49" charset="-122"/>
                <a:cs typeface="JetBrains Mono" pitchFamily="49" charset="-120"/>
              </a:rPr>
              <a:t>: </a:t>
            </a:r>
            <a:r>
              <a:rPr lang="en-US" sz="1193" dirty="0">
                <a:solidFill>
                  <a:srgbClr val="F2B84B"/>
                </a:solidFill>
                <a:latin typeface="JetBrains Mono" pitchFamily="49" charset="0"/>
                <a:ea typeface="JetBrains Mono" pitchFamily="49" charset="-122"/>
                <a:cs typeface="JetBrains Mono" pitchFamily="49" charset="-120"/>
              </a:rPr>
              <a:t>gpt-5.3-codex</a:t>
            </a:r>
            <a:endParaRPr lang="en-US" sz="1193" dirty="0"/>
          </a:p>
          <a:p>
            <a:pPr algn="l" indent="0" marL="0">
              <a:lnSpc>
                <a:spcPts val="1789"/>
              </a:lnSpc>
              <a:buNone/>
            </a:pPr>
            <a:r>
              <a:rPr lang="en-US" sz="1193" dirty="0">
                <a:solidFill>
                  <a:srgbClr val="D7DEEA"/>
                </a:solidFill>
                <a:latin typeface="JetBrains Mono" pitchFamily="49" charset="0"/>
                <a:ea typeface="JetBrains Mono" pitchFamily="49" charset="-122"/>
                <a:cs typeface="JetBrains Mono" pitchFamily="49" charset="-120"/>
              </a:rPr>
              <a:t>tools: [</a:t>
            </a:r>
            <a:r>
              <a:rPr lang="en-US" sz="1193" dirty="0">
                <a:solidFill>
                  <a:srgbClr val="F2B84B"/>
                </a:solidFill>
                <a:latin typeface="JetBrains Mono" pitchFamily="49" charset="0"/>
                <a:ea typeface="JetBrains Mono" pitchFamily="49" charset="-122"/>
                <a:cs typeface="JetBrains Mono" pitchFamily="49" charset="-120"/>
              </a:rPr>
              <a:t>"read"</a:t>
            </a:r>
            <a:r>
              <a:rPr lang="en-US" sz="1193" dirty="0">
                <a:solidFill>
                  <a:srgbClr val="D7DEEA"/>
                </a:solidFill>
                <a:latin typeface="JetBrains Mono" pitchFamily="49" charset="0"/>
                <a:ea typeface="JetBrains Mono" pitchFamily="49" charset="-122"/>
                <a:cs typeface="JetBrains Mono" pitchFamily="49" charset="-120"/>
              </a:rPr>
              <a:t>, </a:t>
            </a:r>
            <a:r>
              <a:rPr lang="en-US" sz="1193" dirty="0">
                <a:solidFill>
                  <a:srgbClr val="F2B84B"/>
                </a:solidFill>
                <a:latin typeface="JetBrains Mono" pitchFamily="49" charset="0"/>
                <a:ea typeface="JetBrains Mono" pitchFamily="49" charset="-122"/>
                <a:cs typeface="JetBrains Mono" pitchFamily="49" charset="-120"/>
              </a:rPr>
              <a:t>"edit"</a:t>
            </a:r>
            <a:r>
              <a:rPr lang="en-US" sz="1193" dirty="0">
                <a:solidFill>
                  <a:srgbClr val="D7DEEA"/>
                </a:solidFill>
                <a:latin typeface="JetBrains Mono" pitchFamily="49" charset="0"/>
                <a:ea typeface="JetBrains Mono" pitchFamily="49" charset="-122"/>
                <a:cs typeface="JetBrains Mono" pitchFamily="49" charset="-120"/>
              </a:rPr>
              <a:t>, </a:t>
            </a:r>
            <a:r>
              <a:rPr lang="en-US" sz="1193" dirty="0">
                <a:solidFill>
                  <a:srgbClr val="F2B84B"/>
                </a:solidFill>
                <a:latin typeface="JetBrains Mono" pitchFamily="49" charset="0"/>
                <a:ea typeface="JetBrains Mono" pitchFamily="49" charset="-122"/>
                <a:cs typeface="JetBrains Mono" pitchFamily="49" charset="-120"/>
              </a:rPr>
              <a:t>"search"</a:t>
            </a:r>
            <a:r>
              <a:rPr lang="en-US" sz="1193" dirty="0">
                <a:solidFill>
                  <a:srgbClr val="D7DEEA"/>
                </a:solidFill>
                <a:latin typeface="JetBrains Mono" pitchFamily="49" charset="0"/>
                <a:ea typeface="JetBrains Mono" pitchFamily="49" charset="-122"/>
                <a:cs typeface="JetBrains Mono" pitchFamily="49" charset="-120"/>
              </a:rPr>
              <a:t>, </a:t>
            </a:r>
            <a:r>
              <a:rPr lang="en-US" sz="1193" dirty="0">
                <a:solidFill>
                  <a:srgbClr val="F2B84B"/>
                </a:solidFill>
                <a:latin typeface="JetBrains Mono" pitchFamily="49" charset="0"/>
                <a:ea typeface="JetBrains Mono" pitchFamily="49" charset="-122"/>
                <a:cs typeface="JetBrains Mono" pitchFamily="49" charset="-120"/>
              </a:rPr>
              <a:t>"execute"</a:t>
            </a:r>
            <a:r>
              <a:rPr lang="en-US" sz="1193" dirty="0">
                <a:solidFill>
                  <a:srgbClr val="D7DEEA"/>
                </a:solidFill>
                <a:latin typeface="JetBrains Mono" pitchFamily="49" charset="0"/>
                <a:ea typeface="JetBrains Mono" pitchFamily="49" charset="-122"/>
                <a:cs typeface="JetBrains Mono" pitchFamily="49" charset="-120"/>
              </a:rPr>
              <a:t>]</a:t>
            </a:r>
            <a:endParaRPr lang="en-US" sz="1193" dirty="0"/>
          </a:p>
        </p:txBody>
      </p:sp>
      <p:sp>
        <p:nvSpPr>
          <p:cNvPr id="11" name="Text 9"/>
          <p:cNvSpPr/>
          <p:nvPr/>
        </p:nvSpPr>
        <p:spPr>
          <a:xfrm>
            <a:off x="5899150" y="3032968"/>
            <a:ext cx="5428615" cy="237282"/>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A9B4C6"/>
                </a:solidFill>
                <a:latin typeface="IBM Plex Sans" pitchFamily="34" charset="0"/>
                <a:ea typeface="IBM Plex Sans" pitchFamily="34" charset="-122"/>
                <a:cs typeface="IBM Plex Sans" pitchFamily="34" charset="-120"/>
              </a:rPr>
              <a:t>If that model isn't on your account, the agent won't start.</a:t>
            </a:r>
            <a:endParaRPr lang="en-US" sz="1196" dirty="0"/>
          </a:p>
        </p:txBody>
      </p:sp>
      <p:pic>
        <p:nvPicPr>
          <p:cNvPr id="12" name="Image 0" descr="connector">    </p:cNvPr>
          <p:cNvPicPr>
            <a:picLocks noChangeAspect="1"/>
          </p:cNvPicPr>
          <p:nvPr/>
        </p:nvPicPr>
        <p:blipFill>
          <a:blip r:embed="rId1"/>
          <a:srcRect l="0" r="0" t="0" b="0"/>
          <a:stretch/>
        </p:blipFill>
        <p:spPr>
          <a:xfrm>
            <a:off x="2298700" y="3365500"/>
            <a:ext cx="838200" cy="546100"/>
          </a:xfrm>
          <a:prstGeom prst="rect">
            <a:avLst/>
          </a:prstGeom>
        </p:spPr>
      </p:pic>
      <p:pic>
        <p:nvPicPr>
          <p:cNvPr id="13" name="Image 1" descr="connector">    </p:cNvPr>
          <p:cNvPicPr>
            <a:picLocks noChangeAspect="1"/>
          </p:cNvPicPr>
          <p:nvPr/>
        </p:nvPicPr>
        <p:blipFill>
          <a:blip r:embed="rId2"/>
          <a:srcRect l="0" r="0" t="0" b="0"/>
          <a:stretch/>
        </p:blipFill>
        <p:spPr>
          <a:xfrm>
            <a:off x="3060700" y="3365500"/>
            <a:ext cx="3073400" cy="546100"/>
          </a:xfrm>
          <a:prstGeom prst="rect">
            <a:avLst/>
          </a:prstGeom>
        </p:spPr>
      </p:pic>
      <p:pic>
        <p:nvPicPr>
          <p:cNvPr id="14" name="Image 2" descr="connector">    </p:cNvPr>
          <p:cNvPicPr>
            <a:picLocks noChangeAspect="1"/>
          </p:cNvPicPr>
          <p:nvPr/>
        </p:nvPicPr>
        <p:blipFill>
          <a:blip r:embed="rId3"/>
          <a:srcRect l="0" r="0" t="0" b="0"/>
          <a:stretch/>
        </p:blipFill>
        <p:spPr>
          <a:xfrm>
            <a:off x="3060700" y="3365500"/>
            <a:ext cx="6832600" cy="546100"/>
          </a:xfrm>
          <a:prstGeom prst="rect">
            <a:avLst/>
          </a:prstGeom>
        </p:spPr>
      </p:pic>
      <p:sp>
        <p:nvSpPr>
          <p:cNvPr id="15" name="Shape 10"/>
          <p:cNvSpPr/>
          <p:nvPr/>
        </p:nvSpPr>
        <p:spPr>
          <a:xfrm>
            <a:off x="819150" y="3879850"/>
            <a:ext cx="3035300" cy="1485900"/>
          </a:xfrm>
          <a:prstGeom prst="roundRect">
            <a:avLst>
              <a:gd name="adj" fmla="val 6410"/>
            </a:avLst>
          </a:prstGeom>
          <a:solidFill>
            <a:srgbClr val="1A2133"/>
          </a:solidFill>
          <a:ln w="12700">
            <a:solidFill>
              <a:srgbClr val="9D8CFF"/>
            </a:solidFill>
            <a:prstDash val="solid"/>
          </a:ln>
        </p:spPr>
        <p:txBody>
          <a:bodyPr/>
          <a:p/>
        </p:txBody>
      </p:sp>
      <p:sp>
        <p:nvSpPr>
          <p:cNvPr id="16" name="Text 11"/>
          <p:cNvSpPr/>
          <p:nvPr/>
        </p:nvSpPr>
        <p:spPr>
          <a:xfrm>
            <a:off x="1028700" y="4064000"/>
            <a:ext cx="269468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1 · PLAN</a:t>
            </a:r>
            <a:endParaRPr lang="en-US" sz="1200" dirty="0"/>
          </a:p>
        </p:txBody>
      </p:sp>
      <p:sp>
        <p:nvSpPr>
          <p:cNvPr id="17" name="Text 12"/>
          <p:cNvSpPr/>
          <p:nvPr/>
        </p:nvSpPr>
        <p:spPr>
          <a:xfrm>
            <a:off x="1028700" y="4328120"/>
            <a:ext cx="269468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planner</a:t>
            </a:r>
            <a:endParaRPr lang="en-US" sz="2000" dirty="0"/>
          </a:p>
        </p:txBody>
      </p:sp>
      <p:sp>
        <p:nvSpPr>
          <p:cNvPr id="18" name="Text 13"/>
          <p:cNvSpPr/>
          <p:nvPr/>
        </p:nvSpPr>
        <p:spPr>
          <a:xfrm>
            <a:off x="1028700" y="4683720"/>
            <a:ext cx="2694686"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claude-sonnet-5.5</a:t>
            </a:r>
            <a:endParaRPr lang="en-US" sz="1200" dirty="0"/>
          </a:p>
        </p:txBody>
      </p:sp>
      <p:sp>
        <p:nvSpPr>
          <p:cNvPr id="19" name="Text 14"/>
          <p:cNvSpPr/>
          <p:nvPr/>
        </p:nvSpPr>
        <p:spPr>
          <a:xfrm>
            <a:off x="1028700" y="4963120"/>
            <a:ext cx="26946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read, search · read-only</a:t>
            </a:r>
            <a:endParaRPr lang="en-US" sz="1200" dirty="0"/>
          </a:p>
        </p:txBody>
      </p:sp>
      <p:sp>
        <p:nvSpPr>
          <p:cNvPr id="20" name="Shape 15"/>
          <p:cNvSpPr/>
          <p:nvPr/>
        </p:nvSpPr>
        <p:spPr>
          <a:xfrm>
            <a:off x="4578350" y="3879850"/>
            <a:ext cx="3035300" cy="1485900"/>
          </a:xfrm>
          <a:prstGeom prst="roundRect">
            <a:avLst>
              <a:gd name="adj" fmla="val 6410"/>
            </a:avLst>
          </a:prstGeom>
          <a:solidFill>
            <a:srgbClr val="1A2133"/>
          </a:solidFill>
          <a:ln w="12700">
            <a:solidFill>
              <a:srgbClr val="F2B84B"/>
            </a:solidFill>
            <a:prstDash val="solid"/>
          </a:ln>
        </p:spPr>
        <p:txBody>
          <a:bodyPr/>
          <a:p/>
        </p:txBody>
      </p:sp>
      <p:sp>
        <p:nvSpPr>
          <p:cNvPr id="21" name="Text 16"/>
          <p:cNvSpPr/>
          <p:nvPr/>
        </p:nvSpPr>
        <p:spPr>
          <a:xfrm>
            <a:off x="4787900" y="4064000"/>
            <a:ext cx="269468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2 · CODE</a:t>
            </a:r>
            <a:endParaRPr lang="en-US" sz="1200" dirty="0"/>
          </a:p>
        </p:txBody>
      </p:sp>
      <p:sp>
        <p:nvSpPr>
          <p:cNvPr id="22" name="Text 17"/>
          <p:cNvSpPr/>
          <p:nvPr/>
        </p:nvSpPr>
        <p:spPr>
          <a:xfrm>
            <a:off x="4787900" y="4328120"/>
            <a:ext cx="269468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coder</a:t>
            </a:r>
            <a:endParaRPr lang="en-US" sz="2000" dirty="0"/>
          </a:p>
        </p:txBody>
      </p:sp>
      <p:sp>
        <p:nvSpPr>
          <p:cNvPr id="23" name="Text 18"/>
          <p:cNvSpPr/>
          <p:nvPr/>
        </p:nvSpPr>
        <p:spPr>
          <a:xfrm>
            <a:off x="4787900" y="4683720"/>
            <a:ext cx="2694686"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2B84B"/>
                </a:solidFill>
                <a:latin typeface="JetBrains Mono" pitchFamily="49" charset="0"/>
                <a:ea typeface="JetBrains Mono" pitchFamily="49" charset="-122"/>
                <a:cs typeface="JetBrains Mono" pitchFamily="49" charset="-120"/>
              </a:rPr>
              <a:t>gpt-5.3-codex</a:t>
            </a:r>
            <a:endParaRPr lang="en-US" sz="1200" dirty="0"/>
          </a:p>
        </p:txBody>
      </p:sp>
      <p:sp>
        <p:nvSpPr>
          <p:cNvPr id="24" name="Text 19"/>
          <p:cNvSpPr/>
          <p:nvPr/>
        </p:nvSpPr>
        <p:spPr>
          <a:xfrm>
            <a:off x="4787900" y="4963120"/>
            <a:ext cx="26946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read, edit, search, execute</a:t>
            </a:r>
            <a:endParaRPr lang="en-US" sz="1200" dirty="0"/>
          </a:p>
        </p:txBody>
      </p:sp>
      <p:sp>
        <p:nvSpPr>
          <p:cNvPr id="25" name="Shape 20"/>
          <p:cNvSpPr/>
          <p:nvPr/>
        </p:nvSpPr>
        <p:spPr>
          <a:xfrm>
            <a:off x="8337550" y="3879850"/>
            <a:ext cx="3035300" cy="1485900"/>
          </a:xfrm>
          <a:prstGeom prst="roundRect">
            <a:avLst>
              <a:gd name="adj" fmla="val 6410"/>
            </a:avLst>
          </a:prstGeom>
          <a:solidFill>
            <a:srgbClr val="1A2133"/>
          </a:solidFill>
          <a:ln w="12700">
            <a:solidFill>
              <a:srgbClr val="6FD3B8"/>
            </a:solidFill>
            <a:prstDash val="solid"/>
          </a:ln>
        </p:spPr>
        <p:txBody>
          <a:bodyPr/>
          <a:p/>
        </p:txBody>
      </p:sp>
      <p:sp>
        <p:nvSpPr>
          <p:cNvPr id="26" name="Text 21"/>
          <p:cNvSpPr/>
          <p:nvPr/>
        </p:nvSpPr>
        <p:spPr>
          <a:xfrm>
            <a:off x="8547100" y="4064000"/>
            <a:ext cx="269468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FD3B8"/>
                </a:solidFill>
                <a:latin typeface="IBM Plex Sans" pitchFamily="34" charset="0"/>
                <a:ea typeface="IBM Plex Sans" pitchFamily="34" charset="-122"/>
                <a:cs typeface="IBM Plex Sans" pitchFamily="34" charset="-120"/>
              </a:rPr>
              <a:t>3 · REVIEW</a:t>
            </a:r>
            <a:endParaRPr lang="en-US" sz="1200" dirty="0"/>
          </a:p>
        </p:txBody>
      </p:sp>
      <p:sp>
        <p:nvSpPr>
          <p:cNvPr id="27" name="Text 22"/>
          <p:cNvSpPr/>
          <p:nvPr/>
        </p:nvSpPr>
        <p:spPr>
          <a:xfrm>
            <a:off x="8547100" y="4328120"/>
            <a:ext cx="269468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reviewer</a:t>
            </a:r>
            <a:endParaRPr lang="en-US" sz="2000" dirty="0"/>
          </a:p>
        </p:txBody>
      </p:sp>
      <p:sp>
        <p:nvSpPr>
          <p:cNvPr id="28" name="Text 23"/>
          <p:cNvSpPr/>
          <p:nvPr/>
        </p:nvSpPr>
        <p:spPr>
          <a:xfrm>
            <a:off x="8547100" y="4683720"/>
            <a:ext cx="2694686"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6FD3B8"/>
                </a:solidFill>
                <a:latin typeface="JetBrains Mono" pitchFamily="49" charset="0"/>
                <a:ea typeface="JetBrains Mono" pitchFamily="49" charset="-122"/>
                <a:cs typeface="JetBrains Mono" pitchFamily="49" charset="-120"/>
              </a:rPr>
              <a:t>gemini-3.8-flash</a:t>
            </a:r>
            <a:endParaRPr lang="en-US" sz="1200" dirty="0"/>
          </a:p>
        </p:txBody>
      </p:sp>
      <p:sp>
        <p:nvSpPr>
          <p:cNvPr id="29" name="Text 24"/>
          <p:cNvSpPr/>
          <p:nvPr/>
        </p:nvSpPr>
        <p:spPr>
          <a:xfrm>
            <a:off x="8547100" y="4963120"/>
            <a:ext cx="26946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read, search · other family</a:t>
            </a:r>
            <a:endParaRPr lang="en-US" sz="1200" dirty="0"/>
          </a:p>
        </p:txBody>
      </p:sp>
      <p:sp>
        <p:nvSpPr>
          <p:cNvPr id="30" name="Text 25"/>
          <p:cNvSpPr/>
          <p:nvPr/>
        </p:nvSpPr>
        <p:spPr>
          <a:xfrm>
            <a:off x="812800" y="55118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If the reviewer asks for changes, the coder gets one more round. Never two.</a:t>
            </a:r>
            <a:endParaRPr lang="en-US" sz="1500" dirty="0"/>
          </a:p>
        </p:txBody>
      </p:sp>
      <p:sp>
        <p:nvSpPr>
          <p:cNvPr id="31" name="Text 26"/>
          <p:cNvSpPr/>
          <p:nvPr/>
        </p:nvSpPr>
        <p:spPr>
          <a:xfrm>
            <a:off x="812800" y="6238280"/>
            <a:ext cx="35019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.github/agents/ · four .agent.md files</a:t>
            </a:r>
            <a:endParaRPr lang="en-US" sz="1200" dirty="0"/>
          </a:p>
        </p:txBody>
      </p:sp>
      <p:sp>
        <p:nvSpPr>
          <p:cNvPr id="32" name="Text 27"/>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00869"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3B</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Three models for a Reset button</a:t>
            </a:r>
            <a:endParaRPr lang="en-US" sz="3200" dirty="0"/>
          </a:p>
        </p:txBody>
      </p:sp>
      <p:sp>
        <p:nvSpPr>
          <p:cNvPr id="4" name="Shape 2"/>
          <p:cNvSpPr/>
          <p:nvPr/>
        </p:nvSpPr>
        <p:spPr>
          <a:xfrm>
            <a:off x="812800" y="1879550"/>
            <a:ext cx="4546600" cy="2444552"/>
          </a:xfrm>
          <a:prstGeom prst="roundRect">
            <a:avLst>
              <a:gd name="adj" fmla="val 4156"/>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Add a Reset button next to SampleApp's counter that sets it to zero.</a:t>
            </a:r>
            <a:endParaRPr lang="en-US" sz="1200" dirty="0"/>
          </a:p>
        </p:txBody>
      </p:sp>
      <p:pic>
        <p:nvPicPr>
          <p:cNvPr id="7" name="Image 0" descr="line">    </p:cNvPr>
          <p:cNvPicPr>
            <a:picLocks noChangeAspect="1"/>
          </p:cNvPicPr>
          <p:nvPr/>
        </p:nvPicPr>
        <p:blipFill>
          <a:blip r:embed="rId1"/>
          <a:srcRect l="0" r="0" t="0" b="0"/>
          <a:stretch/>
        </p:blipFill>
        <p:spPr>
          <a:xfrm>
            <a:off x="1066800" y="3007271"/>
            <a:ext cx="4038600" cy="6350"/>
          </a:xfrm>
          <a:prstGeom prst="rect">
            <a:avLst/>
          </a:prstGeom>
        </p:spPr>
      </p:pic>
      <p:sp>
        <p:nvSpPr>
          <p:cNvPr id="8" name="Text 5"/>
          <p:cNvSpPr/>
          <p:nvPr/>
        </p:nvSpPr>
        <p:spPr>
          <a:xfrm>
            <a:off x="1066800" y="31152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4301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Three subagents in order: planner, coder and reviewer. At the end, a table with each phase's model and the verdict.</a:t>
            </a:r>
            <a:endParaRPr lang="en-US" sz="1200" dirty="0"/>
          </a:p>
        </p:txBody>
      </p:sp>
      <p:sp>
        <p:nvSpPr>
          <p:cNvPr id="10" name="Text 7"/>
          <p:cNvSpPr/>
          <p:nvPr/>
        </p:nvSpPr>
        <p:spPr>
          <a:xfrm>
            <a:off x="812800" y="447650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03b-hierarchy · agent: orchestrator</a:t>
            </a:r>
            <a:endParaRPr lang="en-US" sz="1200" dirty="0"/>
          </a:p>
        </p:txBody>
      </p:sp>
      <p:pic>
        <p:nvPicPr>
          <p:cNvPr id="11" name="Image 1" descr="GitHub Copilot app: planner, coder and reviewer subagents with their models and the verdict">    </p:cNvPr>
          <p:cNvPicPr>
            <a:picLocks noChangeAspect="1"/>
          </p:cNvPicPr>
          <p:nvPr/>
        </p:nvPicPr>
        <p:blipFill>
          <a:blip r:embed="rId2"/>
          <a:srcRect/>
          <a:stretch>
            <a:fillRect/>
          </a:stretch>
        </p:blipFill>
        <p:spPr>
          <a:xfrm>
            <a:off x="5667375" y="1882725"/>
            <a:ext cx="5708650" cy="3435350"/>
          </a:xfrm>
          <a:prstGeom prst="rect">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planner, coder and reviewer, each with its own model</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4 · MCP SERVERS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New capabilities through an open protocol</a:t>
            </a:r>
            <a:endParaRPr lang="en-US" sz="3200" dirty="0"/>
          </a:p>
        </p:txBody>
      </p:sp>
      <p:sp>
        <p:nvSpPr>
          <p:cNvPr id="4" name="Text 2"/>
          <p:cNvSpPr/>
          <p:nvPr/>
        </p:nvSpPr>
        <p:spPr>
          <a:xfrm>
            <a:off x="812800" y="18287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An MCP server is a process that publishes tools. The agent discovers and calls them over JSON-RPC.</a:t>
            </a:r>
            <a:endParaRPr lang="en-US" sz="1500" dirty="0"/>
          </a:p>
        </p:txBody>
      </p:sp>
      <p:sp>
        <p:nvSpPr>
          <p:cNvPr id="5" name="Text 3"/>
          <p:cNvSpPr/>
          <p:nvPr/>
        </p:nvSpPr>
        <p:spPr>
          <a:xfrm>
            <a:off x="812800" y="27812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Local over stdio or remote over HTTP. In the CLI: .mcp.json or /mcp add. In the app: Customize &gt; MCP.</a:t>
            </a:r>
            <a:endParaRPr lang="en-US" sz="1500" dirty="0"/>
          </a:p>
        </p:txBody>
      </p:sp>
      <p:sp>
        <p:nvSpPr>
          <p:cNvPr id="6" name="Text 4"/>
          <p:cNvSpPr/>
          <p:nvPr/>
        </p:nvSpPr>
        <p:spPr>
          <a:xfrm>
            <a:off x="812800" y="37337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There's no magic inside: a description with its schema and three responses.</a:t>
            </a:r>
            <a:endParaRPr lang="en-US" sz="1500" dirty="0"/>
          </a:p>
        </p:txBody>
      </p:sp>
      <p:sp>
        <p:nvSpPr>
          <p:cNvPr id="7" name="Shape 5"/>
          <p:cNvSpPr/>
          <p:nvPr/>
        </p:nvSpPr>
        <p:spPr>
          <a:xfrm>
            <a:off x="5221833" y="1831925"/>
            <a:ext cx="6154192" cy="3887391"/>
          </a:xfrm>
          <a:prstGeom prst="roundRect">
            <a:avLst>
              <a:gd name="adj" fmla="val 2532"/>
            </a:avLst>
          </a:prstGeom>
          <a:solidFill>
            <a:srgbClr val="1A2133"/>
          </a:solidFill>
          <a:ln w="6350">
            <a:solidFill>
              <a:srgbClr val="2B3550"/>
            </a:solidFill>
            <a:prstDash val="solid"/>
          </a:ln>
        </p:spPr>
        <p:txBody>
          <a:bodyPr/>
          <a:p/>
        </p:txBody>
      </p:sp>
      <p:sp>
        <p:nvSpPr>
          <p:cNvPr id="8" name="Text 6"/>
          <p:cNvSpPr/>
          <p:nvPr/>
        </p:nvSpPr>
        <p:spPr>
          <a:xfrm>
            <a:off x="5428208" y="20383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.mcp.json</a:t>
            </a:r>
            <a:endParaRPr lang="en-US" sz="1200" dirty="0"/>
          </a:p>
        </p:txBody>
      </p:sp>
      <p:sp>
        <p:nvSpPr>
          <p:cNvPr id="9" name="Text 7"/>
          <p:cNvSpPr/>
          <p:nvPr/>
        </p:nvSpPr>
        <p:spPr>
          <a:xfrm>
            <a:off x="5428208" y="2353221"/>
            <a:ext cx="5913685"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"mcpServers": { </a:t>
            </a:r>
            <a:r>
              <a:rPr lang="en-US" sz="1200" dirty="0">
                <a:solidFill>
                  <a:srgbClr val="F2B84B"/>
                </a:solidFill>
                <a:latin typeface="JetBrains Mono" pitchFamily="49" charset="0"/>
                <a:ea typeface="JetBrains Mono" pitchFamily="49" charset="-122"/>
                <a:cs typeface="JetBrains Mono" pitchFamily="49" charset="-120"/>
              </a:rPr>
              <a:t>"axaml-inspector"</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"type": "local", "command": "node",</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"args": ["tools/axaml-inspector/server.mjs"],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"tools": ["*"] } } }</a:t>
            </a:r>
            <a:endParaRPr lang="en-US" sz="1200" dirty="0"/>
          </a:p>
        </p:txBody>
      </p:sp>
      <p:sp>
        <p:nvSpPr>
          <p:cNvPr id="10" name="Text 8"/>
          <p:cNvSpPr/>
          <p:nvPr/>
        </p:nvSpPr>
        <p:spPr>
          <a:xfrm>
            <a:off x="5428208" y="3369221"/>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tools/axaml-inspector/server.mjs</a:t>
            </a:r>
            <a:endParaRPr lang="en-US" sz="1200" dirty="0"/>
          </a:p>
        </p:txBody>
      </p:sp>
      <p:sp>
        <p:nvSpPr>
          <p:cNvPr id="11" name="Text 9"/>
          <p:cNvSpPr/>
          <p:nvPr/>
        </p:nvSpPr>
        <p:spPr>
          <a:xfrm>
            <a:off x="5428208" y="3684141"/>
            <a:ext cx="5913685" cy="1854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TOOLS = [{ name: </a:t>
            </a:r>
            <a:r>
              <a:rPr lang="en-US" sz="1200" dirty="0">
                <a:solidFill>
                  <a:srgbClr val="F2B84B"/>
                </a:solidFill>
                <a:latin typeface="JetBrains Mono" pitchFamily="49" charset="0"/>
                <a:ea typeface="JetBrains Mono" pitchFamily="49" charset="-122"/>
                <a:cs typeface="JetBrains Mono" pitchFamily="49" charset="-120"/>
              </a:rPr>
              <a:t>"find_missing_automation_ids"</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description: </a:t>
            </a:r>
            <a:r>
              <a:rPr lang="en-US" sz="1200" dirty="0">
                <a:solidFill>
                  <a:srgbClr val="F2B84B"/>
                </a:solidFill>
                <a:latin typeface="JetBrains Mono" pitchFamily="49" charset="0"/>
                <a:ea typeface="JetBrains Mono" pitchFamily="49" charset="-122"/>
                <a:cs typeface="JetBrains Mono" pitchFamily="49" charset="-120"/>
              </a:rPr>
              <a:t>"Controls without an AutomationId…"</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inputSchema: { type: "object", properties: { path } } }];</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switch</a:t>
            </a:r>
            <a:r>
              <a:rPr lang="en-US" sz="1200" dirty="0">
                <a:solidFill>
                  <a:srgbClr val="D7DEEA"/>
                </a:solidFill>
                <a:latin typeface="JetBrains Mono" pitchFamily="49" charset="0"/>
                <a:ea typeface="JetBrains Mono" pitchFamily="49" charset="-122"/>
                <a:cs typeface="JetBrains Mono" pitchFamily="49" charset="-120"/>
              </a:rPr>
              <a:t> (method)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case</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"initialize"</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7F8BA3"/>
                </a:solidFill>
                <a:latin typeface="JetBrains Mono" pitchFamily="49" charset="0"/>
                <a:ea typeface="JetBrains Mono" pitchFamily="49" charset="-122"/>
                <a:cs typeface="JetBrains Mono" pitchFamily="49" charset="-120"/>
              </a:rPr>
              <a:t>// introduces itself</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case</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"tools/list"</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7F8BA3"/>
                </a:solidFill>
                <a:latin typeface="JetBrains Mono" pitchFamily="49" charset="0"/>
                <a:ea typeface="JetBrains Mono" pitchFamily="49" charset="-122"/>
                <a:cs typeface="JetBrains Mono" pitchFamily="49" charset="-120"/>
              </a:rPr>
              <a:t>// returns TOOLS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case</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"tools/call"</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7F8BA3"/>
                </a:solidFill>
                <a:latin typeface="JetBrains Mono" pitchFamily="49" charset="0"/>
                <a:ea typeface="JetBrains Mono" pitchFamily="49" charset="-122"/>
                <a:cs typeface="JetBrains Mono" pitchFamily="49" charset="-120"/>
              </a:rPr>
              <a:t>// runs and replies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12" name="Text 10"/>
          <p:cNvSpPr/>
          <p:nvPr/>
        </p:nvSpPr>
        <p:spPr>
          <a:xfrm>
            <a:off x="812800" y="6238280"/>
            <a:ext cx="474446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Simplified excerpt of tools/axaml-inspector/server.mjs</a:t>
            </a:r>
            <a:endParaRPr lang="en-US" sz="1200" dirty="0"/>
          </a:p>
        </p:txBody>
      </p:sp>
      <p:sp>
        <p:nvSpPr>
          <p:cNvPr id="13"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4</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A new tool from your own server</a:t>
            </a:r>
            <a:endParaRPr lang="en-US" sz="3200" dirty="0"/>
          </a:p>
        </p:txBody>
      </p:sp>
      <p:sp>
        <p:nvSpPr>
          <p:cNvPr id="4" name="Shape 2"/>
          <p:cNvSpPr/>
          <p:nvPr/>
        </p:nvSpPr>
        <p:spPr>
          <a:xfrm>
            <a:off x="812800" y="1879550"/>
            <a:ext cx="4546600" cy="2231231"/>
          </a:xfrm>
          <a:prstGeom prst="roundRect">
            <a:avLst>
              <a:gd name="adj" fmla="val 4554"/>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Which SampleApp controls have no AutomationId? Use axaml-inspector.</a:t>
            </a:r>
            <a:endParaRPr lang="en-US" sz="1200" dirty="0"/>
          </a:p>
        </p:txBody>
      </p:sp>
      <p:pic>
        <p:nvPicPr>
          <p:cNvPr id="7" name="Image 0" descr="line">    </p:cNvPr>
          <p:cNvPicPr>
            <a:picLocks noChangeAspect="1"/>
          </p:cNvPicPr>
          <p:nvPr/>
        </p:nvPicPr>
        <p:blipFill>
          <a:blip r:embed="rId1"/>
          <a:srcRect l="0" r="0" t="0" b="0"/>
          <a:stretch/>
        </p:blipFill>
        <p:spPr>
          <a:xfrm>
            <a:off x="1066800" y="3007271"/>
            <a:ext cx="4038600" cy="6350"/>
          </a:xfrm>
          <a:prstGeom prst="rect">
            <a:avLst/>
          </a:prstGeom>
        </p:spPr>
      </p:pic>
      <p:sp>
        <p:nvSpPr>
          <p:cNvPr id="8" name="Text 5"/>
          <p:cNvSpPr/>
          <p:nvPr/>
        </p:nvSpPr>
        <p:spPr>
          <a:xfrm>
            <a:off x="1066800" y="31152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430141"/>
            <a:ext cx="41597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native tool call, Find Missing Automation Ids, and the five menu items without an identifier.</a:t>
            </a:r>
            <a:endParaRPr lang="en-US" sz="1200" dirty="0"/>
          </a:p>
        </p:txBody>
      </p:sp>
      <p:sp>
        <p:nvSpPr>
          <p:cNvPr id="10" name="Text 7"/>
          <p:cNvSpPr/>
          <p:nvPr/>
        </p:nvSpPr>
        <p:spPr>
          <a:xfrm>
            <a:off x="812800" y="426318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04-mcp · copilot mcp add axaml-inspector -- node …/server.mjs</a:t>
            </a:r>
            <a:endParaRPr lang="en-US" sz="1200" dirty="0"/>
          </a:p>
        </p:txBody>
      </p:sp>
      <p:pic>
        <p:nvPicPr>
          <p:cNvPr id="11" name="Image 1" descr="GitHub Copilot app: a native call to the axaml-inspector MCP server lists the five menu items without an AutomationId">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a native call to the axaml-inspector server</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5 · LSP SERVERS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Code, as your editor understands it</a:t>
            </a:r>
            <a:endParaRPr lang="en-US" sz="3200" dirty="0"/>
          </a:p>
        </p:txBody>
      </p:sp>
      <p:sp>
        <p:nvSpPr>
          <p:cNvPr id="4" name="Text 2"/>
          <p:cNvSpPr/>
          <p:nvPr/>
        </p:nvSpPr>
        <p:spPr>
          <a:xfrm>
            <a:off x="812800" y="1879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 language server answers with compiler precision: where a symbol is defined, who uses it and how to rename it.</a:t>
            </a:r>
            <a:endParaRPr lang="en-US" sz="1500" dirty="0"/>
          </a:p>
        </p:txBody>
      </p:sp>
      <p:sp>
        <p:nvSpPr>
          <p:cNvPr id="5" name="Text 3"/>
          <p:cNvSpPr/>
          <p:nvPr/>
        </p:nvSpPr>
        <p:spPr>
          <a:xfrm>
            <a:off x="812800" y="28320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Declared in .github/lsp.json for the team or in ~/.copilot/lsp-config.json for you. Check it with /lsp.</a:t>
            </a:r>
            <a:endParaRPr lang="en-US" sz="1500" dirty="0"/>
          </a:p>
        </p:txBody>
      </p:sp>
      <p:sp>
        <p:nvSpPr>
          <p:cNvPr id="6" name="Text 4"/>
          <p:cNvSpPr/>
          <p:nvPr/>
        </p:nvSpPr>
        <p:spPr>
          <a:xfrm>
            <a:off x="812800" y="3784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MCP adds new tools. LSP improves the ones the agent already uses to read and change code.</a:t>
            </a:r>
            <a:endParaRPr lang="en-US" sz="1500" dirty="0"/>
          </a:p>
        </p:txBody>
      </p:sp>
      <p:sp>
        <p:nvSpPr>
          <p:cNvPr id="7" name="Shape 5"/>
          <p:cNvSpPr/>
          <p:nvPr/>
        </p:nvSpPr>
        <p:spPr>
          <a:xfrm>
            <a:off x="5221833" y="1882725"/>
            <a:ext cx="6154192" cy="3242270"/>
          </a:xfrm>
          <a:prstGeom prst="roundRect">
            <a:avLst>
              <a:gd name="adj" fmla="val 3036"/>
            </a:avLst>
          </a:prstGeom>
          <a:solidFill>
            <a:srgbClr val="1A2133"/>
          </a:solidFill>
          <a:ln w="6350">
            <a:solidFill>
              <a:srgbClr val="2B3550"/>
            </a:solidFill>
            <a:prstDash val="solid"/>
          </a:ln>
        </p:spPr>
        <p:txBody>
          <a:bodyPr/>
          <a:p/>
        </p:txBody>
      </p:sp>
      <p:sp>
        <p:nvSpPr>
          <p:cNvPr id="8" name="Text 6"/>
          <p:cNvSpPr/>
          <p:nvPr/>
        </p:nvSpPr>
        <p:spPr>
          <a:xfrm>
            <a:off x="5428208" y="20891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.github/lsp.json</a:t>
            </a:r>
            <a:endParaRPr lang="en-US" sz="1200" dirty="0"/>
          </a:p>
        </p:txBody>
      </p:sp>
      <p:sp>
        <p:nvSpPr>
          <p:cNvPr id="9" name="Text 7"/>
          <p:cNvSpPr/>
          <p:nvPr/>
        </p:nvSpPr>
        <p:spPr>
          <a:xfrm>
            <a:off x="5428208" y="2404021"/>
            <a:ext cx="591368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"lspServers":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"csharp"</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"command": "dotnet",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"args": ["dnx", "roslyn-language-server",</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"--yes", "--prerelease",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"--stdio", "--autoLoadProjects"],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"fileExtensions": { </a:t>
            </a:r>
            <a:r>
              <a:rPr lang="en-US" sz="1200" dirty="0">
                <a:solidFill>
                  <a:srgbClr val="F2B84B"/>
                </a:solidFill>
                <a:latin typeface="JetBrains Mono" pitchFamily="49" charset="0"/>
                <a:ea typeface="JetBrains Mono" pitchFamily="49" charset="-122"/>
                <a:cs typeface="JetBrains Mono" pitchFamily="49" charset="-120"/>
              </a:rPr>
              <a:t>".cs"</a:t>
            </a:r>
            <a:r>
              <a:rPr lang="en-US" sz="1200" dirty="0">
                <a:solidFill>
                  <a:srgbClr val="D7DEEA"/>
                </a:solidFill>
                <a:latin typeface="JetBrains Mono" pitchFamily="49" charset="0"/>
                <a:ea typeface="JetBrains Mono" pitchFamily="49" charset="-122"/>
                <a:cs typeface="JetBrains Mono" pitchFamily="49" charset="-120"/>
              </a:rPr>
              <a:t>: "csharp"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10" name="Text 8"/>
          <p:cNvSpPr/>
          <p:nvPr/>
        </p:nvSpPr>
        <p:spPr>
          <a:xfrm>
            <a:off x="812800" y="6238280"/>
            <a:ext cx="51973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Source: GitHub Docs, Adding LSP servers for GitHub Copilot CLI</a:t>
            </a:r>
            <a:endParaRPr lang="en-US" sz="1200" dirty="0"/>
          </a:p>
        </p:txBody>
      </p:sp>
      <p:sp>
        <p:nvSpPr>
          <p:cNvPr id="11" name="Text 9"/>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5</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Real references, not text matches</a:t>
            </a:r>
            <a:endParaRPr lang="en-US" sz="3200" dirty="0"/>
          </a:p>
        </p:txBody>
      </p:sp>
      <p:sp>
        <p:nvSpPr>
          <p:cNvPr id="4" name="Text 2"/>
          <p:cNvSpPr/>
          <p:nvPr/>
        </p:nvSpPr>
        <p:spPr>
          <a:xfrm>
            <a:off x="855712" y="1981150"/>
            <a:ext cx="4288017" cy="2363391"/>
          </a:xfrm>
          <a:prstGeom prst="rect">
            <a:avLst/>
          </a:prstGeom>
          <a:noFill/>
          <a:ln/>
        </p:spPr>
        <p:txBody>
          <a:bodyPr wrap="square" lIns="0" tIns="0" rIns="0" bIns="0" rtlCol="0" anchor="t">
            <a:normAutofit/>
          </a:bodyPr>
          <a:lstStyle/>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Open the 05-lsp project and check the server with /lsp test csharp.</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Ask the question.</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Compare with a text search for the same word.</a:t>
            </a:r>
            <a:endParaRPr lang="en-US" sz="1500" dirty="0"/>
          </a:p>
        </p:txBody>
      </p:sp>
      <p:sp>
        <p:nvSpPr>
          <p:cNvPr id="5" name="Shape 3"/>
          <p:cNvSpPr/>
          <p:nvPr/>
        </p:nvSpPr>
        <p:spPr>
          <a:xfrm>
            <a:off x="5329783" y="1981150"/>
            <a:ext cx="6049417" cy="2337991"/>
          </a:xfrm>
          <a:prstGeom prst="roundRect">
            <a:avLst>
              <a:gd name="adj" fmla="val 4346"/>
            </a:avLst>
          </a:prstGeom>
          <a:solidFill>
            <a:srgbClr val="161A26"/>
          </a:solidFill>
          <a:ln/>
        </p:spPr>
        <p:txBody>
          <a:bodyPr/>
          <a:p/>
        </p:txBody>
      </p:sp>
      <p:sp>
        <p:nvSpPr>
          <p:cNvPr id="6" name="Text 4"/>
          <p:cNvSpPr/>
          <p:nvPr/>
        </p:nvSpPr>
        <p:spPr>
          <a:xfrm>
            <a:off x="5583783" y="2235150"/>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7" name="Text 5"/>
          <p:cNvSpPr/>
          <p:nvPr/>
        </p:nvSpPr>
        <p:spPr>
          <a:xfrm>
            <a:off x="5583783" y="2550071"/>
            <a:ext cx="5707659"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Where is UseCopilotAvalonia defined and who calls it? Use the language server, not a text search.</a:t>
            </a:r>
            <a:endParaRPr lang="en-US" sz="1200" dirty="0"/>
          </a:p>
        </p:txBody>
      </p:sp>
      <p:pic>
        <p:nvPicPr>
          <p:cNvPr id="8" name="Image 0" descr="line">    </p:cNvPr>
          <p:cNvPicPr>
            <a:picLocks noChangeAspect="1"/>
          </p:cNvPicPr>
          <p:nvPr/>
        </p:nvPicPr>
        <p:blipFill>
          <a:blip r:embed="rId1"/>
          <a:srcRect l="0" r="0" t="-16" b="-16"/>
          <a:stretch/>
        </p:blipFill>
        <p:spPr>
          <a:xfrm>
            <a:off x="5583783" y="3108871"/>
            <a:ext cx="5541417" cy="6350"/>
          </a:xfrm>
          <a:prstGeom prst="rect">
            <a:avLst/>
          </a:prstGeom>
        </p:spPr>
      </p:pic>
      <p:sp>
        <p:nvSpPr>
          <p:cNvPr id="9" name="Text 6"/>
          <p:cNvSpPr/>
          <p:nvPr/>
        </p:nvSpPr>
        <p:spPr>
          <a:xfrm>
            <a:off x="5583783" y="3216821"/>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10" name="Text 7"/>
          <p:cNvSpPr/>
          <p:nvPr/>
        </p:nvSpPr>
        <p:spPr>
          <a:xfrm>
            <a:off x="5583783" y="3531741"/>
            <a:ext cx="570765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One definition and one call. A text search returns 13 lines in 7 files, across docs and comments.</a:t>
            </a:r>
            <a:endParaRPr lang="en-US" sz="1500" dirty="0"/>
          </a:p>
        </p:txBody>
      </p:sp>
      <p:sp>
        <p:nvSpPr>
          <p:cNvPr id="11" name="Text 8"/>
          <p:cNvSpPr/>
          <p:nvPr/>
        </p:nvSpPr>
        <p:spPr>
          <a:xfrm>
            <a:off x="812800" y="462394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05-lsp · requires the .NET 10 SDK</a:t>
            </a:r>
            <a:endParaRPr lang="en-US" sz="1200" dirty="0"/>
          </a:p>
        </p:txBody>
      </p:sp>
      <p:sp>
        <p:nvSpPr>
          <p:cNvPr id="12" name="Text 9"/>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0"/>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6 · HOOKS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Guardrails that don't depend on the model</a:t>
            </a:r>
            <a:endParaRPr lang="en-US" sz="3200" dirty="0"/>
          </a:p>
        </p:txBody>
      </p:sp>
      <p:sp>
        <p:nvSpPr>
          <p:cNvPr id="4" name="Text 2"/>
          <p:cNvSpPr/>
          <p:nvPr/>
        </p:nvSpPr>
        <p:spPr>
          <a:xfrm>
            <a:off x="812800" y="18287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 hook is a command Copilot runs at a point in the session: at start, before or after each tool, at the end.</a:t>
            </a:r>
            <a:endParaRPr lang="en-US" sz="1500" dirty="0"/>
          </a:p>
        </p:txBody>
      </p:sp>
      <p:sp>
        <p:nvSpPr>
          <p:cNvPr id="5" name="Text 3"/>
          <p:cNvSpPr/>
          <p:nvPr/>
        </p:nvSpPr>
        <p:spPr>
          <a:xfrm>
            <a:off x="812800" y="27812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preToolUse receives the tool and its arguments on stdin. If it answers deny, the tool doesn't run.</a:t>
            </a:r>
            <a:endParaRPr lang="en-US" sz="1500" dirty="0"/>
          </a:p>
        </p:txBody>
      </p:sp>
      <p:sp>
        <p:nvSpPr>
          <p:cNvPr id="6" name="Text 4"/>
          <p:cNvSpPr/>
          <p:nvPr/>
        </p:nvSpPr>
        <p:spPr>
          <a:xfrm>
            <a:off x="812800" y="37337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 rules are a deny-list: force pushes, git reset --hard, rm -rf and writes to .github/workflows or LICENSE.</a:t>
            </a:r>
            <a:endParaRPr lang="en-US" sz="1500" dirty="0"/>
          </a:p>
        </p:txBody>
      </p:sp>
      <p:sp>
        <p:nvSpPr>
          <p:cNvPr id="7" name="Text 5"/>
          <p:cNvSpPr/>
          <p:nvPr/>
        </p:nvSpPr>
        <p:spPr>
          <a:xfrm>
            <a:off x="812800" y="46862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The model isn't asked to comply: what's on the list is stopped. Not a sandbox.</a:t>
            </a:r>
            <a:endParaRPr lang="en-US" sz="1500" dirty="0"/>
          </a:p>
        </p:txBody>
      </p:sp>
      <p:sp>
        <p:nvSpPr>
          <p:cNvPr id="8" name="Shape 6"/>
          <p:cNvSpPr/>
          <p:nvPr/>
        </p:nvSpPr>
        <p:spPr>
          <a:xfrm>
            <a:off x="5221833" y="1831925"/>
            <a:ext cx="6154192" cy="3658791"/>
          </a:xfrm>
          <a:prstGeom prst="roundRect">
            <a:avLst>
              <a:gd name="adj" fmla="val 2690"/>
            </a:avLst>
          </a:prstGeom>
          <a:solidFill>
            <a:srgbClr val="1A2133"/>
          </a:solidFill>
          <a:ln w="6350">
            <a:solidFill>
              <a:srgbClr val="2B3550"/>
            </a:solidFill>
            <a:prstDash val="solid"/>
          </a:ln>
        </p:spPr>
        <p:txBody>
          <a:bodyPr/>
          <a:p/>
        </p:txBody>
      </p:sp>
      <p:sp>
        <p:nvSpPr>
          <p:cNvPr id="9" name="Text 7"/>
          <p:cNvSpPr/>
          <p:nvPr/>
        </p:nvSpPr>
        <p:spPr>
          <a:xfrm>
            <a:off x="5428208" y="20383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.github/hooks/guardrails.json</a:t>
            </a:r>
            <a:endParaRPr lang="en-US" sz="1200" dirty="0"/>
          </a:p>
        </p:txBody>
      </p:sp>
      <p:sp>
        <p:nvSpPr>
          <p:cNvPr id="10" name="Text 8"/>
          <p:cNvSpPr/>
          <p:nvPr/>
        </p:nvSpPr>
        <p:spPr>
          <a:xfrm>
            <a:off x="5428208" y="2353221"/>
            <a:ext cx="5913685"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"version": 1, "hooks": { </a:t>
            </a:r>
            <a:r>
              <a:rPr lang="en-US" sz="1200" dirty="0">
                <a:solidFill>
                  <a:srgbClr val="F2B84B"/>
                </a:solidFill>
                <a:latin typeface="JetBrains Mono" pitchFamily="49" charset="0"/>
                <a:ea typeface="JetBrains Mono" pitchFamily="49" charset="-122"/>
                <a:cs typeface="JetBrains Mono" pitchFamily="49" charset="-120"/>
              </a:rPr>
              <a:t>"preToolUse"</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"type": "command", "timeoutSec": 10,</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"bash": "node .github/hooks/guard.mjs",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"powershell": "node .github/hooks/guard.mjs" }] } }</a:t>
            </a:r>
            <a:endParaRPr lang="en-US" sz="1200" dirty="0"/>
          </a:p>
        </p:txBody>
      </p:sp>
      <p:sp>
        <p:nvSpPr>
          <p:cNvPr id="11" name="Text 9"/>
          <p:cNvSpPr/>
          <p:nvPr/>
        </p:nvSpPr>
        <p:spPr>
          <a:xfrm>
            <a:off x="5428208" y="3369221"/>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.github/hooks/guard.mjs</a:t>
            </a:r>
            <a:endParaRPr lang="en-US" sz="1200" dirty="0"/>
          </a:p>
        </p:txBody>
      </p:sp>
      <p:sp>
        <p:nvSpPr>
          <p:cNvPr id="12" name="Text 10"/>
          <p:cNvSpPr/>
          <p:nvPr/>
        </p:nvSpPr>
        <p:spPr>
          <a:xfrm>
            <a:off x="5428208" y="3684141"/>
            <a:ext cx="5913685" cy="1625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input = JSON.parse(</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readStdin());</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args = parseArgs(input.toolArgs);</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reason = decide(input.toolName, args);</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(reason) process.stdout.write(JSON.stringify({</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permissionDecision: </a:t>
            </a:r>
            <a:r>
              <a:rPr lang="en-US" sz="1200" dirty="0">
                <a:solidFill>
                  <a:srgbClr val="F2B84B"/>
                </a:solidFill>
                <a:latin typeface="JetBrains Mono" pitchFamily="49" charset="0"/>
                <a:ea typeface="JetBrains Mono" pitchFamily="49" charset="-122"/>
                <a:cs typeface="JetBrains Mono" pitchFamily="49" charset="-120"/>
              </a:rPr>
              <a:t>"deny"</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permissionDecisionReason: reason }));</a:t>
            </a:r>
            <a:endParaRPr lang="en-US" sz="1200" dirty="0"/>
          </a:p>
          <a:p>
            <a:pPr algn="l" indent="0" marL="0">
              <a:lnSpc>
                <a:spcPts val="1800"/>
              </a:lnSpc>
              <a:buNone/>
            </a:pPr>
            <a:r>
              <a:rPr lang="en-US" sz="1200" dirty="0">
                <a:solidFill>
                  <a:srgbClr val="7F8BA3"/>
                </a:solidFill>
                <a:latin typeface="JetBrains Mono" pitchFamily="49" charset="0"/>
                <a:ea typeface="JetBrains Mono" pitchFamily="49" charset="-122"/>
                <a:cs typeface="JetBrains Mono" pitchFamily="49" charset="-120"/>
              </a:rPr>
              <a:t>// No output: the tool goes ahead.</a:t>
            </a:r>
            <a:endParaRPr lang="en-US" sz="1200" dirty="0"/>
          </a:p>
        </p:txBody>
      </p:sp>
      <p:sp>
        <p:nvSpPr>
          <p:cNvPr id="13" name="Text 11"/>
          <p:cNvSpPr/>
          <p:nvPr/>
        </p:nvSpPr>
        <p:spPr>
          <a:xfrm>
            <a:off x="812800" y="6238280"/>
            <a:ext cx="298793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Excerpt of .github/hooks/guard.mjs</a:t>
            </a:r>
            <a:endParaRPr lang="en-US" sz="1200" dirty="0"/>
          </a:p>
        </p:txBody>
      </p:sp>
      <p:sp>
        <p:nvSpPr>
          <p:cNvPr id="14" name="Text 12"/>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6</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An rm -rf that never runs</a:t>
            </a:r>
            <a:endParaRPr lang="en-US" sz="3200" dirty="0"/>
          </a:p>
        </p:txBody>
      </p:sp>
      <p:sp>
        <p:nvSpPr>
          <p:cNvPr id="4" name="Shape 2"/>
          <p:cNvSpPr/>
          <p:nvPr/>
        </p:nvSpPr>
        <p:spPr>
          <a:xfrm>
            <a:off x="812800" y="1879550"/>
            <a:ext cx="4546600" cy="2673152"/>
          </a:xfrm>
          <a:prstGeom prst="roundRect">
            <a:avLst>
              <a:gd name="adj" fmla="val 3801"/>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Create a tmp-demo folder with a text file inside, then delete it with rm -rf tmp-demo.</a:t>
            </a:r>
            <a:endParaRPr lang="en-US" sz="1200" dirty="0"/>
          </a:p>
        </p:txBody>
      </p:sp>
      <p:pic>
        <p:nvPicPr>
          <p:cNvPr id="7" name="Image 0" descr="line">    </p:cNvPr>
          <p:cNvPicPr>
            <a:picLocks noChangeAspect="1"/>
          </p:cNvPicPr>
          <p:nvPr/>
        </p:nvPicPr>
        <p:blipFill>
          <a:blip r:embed="rId1"/>
          <a:srcRect l="0" r="0" t="0" b="0"/>
          <a:stretch/>
        </p:blipFill>
        <p:spPr>
          <a:xfrm>
            <a:off x="1066800" y="3235871"/>
            <a:ext cx="4038600" cy="6350"/>
          </a:xfrm>
          <a:prstGeom prst="rect">
            <a:avLst/>
          </a:prstGeom>
        </p:spPr>
      </p:pic>
      <p:sp>
        <p:nvSpPr>
          <p:cNvPr id="8" name="Text 5"/>
          <p:cNvSpPr/>
          <p:nvPr/>
        </p:nvSpPr>
        <p:spPr>
          <a:xfrm>
            <a:off x="1066800" y="33438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6587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The rm -rf is denied before it runs and the log records DENY. The agent may then work around it.</a:t>
            </a:r>
            <a:endParaRPr lang="en-US" sz="1200" dirty="0"/>
          </a:p>
        </p:txBody>
      </p:sp>
      <p:sp>
        <p:nvSpPr>
          <p:cNvPr id="10" name="Text 7"/>
          <p:cNvSpPr/>
          <p:nvPr/>
        </p:nvSpPr>
        <p:spPr>
          <a:xfrm>
            <a:off x="812800" y="4705102"/>
            <a:ext cx="46829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06-hooks · tail -5 "$TMPDIR/copilot-talk-audit.log"</a:t>
            </a:r>
            <a:endParaRPr lang="en-US" sz="1200" dirty="0"/>
          </a:p>
        </p:txBody>
      </p:sp>
      <p:pic>
        <p:nvPicPr>
          <p:cNvPr id="11" name="Image 1" descr="GitHub Copilot app: the command was blocked by a safety guard">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the hook denies the rm -rf before it runs</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5B46E0"/>
        </a:solidFill>
      </p:bgPr>
    </p:bg>
    <p:spTree>
      <p:nvGrpSpPr>
        <p:cNvPr id="1" name=""/>
        <p:cNvGrpSpPr/>
        <p:nvPr/>
      </p:nvGrpSpPr>
      <p:grpSpPr>
        <a:xfrm>
          <a:off x="0" y="0"/>
          <a:ext cx="0" cy="0"/>
          <a:chOff x="0" y="0"/>
          <a:chExt cx="0" cy="0"/>
        </a:xfrm>
      </p:grpSpPr>
      <p:sp>
        <p:nvSpPr>
          <p:cNvPr id="2" name="Text 0"/>
          <p:cNvSpPr/>
          <p:nvPr>
            <p:ph type="title"/>
          </p:nvPr>
        </p:nvSpPr>
        <p:spPr>
          <a:xfrm>
            <a:off x="812800" y="2098080"/>
            <a:ext cx="10883392" cy="1518841"/>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7F5FF"/>
                </a:solidFill>
                <a:latin typeface="Space Grotesk" pitchFamily="34" charset="0"/>
                <a:ea typeface="Space Grotesk" pitchFamily="34" charset="-122"/>
                <a:cs typeface="Space Grotesk" pitchFamily="34" charset="-120"/>
              </a:rPr>
              <a:t>So far, files.</a:t>
            </a:r>
            <a:endParaRPr lang="en-US" sz="5600" dirty="0"/>
          </a:p>
          <a:p>
            <a:pPr algn="l" indent="0" marL="0">
              <a:lnSpc>
                <a:spcPts val="5880"/>
              </a:lnSpc>
              <a:buNone/>
            </a:pPr>
            <a:r>
              <a:rPr lang="en-US" sz="5600" b="1" i="0" dirty="0">
                <a:solidFill>
                  <a:srgbClr val="F7F5FF"/>
                </a:solidFill>
                <a:latin typeface="Space Grotesk" pitchFamily="34" charset="0"/>
                <a:ea typeface="Space Grotesk" pitchFamily="34" charset="-122"/>
                <a:cs typeface="Space Grotesk" pitchFamily="34" charset="-120"/>
              </a:rPr>
              <a:t>From here, code.</a:t>
            </a:r>
            <a:endParaRPr lang="en-US" sz="5600" dirty="0"/>
          </a:p>
        </p:txBody>
      </p:sp>
      <p:sp>
        <p:nvSpPr>
          <p:cNvPr id="3" name="Text 1"/>
          <p:cNvSpPr/>
          <p:nvPr/>
        </p:nvSpPr>
        <p:spPr>
          <a:xfrm>
            <a:off x="812800" y="3896320"/>
            <a:ext cx="8371840"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DCD6FF"/>
                </a:solidFill>
                <a:latin typeface="IBM Plex Sans" pitchFamily="34" charset="0"/>
                <a:ea typeface="IBM Plex Sans" pitchFamily="34" charset="-122"/>
                <a:cs typeface="IBM Plex Sans" pitchFamily="34" charset="-120"/>
              </a:rPr>
              <a:t>Instructions, skills, agents, servers and hooks are declared. Extensions and canvases are programmed with the SDK.</a:t>
            </a:r>
            <a:endParaRPr lang="en-US" sz="2000" dirty="0"/>
          </a:p>
        </p:txBody>
      </p:sp>
      <p:sp>
        <p:nvSpPr>
          <p:cNvPr id="4" name="Text 2"/>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CD6FF"/>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5" name="Text 3"/>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CD6FF"/>
                </a:solidFill>
                <a:latin typeface="IBM Plex Sans" pitchFamily="34" charset="0"/>
                <a:ea typeface="IBM Plex Sans" pitchFamily="34" charset="-122"/>
                <a:cs typeface="IBM Plex Sans"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7 · EXTENSIONS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A Node process inside your session</a:t>
            </a:r>
            <a:endParaRPr lang="en-US" sz="3200" dirty="0"/>
          </a:p>
        </p:txBody>
      </p:sp>
      <p:sp>
        <p:nvSpPr>
          <p:cNvPr id="4" name="Text 2"/>
          <p:cNvSpPr/>
          <p:nvPr/>
        </p:nvSpPr>
        <p:spPr>
          <a:xfrm>
            <a:off x="812800" y="18287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Copilot discovers each extension.mjs, launches it as a child process and they talk over JSON-RPC on stdio.</a:t>
            </a:r>
            <a:endParaRPr lang="en-US" sz="1500" dirty="0"/>
          </a:p>
        </p:txBody>
      </p:sp>
      <p:sp>
        <p:nvSpPr>
          <p:cNvPr id="5" name="Text 3"/>
          <p:cNvSpPr/>
          <p:nvPr/>
        </p:nvSpPr>
        <p:spPr>
          <a:xfrm>
            <a:off x="812800" y="27812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joinSession registers tools, hooks and events. The SDK resolves itself: no npm install.</a:t>
            </a:r>
            <a:endParaRPr lang="en-US" sz="1500" dirty="0"/>
          </a:p>
        </p:txBody>
      </p:sp>
      <p:sp>
        <p:nvSpPr>
          <p:cNvPr id="6" name="Text 4"/>
          <p:cNvSpPr/>
          <p:nvPr/>
        </p:nvSpPr>
        <p:spPr>
          <a:xfrm>
            <a:off x="812800" y="37337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It lives as long as the session: hooks have memory and state persists between calls.</a:t>
            </a:r>
            <a:endParaRPr lang="en-US" sz="1500" dirty="0"/>
          </a:p>
        </p:txBody>
      </p:sp>
      <p:sp>
        <p:nvSpPr>
          <p:cNvPr id="7" name="Text 5"/>
          <p:cNvSpPr/>
          <p:nvPr/>
        </p:nvSpPr>
        <p:spPr>
          <a:xfrm>
            <a:off x="812800" y="46862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stdout belongs to the protocol. To write to the session, use session.log().</a:t>
            </a:r>
            <a:endParaRPr lang="en-US" sz="1500" dirty="0"/>
          </a:p>
        </p:txBody>
      </p:sp>
      <p:sp>
        <p:nvSpPr>
          <p:cNvPr id="8" name="Shape 6"/>
          <p:cNvSpPr/>
          <p:nvPr/>
        </p:nvSpPr>
        <p:spPr>
          <a:xfrm>
            <a:off x="5221833" y="1831925"/>
            <a:ext cx="6154192" cy="3699470"/>
          </a:xfrm>
          <a:prstGeom prst="roundRect">
            <a:avLst>
              <a:gd name="adj" fmla="val 2661"/>
            </a:avLst>
          </a:prstGeom>
          <a:solidFill>
            <a:srgbClr val="1A2133"/>
          </a:solidFill>
          <a:ln w="6350">
            <a:solidFill>
              <a:srgbClr val="2B3550"/>
            </a:solidFill>
            <a:prstDash val="solid"/>
          </a:ln>
        </p:spPr>
        <p:txBody>
          <a:bodyPr/>
          <a:p/>
        </p:txBody>
      </p:sp>
      <p:sp>
        <p:nvSpPr>
          <p:cNvPr id="9" name="Text 7"/>
          <p:cNvSpPr/>
          <p:nvPr/>
        </p:nvSpPr>
        <p:spPr>
          <a:xfrm>
            <a:off x="5428208" y="20383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.github/extensions/avalonia-tools/extension.mjs</a:t>
            </a:r>
            <a:endParaRPr lang="en-US" sz="1200" dirty="0"/>
          </a:p>
        </p:txBody>
      </p:sp>
      <p:sp>
        <p:nvSpPr>
          <p:cNvPr id="10" name="Text 8"/>
          <p:cNvSpPr/>
          <p:nvPr/>
        </p:nvSpPr>
        <p:spPr>
          <a:xfrm>
            <a:off x="5428208" y="2353221"/>
            <a:ext cx="5913685" cy="2997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session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joinSession({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tools: [{ name: </a:t>
            </a:r>
            <a:r>
              <a:rPr lang="en-US" sz="1200" dirty="0">
                <a:solidFill>
                  <a:srgbClr val="F2B84B"/>
                </a:solidFill>
                <a:latin typeface="JetBrains Mono" pitchFamily="49" charset="0"/>
                <a:ea typeface="JetBrains Mono" pitchFamily="49" charset="-122"/>
                <a:cs typeface="JetBrains Mono" pitchFamily="49" charset="-120"/>
              </a:rPr>
              <a:t>"avalonia_project_info"</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handler: async (args) =&gt; info(args.path)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hooks: { onUserPromptSubmitted: async ({ prompt }) =&gt;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(!/\b(canvas|ui|screen)\b/i.test(prompt)) return;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return</a:t>
            </a:r>
            <a:r>
              <a:rPr lang="en-US" sz="1200" dirty="0">
                <a:solidFill>
                  <a:srgbClr val="D7DEEA"/>
                </a:solidFill>
                <a:latin typeface="JetBrains Mono" pitchFamily="49" charset="0"/>
                <a:ea typeface="JetBrains Mono" pitchFamily="49" charset="-122"/>
                <a:cs typeface="JetBrains Mono" pitchFamily="49" charset="-120"/>
              </a:rPr>
              <a:t> { additionalContext: </a:t>
            </a:r>
            <a:r>
              <a:rPr lang="en-US" sz="1200" dirty="0">
                <a:solidFill>
                  <a:srgbClr val="F2B84B"/>
                </a:solidFill>
                <a:latin typeface="JetBrains Mono" pitchFamily="49" charset="0"/>
                <a:ea typeface="JetBrains Mono" pitchFamily="49" charset="-122"/>
                <a:cs typeface="JetBrains Mono" pitchFamily="49" charset="-120"/>
              </a:rPr>
              <a:t>"Before opening an "</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"canvas, call avalonia_project_info."</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let</a:t>
            </a:r>
            <a:r>
              <a:rPr lang="en-US" sz="1200" dirty="0">
                <a:solidFill>
                  <a:srgbClr val="D7DEEA"/>
                </a:solidFill>
                <a:latin typeface="JetBrains Mono" pitchFamily="49" charset="0"/>
                <a:ea typeface="JetBrains Mono" pitchFamily="49" charset="-122"/>
                <a:cs typeface="JetBrains Mono" pitchFamily="49" charset="-120"/>
              </a:rPr>
              <a:t> toolCalls = 0;</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session.on(</a:t>
            </a:r>
            <a:r>
              <a:rPr lang="en-US" sz="1200" dirty="0">
                <a:solidFill>
                  <a:srgbClr val="F2B84B"/>
                </a:solidFill>
                <a:latin typeface="JetBrains Mono" pitchFamily="49" charset="0"/>
                <a:ea typeface="JetBrains Mono" pitchFamily="49" charset="-122"/>
                <a:cs typeface="JetBrains Mono" pitchFamily="49" charset="-120"/>
              </a:rPr>
              <a:t>"tool.execution_complete"</a:t>
            </a:r>
            <a:r>
              <a:rPr lang="en-US" sz="1200" dirty="0">
                <a:solidFill>
                  <a:srgbClr val="D7DEEA"/>
                </a:solidFill>
                <a:latin typeface="JetBrains Mono" pitchFamily="49" charset="0"/>
                <a:ea typeface="JetBrains Mono" pitchFamily="49" charset="-122"/>
                <a:cs typeface="JetBrains Mono" pitchFamily="49" charset="-120"/>
              </a:rPr>
              <a:t>, () =&gt; toolCalls++);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session.on(</a:t>
            </a:r>
            <a:r>
              <a:rPr lang="en-US" sz="1200" dirty="0">
                <a:solidFill>
                  <a:srgbClr val="F2B84B"/>
                </a:solidFill>
                <a:latin typeface="JetBrains Mono" pitchFamily="49" charset="0"/>
                <a:ea typeface="JetBrains Mono" pitchFamily="49" charset="-122"/>
                <a:cs typeface="JetBrains Mono" pitchFamily="49" charset="-120"/>
              </a:rPr>
              <a:t>"session.idle"</a:t>
            </a:r>
            <a:r>
              <a:rPr lang="en-US" sz="1200" dirty="0">
                <a:solidFill>
                  <a:srgbClr val="D7DEEA"/>
                </a:solidFill>
                <a:latin typeface="JetBrains Mono" pitchFamily="49" charset="0"/>
                <a:ea typeface="JetBrains Mono" pitchFamily="49" charset="-122"/>
                <a:cs typeface="JetBrains Mono" pitchFamily="49" charset="-120"/>
              </a:rPr>
              <a:t>, () =&gt;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session.log(`${toolCalls} tools run in this turn`));</a:t>
            </a:r>
            <a:endParaRPr lang="en-US" sz="1200" dirty="0"/>
          </a:p>
        </p:txBody>
      </p:sp>
      <p:sp>
        <p:nvSpPr>
          <p:cNvPr id="11" name="Text 9"/>
          <p:cNvSpPr/>
          <p:nvPr/>
        </p:nvSpPr>
        <p:spPr>
          <a:xfrm>
            <a:off x="812800" y="6238280"/>
            <a:ext cx="59846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Simplified excerpt of .github/extensions/avalonia-tools/extension.mjs</a:t>
            </a:r>
            <a:endParaRPr lang="en-US" sz="1200" dirty="0"/>
          </a:p>
        </p:txBody>
      </p:sp>
      <p:sp>
        <p:nvSpPr>
          <p:cNvPr id="12" name="Text 10"/>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7 · EXTENSIONS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Everything joinSession accepts</a:t>
            </a:r>
            <a:endParaRPr lang="en-US" sz="3200" dirty="0"/>
          </a:p>
        </p:txBody>
      </p:sp>
      <p:sp>
        <p:nvSpPr>
          <p:cNvPr id="4" name="Shape 2"/>
          <p:cNvSpPr/>
          <p:nvPr/>
        </p:nvSpPr>
        <p:spPr>
          <a:xfrm>
            <a:off x="11376025" y="1828750"/>
            <a:ext cx="0" cy="3013174"/>
          </a:xfrm>
          <a:prstGeom prst="line">
            <a:avLst/>
          </a:prstGeom>
          <a:noFill/>
          <a:ln w="6350">
            <a:solidFill>
              <a:srgbClr val="2B3550"/>
            </a:solidFill>
            <a:prstDash val="solid"/>
          </a:ln>
        </p:spPr>
        <p:txBody>
          <a:bodyPr/>
          <a:p/>
        </p:txBody>
      </p:sp>
      <p:sp>
        <p:nvSpPr>
          <p:cNvPr id="5" name="Shape 3"/>
          <p:cNvSpPr/>
          <p:nvPr/>
        </p:nvSpPr>
        <p:spPr>
          <a:xfrm>
            <a:off x="812800" y="4838750"/>
            <a:ext cx="10566400" cy="0"/>
          </a:xfrm>
          <a:prstGeom prst="line">
            <a:avLst/>
          </a:prstGeom>
          <a:noFill/>
          <a:ln w="6350">
            <a:solidFill>
              <a:srgbClr val="2B3550"/>
            </a:solidFill>
            <a:prstDash val="solid"/>
          </a:ln>
        </p:spPr>
        <p:txBody>
          <a:bodyPr/>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841450"/>
          <a:ext cx="10547350" cy="2994124"/>
        </p:xfrm>
        <a:graphic>
          <a:graphicData uri="http://schemas.openxmlformats.org/drawingml/2006/table">
            <a:tbl>
              <a:tblPr/>
              <a:tblGrid>
                <a:gridCol w="3586099"/>
                <a:gridCol w="6961251"/>
              </a:tblGrid>
              <a:tr h="332680">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Option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What it adds to the session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tools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New tools, with their schema and handler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hooks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Intercept prompts, tools and errors, with in-memory state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commands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Custom slash commands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canvases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Interfaces in the side panel, shared with the agent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customAgents, mcpServers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Agents and MCP servers declared from code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systemMessage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Extend or adjust the system prompt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requestedEnvironmentVariables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Request a secret by name, with the person's approval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workflows (experimental)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Coordinate subagents in phases and durable steps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bl>
          </a:graphicData>
        </a:graphic>
      </p:graphicFrame>
      <p:sp>
        <p:nvSpPr>
          <p:cNvPr id="7" name="Text 4"/>
          <p:cNvSpPr/>
          <p:nvPr/>
        </p:nvSpPr>
        <p:spPr>
          <a:xfrm>
            <a:off x="812800" y="5095925"/>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And with the session in hand: session.send to talk to the agent, session.on to listen, session.log to report and session.ui to ask.</a:t>
            </a:r>
            <a:endParaRPr lang="en-US" sz="1200" dirty="0"/>
          </a:p>
        </p:txBody>
      </p:sp>
      <p:sp>
        <p:nvSpPr>
          <p:cNvPr id="8" name="Text 5"/>
          <p:cNvSpPr/>
          <p:nvPr/>
        </p:nvSpPr>
        <p:spPr>
          <a:xfrm>
            <a:off x="812800" y="6238280"/>
            <a:ext cx="50725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Source: types and documentation of @github/copilot-sdk 1.0.16</a:t>
            </a:r>
            <a:endParaRPr lang="en-US" sz="1200" dirty="0"/>
          </a:p>
        </p:txBody>
      </p:sp>
      <p:sp>
        <p:nvSpPr>
          <p:cNvPr id="9" name="Text 6"/>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7</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One tool, two hooks and one event</a:t>
            </a:r>
            <a:endParaRPr lang="en-US" sz="3200" dirty="0"/>
          </a:p>
        </p:txBody>
      </p:sp>
      <p:sp>
        <p:nvSpPr>
          <p:cNvPr id="4" name="Shape 2"/>
          <p:cNvSpPr/>
          <p:nvPr/>
        </p:nvSpPr>
        <p:spPr>
          <a:xfrm>
            <a:off x="812800" y="1879550"/>
            <a:ext cx="4546600" cy="2444552"/>
          </a:xfrm>
          <a:prstGeom prst="roundRect">
            <a:avLst>
              <a:gd name="adj" fmla="val 4156"/>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Is src/SampleApp ready to open in a canvas?</a:t>
            </a:r>
            <a:endParaRPr lang="en-US" sz="1200" dirty="0"/>
          </a:p>
        </p:txBody>
      </p:sp>
      <p:pic>
        <p:nvPicPr>
          <p:cNvPr id="7" name="Image 0" descr="line">    </p:cNvPr>
          <p:cNvPicPr>
            <a:picLocks noChangeAspect="1"/>
          </p:cNvPicPr>
          <p:nvPr/>
        </p:nvPicPr>
        <p:blipFill>
          <a:blip r:embed="rId1"/>
          <a:srcRect l="0" r="0" t="0" b="0"/>
          <a:stretch/>
        </p:blipFill>
        <p:spPr>
          <a:xfrm>
            <a:off x="1066800" y="3007271"/>
            <a:ext cx="4038600" cy="6350"/>
          </a:xfrm>
          <a:prstGeom prst="rect">
            <a:avLst/>
          </a:prstGeom>
        </p:spPr>
      </p:pic>
      <p:sp>
        <p:nvSpPr>
          <p:cNvPr id="8" name="Text 5"/>
          <p:cNvSpPr/>
          <p:nvPr/>
        </p:nvSpPr>
        <p:spPr>
          <a:xfrm>
            <a:off x="1066800" y="31152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4301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The hook adds context to the prompt, the agent calls avalonia_project_info and answers canvasReady: true, Avalonia 11.3 and net8.0.</a:t>
            </a:r>
            <a:endParaRPr lang="en-US" sz="1200" dirty="0"/>
          </a:p>
        </p:txBody>
      </p:sp>
      <p:sp>
        <p:nvSpPr>
          <p:cNvPr id="10" name="Text 7"/>
          <p:cNvSpPr/>
          <p:nvPr/>
        </p:nvSpPr>
        <p:spPr>
          <a:xfrm>
            <a:off x="812800" y="447650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07-extension</a:t>
            </a:r>
            <a:endParaRPr lang="en-US" sz="1200" dirty="0"/>
          </a:p>
        </p:txBody>
      </p:sp>
      <p:pic>
        <p:nvPicPr>
          <p:cNvPr id="11" name="Image 1" descr="GitHub Copilot app: a single avalonia_project_info call answers that SampleApp is ready">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a single call to avalonia_project_info</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7 · EXTENSIONS · DYNAMIC WORKFLOWS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The same hierarchy, written in code</a:t>
            </a:r>
            <a:endParaRPr lang="en-US" sz="3200" dirty="0"/>
          </a:p>
        </p:txBody>
      </p:sp>
      <p:sp>
        <p:nvSpPr>
          <p:cNvPr id="4" name="Shape 2"/>
          <p:cNvSpPr/>
          <p:nvPr/>
        </p:nvSpPr>
        <p:spPr>
          <a:xfrm>
            <a:off x="815975" y="1831925"/>
            <a:ext cx="5175250" cy="3242270"/>
          </a:xfrm>
          <a:prstGeom prst="roundRect">
            <a:avLst>
              <a:gd name="adj" fmla="val 3036"/>
            </a:avLst>
          </a:prstGeom>
          <a:solidFill>
            <a:srgbClr val="1A2133"/>
          </a:solidFill>
          <a:ln w="6350">
            <a:solidFill>
              <a:srgbClr val="2B3550"/>
            </a:solidFill>
            <a:prstDash val="solid"/>
          </a:ln>
        </p:spPr>
        <p:txBody>
          <a:bodyPr/>
          <a:p/>
        </p:txBody>
      </p:sp>
      <p:sp>
        <p:nvSpPr>
          <p:cNvPr id="5" name="Text 3"/>
          <p:cNvSpPr/>
          <p:nvPr/>
        </p:nvSpPr>
        <p:spPr>
          <a:xfrm>
            <a:off x="1022350" y="20383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Each phase, an agent with its own model</a:t>
            </a:r>
            <a:endParaRPr lang="en-US" sz="1200" dirty="0"/>
          </a:p>
        </p:txBody>
      </p:sp>
      <p:sp>
        <p:nvSpPr>
          <p:cNvPr id="6" name="Text 4"/>
          <p:cNvSpPr/>
          <p:nvPr/>
        </p:nvSpPr>
        <p:spPr>
          <a:xfrm>
            <a:off x="1022350" y="2353221"/>
            <a:ext cx="490537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ctx.phase(</a:t>
            </a:r>
            <a:r>
              <a:rPr lang="en-US" sz="1200" dirty="0">
                <a:solidFill>
                  <a:srgbClr val="F2B84B"/>
                </a:solidFill>
                <a:latin typeface="JetBrains Mono" pitchFamily="49" charset="0"/>
                <a:ea typeface="JetBrains Mono" pitchFamily="49" charset="-122"/>
                <a:cs typeface="JetBrains Mono" pitchFamily="49" charset="-120"/>
              </a:rPr>
              <a:t>"Plan"</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plan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ctx.agent(request,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 agent: </a:t>
            </a:r>
            <a:r>
              <a:rPr lang="en-US" sz="1200" dirty="0">
                <a:solidFill>
                  <a:srgbClr val="F2B84B"/>
                </a:solidFill>
                <a:latin typeface="JetBrains Mono" pitchFamily="49" charset="0"/>
                <a:ea typeface="JetBrains Mono" pitchFamily="49" charset="-122"/>
                <a:cs typeface="JetBrains Mono" pitchFamily="49" charset="-120"/>
              </a:rPr>
              <a:t>"planner"</a:t>
            </a:r>
            <a:r>
              <a:rPr lang="en-US" sz="1200" dirty="0">
                <a:solidFill>
                  <a:srgbClr val="D7DEEA"/>
                </a:solidFill>
                <a:latin typeface="JetBrains Mono" pitchFamily="49" charset="0"/>
                <a:ea typeface="JetBrains Mono" pitchFamily="49" charset="-122"/>
                <a:cs typeface="JetBrains Mono" pitchFamily="49" charset="-120"/>
              </a:rPr>
              <a:t>, label: </a:t>
            </a:r>
            <a:r>
              <a:rPr lang="en-US" sz="1200" dirty="0">
                <a:solidFill>
                  <a:srgbClr val="F2B84B"/>
                </a:solidFill>
                <a:latin typeface="JetBrains Mono" pitchFamily="49" charset="0"/>
                <a:ea typeface="JetBrains Mono" pitchFamily="49" charset="-122"/>
                <a:cs typeface="JetBrains Mono" pitchFamily="49" charset="-120"/>
              </a:rPr>
              <a:t>"plan"</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ctx.phase(</a:t>
            </a:r>
            <a:r>
              <a:rPr lang="en-US" sz="1200" dirty="0">
                <a:solidFill>
                  <a:srgbClr val="F2B84B"/>
                </a:solidFill>
                <a:latin typeface="JetBrains Mono" pitchFamily="49" charset="0"/>
                <a:ea typeface="JetBrains Mono" pitchFamily="49" charset="-122"/>
                <a:cs typeface="JetBrains Mono" pitchFamily="49" charset="-120"/>
              </a:rPr>
              <a:t>"Code"</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report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ctx.agent(assignment,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 agent: </a:t>
            </a:r>
            <a:r>
              <a:rPr lang="en-US" sz="1200" dirty="0">
                <a:solidFill>
                  <a:srgbClr val="F2B84B"/>
                </a:solidFill>
                <a:latin typeface="JetBrains Mono" pitchFamily="49" charset="0"/>
                <a:ea typeface="JetBrains Mono" pitchFamily="49" charset="-122"/>
                <a:cs typeface="JetBrains Mono" pitchFamily="49" charset="-120"/>
              </a:rPr>
              <a:t>"coder"</a:t>
            </a:r>
            <a:r>
              <a:rPr lang="en-US" sz="1200" dirty="0">
                <a:solidFill>
                  <a:srgbClr val="D7DEEA"/>
                </a:solidFill>
                <a:latin typeface="JetBrains Mono" pitchFamily="49" charset="0"/>
                <a:ea typeface="JetBrains Mono" pitchFamily="49" charset="-122"/>
                <a:cs typeface="JetBrains Mono" pitchFamily="49" charset="-120"/>
              </a:rPr>
              <a:t>, label: </a:t>
            </a:r>
            <a:r>
              <a:rPr lang="en-US" sz="1200" dirty="0">
                <a:solidFill>
                  <a:srgbClr val="F2B84B"/>
                </a:solidFill>
                <a:latin typeface="JetBrains Mono" pitchFamily="49" charset="0"/>
                <a:ea typeface="JetBrains Mono" pitchFamily="49" charset="-122"/>
                <a:cs typeface="JetBrains Mono" pitchFamily="49" charset="-120"/>
              </a:rPr>
              <a:t>"code"</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ctx.phase(</a:t>
            </a:r>
            <a:r>
              <a:rPr lang="en-US" sz="1200" dirty="0">
                <a:solidFill>
                  <a:srgbClr val="F2B84B"/>
                </a:solidFill>
                <a:latin typeface="JetBrains Mono" pitchFamily="49" charset="0"/>
                <a:ea typeface="JetBrains Mono" pitchFamily="49" charset="-122"/>
                <a:cs typeface="JetBrains Mono" pitchFamily="49" charset="-120"/>
              </a:rPr>
              <a:t>"Review"</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let</a:t>
            </a:r>
            <a:r>
              <a:rPr lang="en-US" sz="1200" dirty="0">
                <a:solidFill>
                  <a:srgbClr val="D7DEEA"/>
                </a:solidFill>
                <a:latin typeface="JetBrains Mono" pitchFamily="49" charset="0"/>
                <a:ea typeface="JetBrains Mono" pitchFamily="49" charset="-122"/>
                <a:cs typeface="JetBrains Mono" pitchFamily="49" charset="-120"/>
              </a:rPr>
              <a:t> verdict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review(report);</a:t>
            </a:r>
            <a:endParaRPr lang="en-US" sz="1200" dirty="0"/>
          </a:p>
          <a:p>
            <a:pPr algn="l" indent="0" marL="0">
              <a:lnSpc>
                <a:spcPts val="1800"/>
              </a:lnSpc>
              <a:buNone/>
            </a:pPr>
            <a:r>
              <a:rPr lang="en-US" sz="1200" dirty="0">
                <a:solidFill>
                  <a:srgbClr val="7F8BA3"/>
                </a:solidFill>
                <a:latin typeface="JetBrains Mono" pitchFamily="49" charset="0"/>
                <a:ea typeface="JetBrains Mono" pitchFamily="49" charset="-122"/>
                <a:cs typeface="JetBrains Mono" pitchFamily="49" charset="-120"/>
              </a:rPr>
              <a:t>// reviewer, with schema: { approved, issues }</a:t>
            </a:r>
            <a:endParaRPr lang="en-US" sz="1200" dirty="0"/>
          </a:p>
        </p:txBody>
      </p:sp>
      <p:sp>
        <p:nvSpPr>
          <p:cNvPr id="7" name="Shape 5"/>
          <p:cNvSpPr/>
          <p:nvPr/>
        </p:nvSpPr>
        <p:spPr>
          <a:xfrm>
            <a:off x="6200775" y="1831925"/>
            <a:ext cx="5175250" cy="3242270"/>
          </a:xfrm>
          <a:prstGeom prst="roundRect">
            <a:avLst>
              <a:gd name="adj" fmla="val 3036"/>
            </a:avLst>
          </a:prstGeom>
          <a:solidFill>
            <a:srgbClr val="1A2133"/>
          </a:solidFill>
          <a:ln w="6350">
            <a:solidFill>
              <a:srgbClr val="2B3550"/>
            </a:solidFill>
            <a:prstDash val="solid"/>
          </a:ln>
        </p:spPr>
        <p:txBody>
          <a:bodyPr/>
          <a:p/>
        </p:txBody>
      </p:sp>
      <p:sp>
        <p:nvSpPr>
          <p:cNvPr id="8" name="Text 6"/>
          <p:cNvSpPr/>
          <p:nvPr/>
        </p:nvSpPr>
        <p:spPr>
          <a:xfrm>
            <a:off x="6407150" y="20383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Cascade: escalate only if needed</a:t>
            </a:r>
            <a:endParaRPr lang="en-US" sz="1200" dirty="0"/>
          </a:p>
        </p:txBody>
      </p:sp>
      <p:sp>
        <p:nvSpPr>
          <p:cNvPr id="9" name="Text 7"/>
          <p:cNvSpPr/>
          <p:nvPr/>
        </p:nvSpPr>
        <p:spPr>
          <a:xfrm>
            <a:off x="6407150" y="2353221"/>
            <a:ext cx="490537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(!verdict.approved)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ctx.phase(</a:t>
            </a:r>
            <a:r>
              <a:rPr lang="en-US" sz="1200" dirty="0">
                <a:solidFill>
                  <a:srgbClr val="F2B84B"/>
                </a:solidFill>
                <a:latin typeface="JetBrains Mono" pitchFamily="49" charset="0"/>
                <a:ea typeface="JetBrains Mono" pitchFamily="49" charset="-122"/>
                <a:cs typeface="JetBrains Mono" pitchFamily="49" charset="-120"/>
              </a:rPr>
              <a:t>"Escalate"</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fix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ctx.agent(correction,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agent: </a:t>
            </a:r>
            <a:r>
              <a:rPr lang="en-US" sz="1200" dirty="0">
                <a:solidFill>
                  <a:srgbClr val="F2B84B"/>
                </a:solidFill>
                <a:latin typeface="JetBrains Mono" pitchFamily="49" charset="0"/>
                <a:ea typeface="JetBrains Mono" pitchFamily="49" charset="-122"/>
                <a:cs typeface="JetBrains Mono" pitchFamily="49" charset="-120"/>
              </a:rPr>
              <a:t>"coder"</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model: </a:t>
            </a:r>
            <a:r>
              <a:rPr lang="en-US" sz="1200" dirty="0">
                <a:solidFill>
                  <a:srgbClr val="F2B84B"/>
                </a:solidFill>
                <a:latin typeface="JetBrains Mono" pitchFamily="49" charset="0"/>
                <a:ea typeface="JetBrains Mono" pitchFamily="49" charset="-122"/>
                <a:cs typeface="JetBrains Mono" pitchFamily="49" charset="-120"/>
              </a:rPr>
              <a:t>"gpt-6-luna"</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label: </a:t>
            </a:r>
            <a:r>
              <a:rPr lang="en-US" sz="1200" dirty="0">
                <a:solidFill>
                  <a:srgbClr val="F2B84B"/>
                </a:solidFill>
                <a:latin typeface="JetBrains Mono" pitchFamily="49" charset="0"/>
                <a:ea typeface="JetBrains Mono" pitchFamily="49" charset="-122"/>
                <a:cs typeface="JetBrains Mono" pitchFamily="49" charset="-120"/>
              </a:rPr>
              <a:t>"code-escalated"</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verdict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review(fix);</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endParaRPr lang="en-US" sz="1200" dirty="0"/>
          </a:p>
          <a:p>
            <a:pPr algn="l" indent="0" marL="0">
              <a:lnSpc>
                <a:spcPts val="1800"/>
              </a:lnSpc>
              <a:buNone/>
            </a:pPr>
            <a:r>
              <a:rPr lang="en-US" sz="1200" dirty="0">
                <a:solidFill>
                  <a:srgbClr val="7F8BA3"/>
                </a:solidFill>
                <a:latin typeface="JetBrains Mono" pitchFamily="49" charset="0"/>
                <a:ea typeface="JetBrains Mono" pitchFamily="49" charset="-122"/>
                <a:cs typeface="JetBrains Mono" pitchFamily="49" charset="-120"/>
              </a:rPr>
              <a:t>// meta.limits: { maxTotalSubagents: 7 }</a:t>
            </a:r>
            <a:endParaRPr lang="en-US" sz="1200" dirty="0"/>
          </a:p>
        </p:txBody>
      </p:sp>
      <p:sp>
        <p:nvSpPr>
          <p:cNvPr id="10" name="Text 8"/>
          <p:cNvSpPr/>
          <p:nvPr/>
        </p:nvSpPr>
        <p:spPr>
          <a:xfrm>
            <a:off x="812800" y="6238280"/>
            <a:ext cx="54765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Excerpt of .github/extensions/plan-code-review/extension.mjs</a:t>
            </a:r>
            <a:endParaRPr lang="en-US" sz="1200" dirty="0"/>
          </a:p>
        </p:txBody>
      </p:sp>
      <p:sp>
        <p:nvSpPr>
          <p:cNvPr id="11" name="Text 9"/>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00869"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7B</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workflow, phase by phase</a:t>
            </a:r>
            <a:endParaRPr lang="en-US" sz="3200" dirty="0"/>
          </a:p>
        </p:txBody>
      </p:sp>
      <p:sp>
        <p:nvSpPr>
          <p:cNvPr id="4" name="Shape 2"/>
          <p:cNvSpPr/>
          <p:nvPr/>
        </p:nvSpPr>
        <p:spPr>
          <a:xfrm>
            <a:off x="812800" y="1879550"/>
            <a:ext cx="4546600" cy="2901752"/>
          </a:xfrm>
          <a:prstGeom prst="roundRect">
            <a:avLst>
              <a:gd name="adj" fmla="val 3501"/>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Run the plan-code-review workflow with the task: add a Reset button next to SampleApp's counter that sets it to zero.</a:t>
            </a:r>
            <a:endParaRPr lang="en-US" sz="1200" dirty="0"/>
          </a:p>
        </p:txBody>
      </p:sp>
      <p:pic>
        <p:nvPicPr>
          <p:cNvPr id="7" name="Image 0" descr="line">    </p:cNvPr>
          <p:cNvPicPr>
            <a:picLocks noChangeAspect="1"/>
          </p:cNvPicPr>
          <p:nvPr/>
        </p:nvPicPr>
        <p:blipFill>
          <a:blip r:embed="rId1"/>
          <a:srcRect l="0" r="0" t="0" b="0"/>
          <a:stretch/>
        </p:blipFill>
        <p:spPr>
          <a:xfrm>
            <a:off x="1066800" y="3464471"/>
            <a:ext cx="4038600" cy="6350"/>
          </a:xfrm>
          <a:prstGeom prst="rect">
            <a:avLst/>
          </a:prstGeom>
        </p:spPr>
      </p:pic>
      <p:sp>
        <p:nvSpPr>
          <p:cNvPr id="8" name="Text 5"/>
          <p:cNvSpPr/>
          <p:nvPr/>
        </p:nvSpPr>
        <p:spPr>
          <a:xfrm>
            <a:off x="1066800" y="35724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8873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plan-code-review run and its summary. The reviewer approves, so Escalate is skipped unless it asks for changes.</a:t>
            </a:r>
            <a:endParaRPr lang="en-US" sz="1200" dirty="0"/>
          </a:p>
        </p:txBody>
      </p:sp>
      <p:sp>
        <p:nvSpPr>
          <p:cNvPr id="10" name="Text 7"/>
          <p:cNvSpPr/>
          <p:nvPr/>
        </p:nvSpPr>
        <p:spPr>
          <a:xfrm>
            <a:off x="812800" y="4933702"/>
            <a:ext cx="46829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07b-workflow · copilot workflow run plan-code-review</a:t>
            </a:r>
            <a:endParaRPr lang="en-US" sz="1200" dirty="0"/>
          </a:p>
        </p:txBody>
      </p:sp>
      <p:pic>
        <p:nvPicPr>
          <p:cNvPr id="11" name="Image 1" descr="GitHub Copilot app: the plan-code-review workflow finished in 2 minutes and the reviewer approved">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plan-code-review completed in 2 minutes, no escalation</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8 · CANVAS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State shared between person and agent</a:t>
            </a:r>
            <a:endParaRPr lang="en-US" sz="3200" dirty="0"/>
          </a:p>
        </p:txBody>
      </p:sp>
      <p:sp>
        <p:nvSpPr>
          <p:cNvPr id="4" name="Shape 2"/>
          <p:cNvSpPr/>
          <p:nvPr/>
        </p:nvSpPr>
        <p:spPr>
          <a:xfrm>
            <a:off x="815975" y="2016075"/>
            <a:ext cx="3075484" cy="1327150"/>
          </a:xfrm>
          <a:prstGeom prst="roundRect">
            <a:avLst>
              <a:gd name="adj" fmla="val 7416"/>
            </a:avLst>
          </a:prstGeom>
          <a:solidFill>
            <a:srgbClr val="1A2133"/>
          </a:solidFill>
          <a:ln w="6350">
            <a:solidFill>
              <a:srgbClr val="2B3550"/>
            </a:solidFill>
            <a:prstDash val="solid"/>
          </a:ln>
        </p:spPr>
        <p:txBody>
          <a:bodyPr/>
          <a:p/>
        </p:txBody>
      </p:sp>
      <p:sp>
        <p:nvSpPr>
          <p:cNvPr id="5" name="Text 3"/>
          <p:cNvSpPr/>
          <p:nvPr/>
        </p:nvSpPr>
        <p:spPr>
          <a:xfrm>
            <a:off x="1022350" y="2222450"/>
            <a:ext cx="274261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Person</a:t>
            </a:r>
            <a:endParaRPr lang="en-US" sz="2000" dirty="0"/>
          </a:p>
        </p:txBody>
      </p:sp>
      <p:sp>
        <p:nvSpPr>
          <p:cNvPr id="6" name="Text 4"/>
          <p:cNvSpPr/>
          <p:nvPr/>
        </p:nvSpPr>
        <p:spPr>
          <a:xfrm>
            <a:off x="1022350" y="2603450"/>
            <a:ext cx="274261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Sees and edits a web interface in the app's side panel.</a:t>
            </a:r>
            <a:endParaRPr lang="en-US" sz="1500" dirty="0"/>
          </a:p>
        </p:txBody>
      </p:sp>
      <p:pic>
        <p:nvPicPr>
          <p:cNvPr id="7" name="Image 0" descr="connector">    </p:cNvPr>
          <p:cNvPicPr>
            <a:picLocks noChangeAspect="1"/>
          </p:cNvPicPr>
          <p:nvPr/>
        </p:nvPicPr>
        <p:blipFill>
          <a:blip r:embed="rId1"/>
          <a:srcRect l="0" r="0" t="0" b="0"/>
          <a:stretch/>
        </p:blipFill>
        <p:spPr>
          <a:xfrm>
            <a:off x="3996234" y="2641550"/>
            <a:ext cx="457200" cy="76200"/>
          </a:xfrm>
          <a:prstGeom prst="rect">
            <a:avLst/>
          </a:prstGeom>
        </p:spPr>
      </p:pic>
      <p:sp>
        <p:nvSpPr>
          <p:cNvPr id="8" name="Shape 5"/>
          <p:cNvSpPr/>
          <p:nvPr/>
        </p:nvSpPr>
        <p:spPr>
          <a:xfrm>
            <a:off x="4558209" y="1882725"/>
            <a:ext cx="3075533" cy="1593850"/>
          </a:xfrm>
          <a:prstGeom prst="roundRect">
            <a:avLst>
              <a:gd name="adj" fmla="val 6175"/>
            </a:avLst>
          </a:prstGeom>
          <a:solidFill>
            <a:srgbClr val="1A2133"/>
          </a:solidFill>
          <a:ln w="6350">
            <a:solidFill>
              <a:srgbClr val="9D8CFF"/>
            </a:solidFill>
            <a:prstDash val="solid"/>
          </a:ln>
        </p:spPr>
        <p:txBody>
          <a:bodyPr/>
          <a:p/>
        </p:txBody>
      </p:sp>
      <p:sp>
        <p:nvSpPr>
          <p:cNvPr id="9" name="Text 6"/>
          <p:cNvSpPr/>
          <p:nvPr/>
        </p:nvSpPr>
        <p:spPr>
          <a:xfrm>
            <a:off x="4764584" y="2089100"/>
            <a:ext cx="274266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9D8CFF"/>
                </a:solidFill>
                <a:latin typeface="Space Grotesk" pitchFamily="34" charset="0"/>
                <a:ea typeface="Space Grotesk" pitchFamily="34" charset="-122"/>
                <a:cs typeface="Space Grotesk" pitchFamily="34" charset="-120"/>
              </a:rPr>
              <a:t>Canvas</a:t>
            </a:r>
            <a:endParaRPr lang="en-US" sz="2000" dirty="0"/>
          </a:p>
        </p:txBody>
      </p:sp>
      <p:sp>
        <p:nvSpPr>
          <p:cNvPr id="10" name="Text 7"/>
          <p:cNvSpPr/>
          <p:nvPr/>
        </p:nvSpPr>
        <p:spPr>
          <a:xfrm>
            <a:off x="4764584" y="2470100"/>
            <a:ext cx="2742667"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State lives in the extension's process. The interface is a page served on 127.0.0.1.</a:t>
            </a:r>
            <a:endParaRPr lang="en-US" sz="1500" dirty="0"/>
          </a:p>
        </p:txBody>
      </p:sp>
      <p:pic>
        <p:nvPicPr>
          <p:cNvPr id="11" name="Image 1" descr="connector">    </p:cNvPr>
          <p:cNvPicPr>
            <a:picLocks noChangeAspect="1"/>
          </p:cNvPicPr>
          <p:nvPr/>
        </p:nvPicPr>
        <p:blipFill>
          <a:blip r:embed="rId2"/>
          <a:srcRect l="0" r="0" t="0" b="0"/>
          <a:stretch/>
        </p:blipFill>
        <p:spPr>
          <a:xfrm>
            <a:off x="7738517" y="2641550"/>
            <a:ext cx="457200" cy="76200"/>
          </a:xfrm>
          <a:prstGeom prst="rect">
            <a:avLst/>
          </a:prstGeom>
        </p:spPr>
      </p:pic>
      <p:sp>
        <p:nvSpPr>
          <p:cNvPr id="12" name="Shape 8"/>
          <p:cNvSpPr/>
          <p:nvPr/>
        </p:nvSpPr>
        <p:spPr>
          <a:xfrm>
            <a:off x="8300492" y="1882725"/>
            <a:ext cx="3075533" cy="1593850"/>
          </a:xfrm>
          <a:prstGeom prst="roundRect">
            <a:avLst>
              <a:gd name="adj" fmla="val 6175"/>
            </a:avLst>
          </a:prstGeom>
          <a:solidFill>
            <a:srgbClr val="1A2133"/>
          </a:solidFill>
          <a:ln w="6350">
            <a:solidFill>
              <a:srgbClr val="2B3550"/>
            </a:solidFill>
            <a:prstDash val="solid"/>
          </a:ln>
        </p:spPr>
        <p:txBody>
          <a:bodyPr/>
          <a:p/>
        </p:txBody>
      </p:sp>
      <p:sp>
        <p:nvSpPr>
          <p:cNvPr id="13" name="Text 9"/>
          <p:cNvSpPr/>
          <p:nvPr/>
        </p:nvSpPr>
        <p:spPr>
          <a:xfrm>
            <a:off x="8506867" y="2089100"/>
            <a:ext cx="274266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Agent</a:t>
            </a:r>
            <a:endParaRPr lang="en-US" sz="2000" dirty="0"/>
          </a:p>
        </p:txBody>
      </p:sp>
      <p:sp>
        <p:nvSpPr>
          <p:cNvPr id="14" name="Text 10"/>
          <p:cNvSpPr/>
          <p:nvPr/>
        </p:nvSpPr>
        <p:spPr>
          <a:xfrm>
            <a:off x="8506867" y="2470100"/>
            <a:ext cx="2742667"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Uses open_canvas, list_canvas_capabilities and invoke_canvas_action.</a:t>
            </a:r>
            <a:endParaRPr lang="en-US" sz="1500" dirty="0"/>
          </a:p>
        </p:txBody>
      </p:sp>
      <p:sp>
        <p:nvSpPr>
          <p:cNvPr id="15" name="Text 11"/>
          <p:cNvSpPr/>
          <p:nvPr/>
        </p:nvSpPr>
        <p:spPr>
          <a:xfrm>
            <a:off x="812800" y="378455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Create it with /create-canvas, which writes the extension for you, or by hand with createCanvas. Awesome GitHub Copilot has a catalog of ready-to-install canvases.</a:t>
            </a:r>
            <a:endParaRPr lang="en-US" sz="1500" dirty="0"/>
          </a:p>
        </p:txBody>
      </p:sp>
      <p:sp>
        <p:nvSpPr>
          <p:cNvPr id="16" name="Text 12"/>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7" name="Text 13"/>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8 · CANVAS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createCanvas: open, act and close</a:t>
            </a:r>
            <a:endParaRPr lang="en-US" sz="3200" dirty="0"/>
          </a:p>
        </p:txBody>
      </p:sp>
      <p:sp>
        <p:nvSpPr>
          <p:cNvPr id="4" name="Shape 2"/>
          <p:cNvSpPr/>
          <p:nvPr/>
        </p:nvSpPr>
        <p:spPr>
          <a:xfrm>
            <a:off x="815975" y="1781125"/>
            <a:ext cx="5175250" cy="3242270"/>
          </a:xfrm>
          <a:prstGeom prst="roundRect">
            <a:avLst>
              <a:gd name="adj" fmla="val 3036"/>
            </a:avLst>
          </a:prstGeom>
          <a:solidFill>
            <a:srgbClr val="1A2133"/>
          </a:solidFill>
          <a:ln w="6350">
            <a:solidFill>
              <a:srgbClr val="2B3550"/>
            </a:solidFill>
            <a:prstDash val="solid"/>
          </a:ln>
        </p:spPr>
        <p:txBody>
          <a:bodyPr/>
          <a:p/>
        </p:txBody>
      </p:sp>
      <p:sp>
        <p:nvSpPr>
          <p:cNvPr id="5" name="Text 3"/>
          <p:cNvSpPr/>
          <p:nvPr/>
        </p:nvSpPr>
        <p:spPr>
          <a:xfrm>
            <a:off x="1022350" y="19875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The canvas: actions, URL and cleanup</a:t>
            </a:r>
            <a:endParaRPr lang="en-US" sz="1200" dirty="0"/>
          </a:p>
        </p:txBody>
      </p:sp>
      <p:sp>
        <p:nvSpPr>
          <p:cNvPr id="6" name="Text 4"/>
          <p:cNvSpPr/>
          <p:nvPr/>
        </p:nvSpPr>
        <p:spPr>
          <a:xfrm>
            <a:off x="1022350" y="2302421"/>
            <a:ext cx="490537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canvas = createCanvas({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id: </a:t>
            </a:r>
            <a:r>
              <a:rPr lang="en-US" sz="1200" dirty="0">
                <a:solidFill>
                  <a:srgbClr val="F2B84B"/>
                </a:solidFill>
                <a:latin typeface="JetBrains Mono" pitchFamily="49" charset="0"/>
                <a:ea typeface="JetBrains Mono" pitchFamily="49" charset="-122"/>
                <a:cs typeface="JetBrains Mono" pitchFamily="49" charset="-120"/>
              </a:rPr>
              <a:t>"ui-test-plan"</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description: </a:t>
            </a:r>
            <a:r>
              <a:rPr lang="en-US" sz="1200" dirty="0">
                <a:solidFill>
                  <a:srgbClr val="F2B84B"/>
                </a:solidFill>
                <a:latin typeface="JetBrains Mono" pitchFamily="49" charset="0"/>
                <a:ea typeface="JetBrains Mono" pitchFamily="49" charset="-122"/>
                <a:cs typeface="JetBrains Mono" pitchFamily="49" charset="-120"/>
              </a:rPr>
              <a:t>"Shared list of UI test cases."</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actions: [{ name: </a:t>
            </a:r>
            <a:r>
              <a:rPr lang="en-US" sz="1200" dirty="0">
                <a:solidFill>
                  <a:srgbClr val="F2B84B"/>
                </a:solidFill>
                <a:latin typeface="JetBrains Mono" pitchFamily="49" charset="0"/>
                <a:ea typeface="JetBrains Mono" pitchFamily="49" charset="-122"/>
                <a:cs typeface="JetBrains Mono" pitchFamily="49" charset="-120"/>
              </a:rPr>
              <a:t>"set_status"</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inputSchema: { </a:t>
            </a:r>
            <a:r>
              <a:rPr lang="en-US" sz="1200" dirty="0">
                <a:solidFill>
                  <a:srgbClr val="7F8BA3"/>
                </a:solidFill>
                <a:latin typeface="JetBrains Mono" pitchFamily="49" charset="0"/>
                <a:ea typeface="JetBrains Mono" pitchFamily="49" charset="-122"/>
                <a:cs typeface="JetBrains Mono" pitchFamily="49" charset="-120"/>
              </a:rPr>
              <a:t>/* id, status, note */</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handler: (ctx) =&gt; setStatus(ctx)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open: async (ctx) =&gt; ({ title,</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url: `http://127.0.0.1:${port}/${token}/`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onClose: async (ctx) =&gt; { </a:t>
            </a:r>
            <a:r>
              <a:rPr lang="en-US" sz="1200" dirty="0">
                <a:solidFill>
                  <a:srgbClr val="7F8BA3"/>
                </a:solidFill>
                <a:latin typeface="JetBrains Mono" pitchFamily="49" charset="0"/>
                <a:ea typeface="JetBrains Mono" pitchFamily="49" charset="-122"/>
                <a:cs typeface="JetBrains Mono" pitchFamily="49" charset="-120"/>
              </a:rPr>
              <a:t>/* close */</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joinSession({ canvases: [canvas] });</a:t>
            </a:r>
            <a:endParaRPr lang="en-US" sz="1200" dirty="0"/>
          </a:p>
        </p:txBody>
      </p:sp>
      <p:sp>
        <p:nvSpPr>
          <p:cNvPr id="7" name="Shape 5"/>
          <p:cNvSpPr/>
          <p:nvPr/>
        </p:nvSpPr>
        <p:spPr>
          <a:xfrm>
            <a:off x="6200775" y="1781125"/>
            <a:ext cx="5175250" cy="3242270"/>
          </a:xfrm>
          <a:prstGeom prst="roundRect">
            <a:avLst>
              <a:gd name="adj" fmla="val 3036"/>
            </a:avLst>
          </a:prstGeom>
          <a:solidFill>
            <a:srgbClr val="1A2133"/>
          </a:solidFill>
          <a:ln w="6350">
            <a:solidFill>
              <a:srgbClr val="2B3550"/>
            </a:solidFill>
            <a:prstDash val="solid"/>
          </a:ln>
        </p:spPr>
        <p:txBody>
          <a:bodyPr/>
          <a:p/>
        </p:txBody>
      </p:sp>
      <p:sp>
        <p:nvSpPr>
          <p:cNvPr id="8" name="Text 6"/>
          <p:cNvSpPr/>
          <p:nvPr/>
        </p:nvSpPr>
        <p:spPr>
          <a:xfrm>
            <a:off x="6407150" y="19875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A button on the page asks the agent for work</a:t>
            </a:r>
            <a:endParaRPr lang="en-US" sz="1200" dirty="0"/>
          </a:p>
        </p:txBody>
      </p:sp>
      <p:sp>
        <p:nvSpPr>
          <p:cNvPr id="9" name="Text 7"/>
          <p:cNvSpPr/>
          <p:nvPr/>
        </p:nvSpPr>
        <p:spPr>
          <a:xfrm>
            <a:off x="6407150" y="2302421"/>
            <a:ext cx="490537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token = randomBytes(18).toString("hex");</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server.listen(0, </a:t>
            </a:r>
            <a:r>
              <a:rPr lang="en-US" sz="1200" dirty="0">
                <a:solidFill>
                  <a:srgbClr val="F2B84B"/>
                </a:solidFill>
                <a:latin typeface="JetBrains Mono" pitchFamily="49" charset="0"/>
                <a:ea typeface="JetBrains Mono" pitchFamily="49" charset="-122"/>
                <a:cs typeface="JetBrains Mono" pitchFamily="49" charset="-120"/>
              </a:rPr>
              <a:t>"127.0.0.1"</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7F8BA3"/>
                </a:solidFill>
                <a:latin typeface="JetBrains Mono" pitchFamily="49" charset="0"/>
                <a:ea typeface="JetBrains Mono" pitchFamily="49" charset="-122"/>
                <a:cs typeface="JetBrains Mono" pitchFamily="49" charset="-120"/>
              </a:rPr>
              <a:t>// loopback only</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(route === </a:t>
            </a:r>
            <a:r>
              <a:rPr lang="en-US" sz="1200" dirty="0">
                <a:solidFill>
                  <a:srgbClr val="F2B84B"/>
                </a:solidFill>
                <a:latin typeface="JetBrains Mono" pitchFamily="49" charset="0"/>
                <a:ea typeface="JetBrains Mono" pitchFamily="49" charset="-122"/>
                <a:cs typeface="JetBrains Mono" pitchFamily="49" charset="-120"/>
              </a:rPr>
              <a:t>"run"</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7F8BA3"/>
                </a:solidFill>
                <a:latin typeface="JetBrains Mono" pitchFamily="49" charset="0"/>
                <a:ea typeface="JetBrains Mono" pitchFamily="49" charset="-122"/>
                <a:cs typeface="JetBrains Mono" pitchFamily="49" charset="-120"/>
              </a:rPr>
              <a:t>// The UI doesn't do the work: it asks for it.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await session.send({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prompt: </a:t>
            </a:r>
            <a:r>
              <a:rPr lang="en-US" sz="1200" dirty="0">
                <a:solidFill>
                  <a:srgbClr val="F2B84B"/>
                </a:solidFill>
                <a:latin typeface="JetBrains Mono" pitchFamily="49" charset="0"/>
                <a:ea typeface="JetBrains Mono" pitchFamily="49" charset="-122"/>
                <a:cs typeface="JetBrains Mono" pitchFamily="49" charset="-120"/>
              </a:rPr>
              <a:t>"Run the test plan. "</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"Read the cases with get_plan and mark "</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"each one with set_status."</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return json(202, { requested: true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10" name="Shape 8"/>
          <p:cNvSpPr/>
          <p:nvPr/>
        </p:nvSpPr>
        <p:spPr>
          <a:xfrm>
            <a:off x="812800" y="5236121"/>
            <a:ext cx="3420517" cy="0"/>
          </a:xfrm>
          <a:prstGeom prst="line">
            <a:avLst/>
          </a:prstGeom>
          <a:noFill/>
          <a:ln w="12700">
            <a:solidFill>
              <a:srgbClr val="9D8CFF"/>
            </a:solidFill>
            <a:prstDash val="solid"/>
          </a:ln>
        </p:spPr>
        <p:txBody>
          <a:bodyPr/>
          <a:p/>
        </p:txBody>
      </p:sp>
      <p:sp>
        <p:nvSpPr>
          <p:cNvPr id="11" name="Text 9"/>
          <p:cNvSpPr/>
          <p:nvPr/>
        </p:nvSpPr>
        <p:spPr>
          <a:xfrm>
            <a:off x="812800" y="5344071"/>
            <a:ext cx="352313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open is idempotent</a:t>
            </a:r>
            <a:endParaRPr lang="en-US" sz="1200" dirty="0"/>
          </a:p>
        </p:txBody>
      </p:sp>
      <p:sp>
        <p:nvSpPr>
          <p:cNvPr id="12" name="Text 10"/>
          <p:cNvSpPr/>
          <p:nvPr/>
        </p:nvSpPr>
        <p:spPr>
          <a:xfrm>
            <a:off x="812800" y="5608191"/>
            <a:ext cx="3523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Can repeat with the same instanceId.</a:t>
            </a:r>
            <a:endParaRPr lang="en-US" sz="1200" dirty="0"/>
          </a:p>
        </p:txBody>
      </p:sp>
      <p:sp>
        <p:nvSpPr>
          <p:cNvPr id="13" name="Shape 11"/>
          <p:cNvSpPr/>
          <p:nvPr/>
        </p:nvSpPr>
        <p:spPr>
          <a:xfrm>
            <a:off x="4385717" y="5236121"/>
            <a:ext cx="3420566" cy="0"/>
          </a:xfrm>
          <a:prstGeom prst="line">
            <a:avLst/>
          </a:prstGeom>
          <a:noFill/>
          <a:ln w="12700">
            <a:solidFill>
              <a:srgbClr val="9D8CFF"/>
            </a:solidFill>
            <a:prstDash val="solid"/>
          </a:ln>
        </p:spPr>
        <p:txBody>
          <a:bodyPr/>
          <a:p/>
        </p:txBody>
      </p:sp>
      <p:sp>
        <p:nvSpPr>
          <p:cNvPr id="14" name="Text 12"/>
          <p:cNvSpPr/>
          <p:nvPr/>
        </p:nvSpPr>
        <p:spPr>
          <a:xfrm>
            <a:off x="4385717" y="5344071"/>
            <a:ext cx="352318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actions are verbs</a:t>
            </a:r>
            <a:endParaRPr lang="en-US" sz="1200" dirty="0"/>
          </a:p>
        </p:txBody>
      </p:sp>
      <p:sp>
        <p:nvSpPr>
          <p:cNvPr id="15" name="Text 13"/>
          <p:cNvSpPr/>
          <p:nvPr/>
        </p:nvSpPr>
        <p:spPr>
          <a:xfrm>
            <a:off x="4385717" y="5608191"/>
            <a:ext cx="352318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get_plan, add_case, set_status.</a:t>
            </a:r>
            <a:endParaRPr lang="en-US" sz="1200" dirty="0"/>
          </a:p>
        </p:txBody>
      </p:sp>
      <p:sp>
        <p:nvSpPr>
          <p:cNvPr id="16" name="Shape 14"/>
          <p:cNvSpPr/>
          <p:nvPr/>
        </p:nvSpPr>
        <p:spPr>
          <a:xfrm>
            <a:off x="7958683" y="5236121"/>
            <a:ext cx="3420517" cy="0"/>
          </a:xfrm>
          <a:prstGeom prst="line">
            <a:avLst/>
          </a:prstGeom>
          <a:noFill/>
          <a:ln w="12700">
            <a:solidFill>
              <a:srgbClr val="9D8CFF"/>
            </a:solidFill>
            <a:prstDash val="solid"/>
          </a:ln>
        </p:spPr>
        <p:txBody>
          <a:bodyPr/>
          <a:p/>
        </p:txBody>
      </p:sp>
      <p:sp>
        <p:nvSpPr>
          <p:cNvPr id="17" name="Text 15"/>
          <p:cNvSpPr/>
          <p:nvPr/>
        </p:nvSpPr>
        <p:spPr>
          <a:xfrm>
            <a:off x="7958683" y="5344071"/>
            <a:ext cx="352313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onClose cleans up</a:t>
            </a:r>
            <a:endParaRPr lang="en-US" sz="1200" dirty="0"/>
          </a:p>
        </p:txBody>
      </p:sp>
      <p:sp>
        <p:nvSpPr>
          <p:cNvPr id="18" name="Text 16"/>
          <p:cNvSpPr/>
          <p:nvPr/>
        </p:nvSpPr>
        <p:spPr>
          <a:xfrm>
            <a:off x="7958683" y="5608191"/>
            <a:ext cx="3523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Closes the server and frees resources.</a:t>
            </a:r>
            <a:endParaRPr lang="en-US" sz="1200" dirty="0"/>
          </a:p>
        </p:txBody>
      </p:sp>
      <p:sp>
        <p:nvSpPr>
          <p:cNvPr id="19" name="Text 17"/>
          <p:cNvSpPr/>
          <p:nvPr/>
        </p:nvSpPr>
        <p:spPr>
          <a:xfrm>
            <a:off x="812800" y="6238280"/>
            <a:ext cx="579072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Simplified excerpt of .github/extensions/ui-test-plan/extension.mjs</a:t>
            </a:r>
            <a:endParaRPr lang="en-US" sz="1200" dirty="0"/>
          </a:p>
        </p:txBody>
      </p:sp>
      <p:sp>
        <p:nvSpPr>
          <p:cNvPr id="20" name="Text 18"/>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8</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A test plan that both edit</a:t>
            </a:r>
            <a:endParaRPr lang="en-US" sz="3200" dirty="0"/>
          </a:p>
        </p:txBody>
      </p:sp>
      <p:sp>
        <p:nvSpPr>
          <p:cNvPr id="4" name="Shape 2"/>
          <p:cNvSpPr/>
          <p:nvPr/>
        </p:nvSpPr>
        <p:spPr>
          <a:xfrm>
            <a:off x="812800" y="1879550"/>
            <a:ext cx="4546600" cy="2459831"/>
          </a:xfrm>
          <a:prstGeom prst="roundRect">
            <a:avLst>
              <a:gd name="adj" fmla="val 4130"/>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Open the UI test plan canvas with three cases for SampleApp: the greeting, the counter and the dark theme.</a:t>
            </a:r>
            <a:endParaRPr lang="en-US" sz="1200" dirty="0"/>
          </a:p>
        </p:txBody>
      </p:sp>
      <p:pic>
        <p:nvPicPr>
          <p:cNvPr id="7" name="Image 0" descr="line">    </p:cNvPr>
          <p:cNvPicPr>
            <a:picLocks noChangeAspect="1"/>
          </p:cNvPicPr>
          <p:nvPr/>
        </p:nvPicPr>
        <p:blipFill>
          <a:blip r:embed="rId1"/>
          <a:srcRect l="0" r="0" t="0" b="0"/>
          <a:stretch/>
        </p:blipFill>
        <p:spPr>
          <a:xfrm>
            <a:off x="1066800" y="3235871"/>
            <a:ext cx="4038600" cy="6350"/>
          </a:xfrm>
          <a:prstGeom prst="rect">
            <a:avLst/>
          </a:prstGeom>
        </p:spPr>
      </p:pic>
      <p:sp>
        <p:nvSpPr>
          <p:cNvPr id="8" name="Text 5"/>
          <p:cNvSpPr/>
          <p:nvPr/>
        </p:nvSpPr>
        <p:spPr>
          <a:xfrm>
            <a:off x="1066800" y="33438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658741"/>
            <a:ext cx="41597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The list in the side panel. Your changes and the agent's appear in the same place, and it reads them with get_plan.</a:t>
            </a:r>
            <a:endParaRPr lang="en-US" sz="1200" dirty="0"/>
          </a:p>
        </p:txBody>
      </p:sp>
      <p:sp>
        <p:nvSpPr>
          <p:cNvPr id="10" name="Text 7"/>
          <p:cNvSpPr/>
          <p:nvPr/>
        </p:nvSpPr>
        <p:spPr>
          <a:xfrm>
            <a:off x="812800" y="449178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08-canvas</a:t>
            </a:r>
            <a:endParaRPr lang="en-US" sz="1200" dirty="0"/>
          </a:p>
        </p:txBody>
      </p:sp>
      <p:pic>
        <p:nvPicPr>
          <p:cNvPr id="11" name="Image 1" descr="GitHub Copilot app: the UI test plan canvas with three pending cases">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three pending cases and the Ask Copilot to run it button</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7182"/>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9D8CFF"/>
                </a:solidFill>
                <a:latin typeface="IBM Plex Sans" pitchFamily="34" charset="0"/>
                <a:ea typeface="IBM Plex Sans" pitchFamily="34" charset="-122"/>
                <a:cs typeface="IBM Plex Sans" pitchFamily="34" charset="-120"/>
              </a:rPr>
              <a:t>STEP 8 · CANVAS · A REAL EXAMPLE</a:t>
            </a:r>
            <a:endParaRPr lang="en-US" sz="1196" dirty="0"/>
          </a:p>
        </p:txBody>
      </p:sp>
      <p:sp>
        <p:nvSpPr>
          <p:cNvPr id="3" name="Text 1"/>
          <p:cNvSpPr/>
          <p:nvPr>
            <p:ph type="title"/>
          </p:nvPr>
        </p:nvSpPr>
        <p:spPr>
          <a:xfrm>
            <a:off x="812800" y="1126182"/>
            <a:ext cx="10883392" cy="469156"/>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From the minimal canvas to a real one</a:t>
            </a:r>
            <a:endParaRPr lang="en-US" sz="3200" dirty="0"/>
          </a:p>
        </p:txBody>
      </p:sp>
      <p:pic>
        <p:nvPicPr>
          <p:cNvPr id="4" name="Image 0" descr="La GitHub Copilot app con una sesión a la izquierda y, en el panel lateral, el canvas de copilot-avalonia mostrando la app de ejemplo y el aviso de que el agente tiene el control">    </p:cNvPr>
          <p:cNvPicPr>
            <a:picLocks noChangeAspect="1"/>
          </p:cNvPicPr>
          <p:nvPr/>
        </p:nvPicPr>
        <p:blipFill>
          <a:blip r:embed="rId1"/>
          <a:srcRect l="0" r="0" t="-59" b="-59"/>
          <a:stretch/>
        </p:blipFill>
        <p:spPr>
          <a:xfrm>
            <a:off x="819150" y="1830288"/>
            <a:ext cx="5702300" cy="3289300"/>
          </a:xfrm>
          <a:prstGeom prst="roundRect">
            <a:avLst>
              <a:gd name="adj" fmla="val 2124"/>
            </a:avLst>
          </a:prstGeom>
        </p:spPr>
      </p:pic>
      <p:sp>
        <p:nvSpPr>
          <p:cNvPr id="5" name="Shape 2"/>
          <p:cNvSpPr/>
          <p:nvPr/>
        </p:nvSpPr>
        <p:spPr>
          <a:xfrm>
            <a:off x="815975" y="1827113"/>
            <a:ext cx="5708650" cy="3295650"/>
          </a:xfrm>
          <a:prstGeom prst="roundRect">
            <a:avLst>
              <a:gd name="adj" fmla="val 2216"/>
            </a:avLst>
          </a:prstGeom>
          <a:noFill/>
          <a:ln w="6350">
            <a:solidFill>
              <a:srgbClr val="2B3550"/>
            </a:solidFill>
            <a:prstDash val="solid"/>
          </a:ln>
        </p:spPr>
        <p:txBody>
          <a:bodyPr/>
          <a:p/>
        </p:txBody>
      </p:sp>
      <p:sp>
        <p:nvSpPr>
          <p:cNvPr id="6" name="Text 3"/>
          <p:cNvSpPr/>
          <p:nvPr/>
        </p:nvSpPr>
        <p:spPr>
          <a:xfrm>
            <a:off x="812800" y="5227538"/>
            <a:ext cx="588645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copilot-avalonia uses the same contract, but the interface is a running desktop app, with 16 actions: inspect, request control, send input, change size and theme, and record.</a:t>
            </a:r>
            <a:endParaRPr lang="en-US" sz="1200" dirty="0"/>
          </a:p>
        </p:txBody>
      </p:sp>
      <p:sp>
        <p:nvSpPr>
          <p:cNvPr id="7" name="Shape 4"/>
          <p:cNvSpPr/>
          <p:nvPr/>
        </p:nvSpPr>
        <p:spPr>
          <a:xfrm>
            <a:off x="6835775" y="1827113"/>
            <a:ext cx="4540250" cy="966391"/>
          </a:xfrm>
          <a:prstGeom prst="roundRect">
            <a:avLst>
              <a:gd name="adj" fmla="val 10185"/>
            </a:avLst>
          </a:prstGeom>
          <a:solidFill>
            <a:srgbClr val="1A2133"/>
          </a:solidFill>
          <a:ln w="6350">
            <a:solidFill>
              <a:srgbClr val="2B3550"/>
            </a:solidFill>
            <a:prstDash val="solid"/>
          </a:ln>
        </p:spPr>
        <p:txBody>
          <a:bodyPr/>
          <a:p/>
        </p:txBody>
      </p:sp>
      <p:sp>
        <p:nvSpPr>
          <p:cNvPr id="8" name="Text 5"/>
          <p:cNvSpPr/>
          <p:nvPr/>
        </p:nvSpPr>
        <p:spPr>
          <a:xfrm>
            <a:off x="7016750" y="1957288"/>
            <a:ext cx="430364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EEF0F4"/>
                </a:solidFill>
                <a:latin typeface="Space Grotesk" pitchFamily="34" charset="0"/>
                <a:ea typeface="Space Grotesk" pitchFamily="34" charset="-122"/>
                <a:cs typeface="Space Grotesk" pitchFamily="34" charset="-120"/>
              </a:rPr>
              <a:t>GitHub Copilot app</a:t>
            </a:r>
            <a:endParaRPr lang="en-US" sz="1500" dirty="0"/>
          </a:p>
        </p:txBody>
      </p:sp>
      <p:sp>
        <p:nvSpPr>
          <p:cNvPr id="9" name="Text 6"/>
          <p:cNvSpPr/>
          <p:nvPr/>
        </p:nvSpPr>
        <p:spPr>
          <a:xfrm>
            <a:off x="7016750" y="2236688"/>
            <a:ext cx="430364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The agent calls open_canvas and invoke_canvas_action. The panel shows the URL.</a:t>
            </a:r>
            <a:endParaRPr lang="en-US" sz="1200" dirty="0"/>
          </a:p>
        </p:txBody>
      </p:sp>
      <p:sp>
        <p:nvSpPr>
          <p:cNvPr id="10" name="Shape 7"/>
          <p:cNvSpPr/>
          <p:nvPr/>
        </p:nvSpPr>
        <p:spPr>
          <a:xfrm>
            <a:off x="7137400" y="2847479"/>
            <a:ext cx="12700" cy="254000"/>
          </a:xfrm>
          <a:prstGeom prst="rect">
            <a:avLst/>
          </a:prstGeom>
          <a:solidFill>
            <a:srgbClr val="9D8CFF"/>
          </a:solidFill>
          <a:ln/>
        </p:spPr>
        <p:txBody>
          <a:bodyPr/>
          <a:p/>
        </p:txBody>
      </p:sp>
      <p:sp>
        <p:nvSpPr>
          <p:cNvPr id="11" name="Text 8"/>
          <p:cNvSpPr/>
          <p:nvPr/>
        </p:nvSpPr>
        <p:spPr>
          <a:xfrm>
            <a:off x="7251700" y="2867819"/>
            <a:ext cx="16400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8CFF"/>
                </a:solidFill>
                <a:latin typeface="IBM Plex Sans" pitchFamily="34" charset="0"/>
                <a:ea typeface="IBM Plex Sans" pitchFamily="34" charset="-122"/>
                <a:cs typeface="IBM Plex Sans" pitchFamily="34" charset="-120"/>
              </a:rPr>
              <a:t>JSON-RPC over stdio</a:t>
            </a:r>
            <a:endParaRPr lang="en-US" sz="1200" dirty="0"/>
          </a:p>
        </p:txBody>
      </p:sp>
      <p:sp>
        <p:nvSpPr>
          <p:cNvPr id="12" name="Shape 9"/>
          <p:cNvSpPr/>
          <p:nvPr/>
        </p:nvSpPr>
        <p:spPr>
          <a:xfrm>
            <a:off x="6835775" y="3155454"/>
            <a:ext cx="4540250" cy="966391"/>
          </a:xfrm>
          <a:prstGeom prst="roundRect">
            <a:avLst>
              <a:gd name="adj" fmla="val 10185"/>
            </a:avLst>
          </a:prstGeom>
          <a:solidFill>
            <a:srgbClr val="1A2133"/>
          </a:solidFill>
          <a:ln w="6350">
            <a:solidFill>
              <a:srgbClr val="9D8CFF"/>
            </a:solidFill>
            <a:prstDash val="solid"/>
          </a:ln>
        </p:spPr>
        <p:txBody>
          <a:bodyPr/>
          <a:p/>
        </p:txBody>
      </p:sp>
      <p:sp>
        <p:nvSpPr>
          <p:cNvPr id="13" name="Text 10"/>
          <p:cNvSpPr/>
          <p:nvPr/>
        </p:nvSpPr>
        <p:spPr>
          <a:xfrm>
            <a:off x="7016750" y="3285629"/>
            <a:ext cx="430364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9D8CFF"/>
                </a:solidFill>
                <a:latin typeface="Space Grotesk" pitchFamily="34" charset="0"/>
                <a:ea typeface="Space Grotesk" pitchFamily="34" charset="-122"/>
                <a:cs typeface="Space Grotesk" pitchFamily="34" charset="-120"/>
              </a:rPr>
              <a:t>extension.mjs</a:t>
            </a:r>
            <a:endParaRPr lang="en-US" sz="1500" dirty="0"/>
          </a:p>
        </p:txBody>
      </p:sp>
      <p:sp>
        <p:nvSpPr>
          <p:cNvPr id="14" name="Text 11"/>
          <p:cNvSpPr/>
          <p:nvPr/>
        </p:nvSpPr>
        <p:spPr>
          <a:xfrm>
            <a:off x="7016750" y="3565029"/>
            <a:ext cx="430364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Runs dotnet run, reads the URL the app prints and translates each action to HTTP.</a:t>
            </a:r>
            <a:endParaRPr lang="en-US" sz="1200" dirty="0"/>
          </a:p>
        </p:txBody>
      </p:sp>
      <p:sp>
        <p:nvSpPr>
          <p:cNvPr id="15" name="Shape 12"/>
          <p:cNvSpPr/>
          <p:nvPr/>
        </p:nvSpPr>
        <p:spPr>
          <a:xfrm>
            <a:off x="7137400" y="4175820"/>
            <a:ext cx="12700" cy="254000"/>
          </a:xfrm>
          <a:prstGeom prst="rect">
            <a:avLst/>
          </a:prstGeom>
          <a:solidFill>
            <a:srgbClr val="9D8CFF"/>
          </a:solidFill>
          <a:ln/>
        </p:spPr>
        <p:txBody>
          <a:bodyPr/>
          <a:p/>
        </p:txBody>
      </p:sp>
      <p:sp>
        <p:nvSpPr>
          <p:cNvPr id="16" name="Text 13"/>
          <p:cNvSpPr/>
          <p:nvPr/>
        </p:nvSpPr>
        <p:spPr>
          <a:xfrm>
            <a:off x="7251700" y="4196159"/>
            <a:ext cx="149691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8CFF"/>
                </a:solidFill>
                <a:latin typeface="IBM Plex Sans" pitchFamily="34" charset="0"/>
                <a:ea typeface="IBM Plex Sans" pitchFamily="34" charset="-122"/>
                <a:cs typeface="IBM Plex Sans" pitchFamily="34" charset="-120"/>
              </a:rPr>
              <a:t>HTTP on loopback</a:t>
            </a:r>
            <a:endParaRPr lang="en-US" sz="1200" dirty="0"/>
          </a:p>
        </p:txBody>
      </p:sp>
      <p:sp>
        <p:nvSpPr>
          <p:cNvPr id="17" name="Shape 14"/>
          <p:cNvSpPr/>
          <p:nvPr/>
        </p:nvSpPr>
        <p:spPr>
          <a:xfrm>
            <a:off x="6835775" y="4483795"/>
            <a:ext cx="4540250" cy="966391"/>
          </a:xfrm>
          <a:prstGeom prst="roundRect">
            <a:avLst>
              <a:gd name="adj" fmla="val 10185"/>
            </a:avLst>
          </a:prstGeom>
          <a:solidFill>
            <a:srgbClr val="1A2133"/>
          </a:solidFill>
          <a:ln w="6350">
            <a:solidFill>
              <a:srgbClr val="2B3550"/>
            </a:solidFill>
            <a:prstDash val="solid"/>
          </a:ln>
        </p:spPr>
        <p:txBody>
          <a:bodyPr/>
          <a:p/>
        </p:txBody>
      </p:sp>
      <p:sp>
        <p:nvSpPr>
          <p:cNvPr id="18" name="Text 15"/>
          <p:cNvSpPr/>
          <p:nvPr/>
        </p:nvSpPr>
        <p:spPr>
          <a:xfrm>
            <a:off x="7016750" y="4613970"/>
            <a:ext cx="430364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EEF0F4"/>
                </a:solidFill>
                <a:latin typeface="Space Grotesk" pitchFamily="34" charset="0"/>
                <a:ea typeface="Space Grotesk" pitchFamily="34" charset="-122"/>
                <a:cs typeface="Space Grotesk" pitchFamily="34" charset="-120"/>
              </a:rPr>
              <a:t>.NET host inside the app</a:t>
            </a:r>
            <a:endParaRPr lang="en-US" sz="1500" dirty="0"/>
          </a:p>
        </p:txBody>
      </p:sp>
      <p:sp>
        <p:nvSpPr>
          <p:cNvPr id="19" name="Text 16"/>
          <p:cNvSpPr/>
          <p:nvPr/>
        </p:nvSpPr>
        <p:spPr>
          <a:xfrm>
            <a:off x="7016750" y="4893370"/>
            <a:ext cx="430364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Avalonia.Headless with Skia. Serves frames over WebSocket and an API on 127.0.0.1 only.</a:t>
            </a:r>
            <a:endParaRPr lang="en-US" sz="1200" dirty="0"/>
          </a:p>
        </p:txBody>
      </p:sp>
      <p:sp>
        <p:nvSpPr>
          <p:cNvPr id="20" name="Text 17"/>
          <p:cNvSpPr/>
          <p:nvPr/>
        </p:nvSpPr>
        <p:spPr>
          <a:xfrm>
            <a:off x="812800" y="6238280"/>
            <a:ext cx="32556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github.com/jsuarezruiz/copilot-avalonia</a:t>
            </a:r>
            <a:endParaRPr lang="en-US" sz="1200" dirty="0"/>
          </a:p>
        </p:txBody>
      </p:sp>
      <p:sp>
        <p:nvSpPr>
          <p:cNvPr id="21" name="Text 18"/>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8 · CANVAS · A REAL EXAMPLE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Two pieces of the real adapter</a:t>
            </a:r>
            <a:endParaRPr lang="en-US" sz="3200" dirty="0"/>
          </a:p>
        </p:txBody>
      </p:sp>
      <p:sp>
        <p:nvSpPr>
          <p:cNvPr id="4" name="Shape 2"/>
          <p:cNvSpPr/>
          <p:nvPr/>
        </p:nvSpPr>
        <p:spPr>
          <a:xfrm>
            <a:off x="815975" y="1882725"/>
            <a:ext cx="5175250" cy="3699470"/>
          </a:xfrm>
          <a:prstGeom prst="roundRect">
            <a:avLst>
              <a:gd name="adj" fmla="val 2661"/>
            </a:avLst>
          </a:prstGeom>
          <a:solidFill>
            <a:srgbClr val="1A2133"/>
          </a:solidFill>
          <a:ln w="6350">
            <a:solidFill>
              <a:srgbClr val="2B3550"/>
            </a:solidFill>
            <a:prstDash val="solid"/>
          </a:ln>
        </p:spPr>
        <p:txBody>
          <a:bodyPr/>
          <a:p/>
        </p:txBody>
      </p:sp>
      <p:sp>
        <p:nvSpPr>
          <p:cNvPr id="5" name="Text 3"/>
          <p:cNvSpPr/>
          <p:nvPr/>
        </p:nvSpPr>
        <p:spPr>
          <a:xfrm>
            <a:off x="1022350" y="20891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open: launch the process and wait for its URL</a:t>
            </a:r>
            <a:endParaRPr lang="en-US" sz="1200" dirty="0"/>
          </a:p>
        </p:txBody>
      </p:sp>
      <p:sp>
        <p:nvSpPr>
          <p:cNvPr id="6" name="Text 4"/>
          <p:cNvSpPr/>
          <p:nvPr/>
        </p:nvSpPr>
        <p:spPr>
          <a:xfrm>
            <a:off x="1022350" y="2404021"/>
            <a:ext cx="490537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child = spawn(</a:t>
            </a:r>
            <a:r>
              <a:rPr lang="en-US" sz="1200" dirty="0">
                <a:solidFill>
                  <a:srgbClr val="F2B84B"/>
                </a:solidFill>
                <a:latin typeface="JetBrains Mono" pitchFamily="49" charset="0"/>
                <a:ea typeface="JetBrains Mono" pitchFamily="49" charset="-122"/>
                <a:cs typeface="JetBrains Mono" pitchFamily="49" charset="-120"/>
              </a:rPr>
              <a:t>"dotnet"</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["run", "--project", projectPath],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env: { ...process.env, COPILOT_AVALONIA: "1"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stdio: ["ignore", "pipe", "inherit"],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prefix = </a:t>
            </a:r>
            <a:r>
              <a:rPr lang="en-US" sz="1200" dirty="0">
                <a:solidFill>
                  <a:srgbClr val="F2B84B"/>
                </a:solidFill>
                <a:latin typeface="JetBrains Mono" pitchFamily="49" charset="0"/>
                <a:ea typeface="JetBrains Mono" pitchFamily="49" charset="-122"/>
                <a:cs typeface="JetBrains Mono" pitchFamily="49" charset="-120"/>
              </a:rPr>
              <a:t>"COPILOT_AVALONIA_URL="</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lines.on("line", (line) =&gt;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(!line.startsWith(prefix)) return;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resolve({ child, baseUrl: loopbackCanvasUrl(</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line.slice(prefix.length).trim())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7" name="Shape 5"/>
          <p:cNvSpPr/>
          <p:nvPr/>
        </p:nvSpPr>
        <p:spPr>
          <a:xfrm>
            <a:off x="6200775" y="1882725"/>
            <a:ext cx="5175250" cy="3699470"/>
          </a:xfrm>
          <a:prstGeom prst="roundRect">
            <a:avLst>
              <a:gd name="adj" fmla="val 2661"/>
            </a:avLst>
          </a:prstGeom>
          <a:solidFill>
            <a:srgbClr val="1A2133"/>
          </a:solidFill>
          <a:ln w="6350">
            <a:solidFill>
              <a:srgbClr val="2B3550"/>
            </a:solidFill>
            <a:prstDash val="solid"/>
          </a:ln>
        </p:spPr>
        <p:txBody>
          <a:bodyPr/>
          <a:p/>
        </p:txBody>
      </p:sp>
      <p:sp>
        <p:nvSpPr>
          <p:cNvPr id="8" name="Text 6"/>
          <p:cNvSpPr/>
          <p:nvPr/>
        </p:nvSpPr>
        <p:spPr>
          <a:xfrm>
            <a:off x="6407150" y="20891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An action that requires having control</a:t>
            </a:r>
            <a:endParaRPr lang="en-US" sz="1200" dirty="0"/>
          </a:p>
        </p:txBody>
      </p:sp>
      <p:sp>
        <p:nvSpPr>
          <p:cNvPr id="9" name="Text 7"/>
          <p:cNvSpPr/>
          <p:nvPr/>
        </p:nvSpPr>
        <p:spPr>
          <a:xfrm>
            <a:off x="6407150" y="2404021"/>
            <a:ext cx="4905375" cy="2997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function</a:t>
            </a:r>
            <a:r>
              <a:rPr lang="en-US" sz="1200" dirty="0">
                <a:solidFill>
                  <a:srgbClr val="D7DEEA"/>
                </a:solidFill>
                <a:latin typeface="JetBrains Mono" pitchFamily="49" charset="0"/>
                <a:ea typeface="JetBrains Mono" pitchFamily="49" charset="-122"/>
                <a:cs typeface="JetBrains Mono" pitchFamily="49" charset="-120"/>
              </a:rPr>
              <a:t> leasedAction(name, description,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inputSchema, run)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return</a:t>
            </a:r>
            <a:r>
              <a:rPr lang="en-US" sz="1200" dirty="0">
                <a:solidFill>
                  <a:srgbClr val="D7DEEA"/>
                </a:solidFill>
                <a:latin typeface="JetBrains Mono" pitchFamily="49" charset="0"/>
                <a:ea typeface="JetBrains Mono" pitchFamily="49" charset="-122"/>
                <a:cs typeface="JetBrains Mono" pitchFamily="49" charset="-120"/>
              </a:rPr>
              <a:t> { name, inputSchema,</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description: description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 Requires acquire_control first."</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handler: queuedAction(async (ctx, state) =&gt;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(!state.leaseId) throw new CanvasError(</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"lease_required"</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"Call acquire_control first.");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return run(ctx, state.leaseId);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10" name="Text 8"/>
          <p:cNvSpPr/>
          <p:nvPr/>
        </p:nvSpPr>
        <p:spPr>
          <a:xfrm>
            <a:off x="812800" y="6238280"/>
            <a:ext cx="613892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Simplified excerpt of .github/extensions/copilot-avalonia/extension.mjs</a:t>
            </a:r>
            <a:endParaRPr lang="en-US" sz="1200" dirty="0"/>
          </a:p>
        </p:txBody>
      </p:sp>
      <p:sp>
        <p:nvSpPr>
          <p:cNvPr id="11" name="Text 9"/>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9</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agent drives a desktop app</a:t>
            </a:r>
            <a:endParaRPr lang="en-US" sz="3200" dirty="0"/>
          </a:p>
        </p:txBody>
      </p:sp>
      <p:sp>
        <p:nvSpPr>
          <p:cNvPr id="4" name="Shape 2"/>
          <p:cNvSpPr/>
          <p:nvPr/>
        </p:nvSpPr>
        <p:spPr>
          <a:xfrm>
            <a:off x="812800" y="1879550"/>
            <a:ext cx="4546600" cy="2673152"/>
          </a:xfrm>
          <a:prstGeom prst="roundRect">
            <a:avLst>
              <a:gd name="adj" fmla="val 3801"/>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Open the Copilot.Avalonia canvas for src/SampleApp, enter the name Javier, click Greet, and tell me what appears.</a:t>
            </a:r>
            <a:endParaRPr lang="en-US" sz="1200" dirty="0"/>
          </a:p>
        </p:txBody>
      </p:sp>
      <p:pic>
        <p:nvPicPr>
          <p:cNvPr id="7" name="Image 0" descr="line">    </p:cNvPr>
          <p:cNvPicPr>
            <a:picLocks noChangeAspect="1"/>
          </p:cNvPicPr>
          <p:nvPr/>
        </p:nvPicPr>
        <p:blipFill>
          <a:blip r:embed="rId1"/>
          <a:srcRect l="0" r="0" t="0" b="0"/>
          <a:stretch/>
        </p:blipFill>
        <p:spPr>
          <a:xfrm>
            <a:off x="1066800" y="3235871"/>
            <a:ext cx="4038600" cy="6350"/>
          </a:xfrm>
          <a:prstGeom prst="rect">
            <a:avLst/>
          </a:prstGeom>
        </p:spPr>
      </p:pic>
      <p:sp>
        <p:nvSpPr>
          <p:cNvPr id="8" name="Text 5"/>
          <p:cNvSpPr/>
          <p:nvPr/>
        </p:nvSpPr>
        <p:spPr>
          <a:xfrm>
            <a:off x="1066800" y="33438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6587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The agent fills NameBox, clicks GreetButton and reads GreetingText. Then the plan's cases pass or fail.</a:t>
            </a:r>
            <a:endParaRPr lang="en-US" sz="1200" dirty="0"/>
          </a:p>
        </p:txBody>
      </p:sp>
      <p:sp>
        <p:nvSpPr>
          <p:cNvPr id="10" name="Text 7"/>
          <p:cNvSpPr/>
          <p:nvPr/>
        </p:nvSpPr>
        <p:spPr>
          <a:xfrm>
            <a:off x="812800" y="4705102"/>
            <a:ext cx="46829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Plan B: dotnet run --project src/SampleApp --launch-profile Canvas</a:t>
            </a:r>
            <a:endParaRPr lang="en-US" sz="1200" dirty="0"/>
          </a:p>
        </p:txBody>
      </p:sp>
      <p:pic>
        <p:nvPicPr>
          <p:cNvPr id="11" name="Image 1" descr="GitHub Copilot app: Agent has control of the running Avalonia app">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Agent has control, with Take back control</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33</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2307431" cy="314920"/>
          </a:xfrm>
          <a:prstGeom prst="roundRect">
            <a:avLst>
              <a:gd name="adj" fmla="val 48393"/>
            </a:avLst>
          </a:prstGeom>
          <a:solidFill>
            <a:srgbClr val="161A26"/>
          </a:solidFill>
          <a:ln/>
        </p:spPr>
        <p:txBody>
          <a:bodyPr wrap="none" lIns="0" tIns="0" rIns="0" bIns="0" rtlCol="0" anchor="ctr">
            <a:normAutofit/>
          </a:bodyPr>
          <a:lstStyle/>
          <a:p>
            <a:pPr algn="ctr" indent="0" marL="0">
              <a:lnSpc>
                <a:spcPts val="1680"/>
              </a:lnSpc>
              <a:buNone/>
            </a:pPr>
            <a:r>
              <a:rPr lang="en-US" sz="1200" b="1" spc="100" kern="0" dirty="0">
                <a:solidFill>
                  <a:srgbClr val="F4F1EA"/>
                </a:solidFill>
                <a:latin typeface="IBM Plex Sans" pitchFamily="34" charset="0"/>
                <a:ea typeface="IBM Plex Sans" pitchFamily="34" charset="-122"/>
                <a:cs typeface="IBM Plex Sans" pitchFamily="34" charset="-120"/>
              </a:rPr>
              <a:t>DEMO 9 · REAL CAPTURE</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interface asks the agent for work</a:t>
            </a:r>
            <a:endParaRPr lang="en-US" sz="3200" dirty="0"/>
          </a:p>
        </p:txBody>
      </p:sp>
      <p:pic>
        <p:nvPicPr>
          <p:cNvPr id="4" name="Image 0" descr="GitHub Copilot app: after the Ask Copilot to run it button, the agent marks the three test plan cases as passed, each with a note">    </p:cNvPr>
          <p:cNvPicPr>
            <a:picLocks noChangeAspect="1"/>
          </p:cNvPicPr>
          <p:nvPr/>
        </p:nvPicPr>
        <p:blipFill>
          <a:blip r:embed="rId1"/>
          <a:srcRect/>
          <a:stretch/>
        </p:blipFill>
        <p:spPr>
          <a:xfrm>
            <a:off x="819150" y="1885900"/>
            <a:ext cx="6489700" cy="3898900"/>
          </a:xfrm>
          <a:prstGeom prst="roundRect">
            <a:avLst>
              <a:gd name="adj" fmla="val 1792"/>
            </a:avLst>
          </a:prstGeom>
        </p:spPr>
      </p:pic>
      <p:sp>
        <p:nvSpPr>
          <p:cNvPr id="5" name="Shape 2"/>
          <p:cNvSpPr/>
          <p:nvPr/>
        </p:nvSpPr>
        <p:spPr>
          <a:xfrm>
            <a:off x="815975" y="1882725"/>
            <a:ext cx="6496050" cy="3905250"/>
          </a:xfrm>
          <a:prstGeom prst="roundRect">
            <a:avLst>
              <a:gd name="adj" fmla="val 1870"/>
            </a:avLst>
          </a:prstGeom>
          <a:noFill/>
          <a:ln w="6350">
            <a:solidFill>
              <a:srgbClr val="D5D0C4"/>
            </a:solidFill>
            <a:prstDash val="solid"/>
          </a:ln>
        </p:spPr>
        <p:txBody>
          <a:bodyPr/>
          <a:p/>
        </p:txBody>
      </p:sp>
      <p:sp>
        <p:nvSpPr>
          <p:cNvPr id="6" name="Text 3"/>
          <p:cNvSpPr/>
          <p:nvPr/>
        </p:nvSpPr>
        <p:spPr>
          <a:xfrm>
            <a:off x="7620000" y="1879550"/>
            <a:ext cx="387197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B46E0"/>
                </a:solidFill>
                <a:latin typeface="IBM Plex Sans" pitchFamily="34" charset="0"/>
                <a:ea typeface="IBM Plex Sans" pitchFamily="34" charset="-122"/>
                <a:cs typeface="IBM Plex Sans" pitchFamily="34" charset="-120"/>
              </a:rPr>
              <a:t>WHAT TO LOOK FOR</a:t>
            </a:r>
            <a:endParaRPr lang="en-US" sz="1200" dirty="0"/>
          </a:p>
        </p:txBody>
      </p:sp>
      <p:sp>
        <p:nvSpPr>
          <p:cNvPr id="7" name="Text 4"/>
          <p:cNvSpPr/>
          <p:nvPr/>
        </p:nvSpPr>
        <p:spPr>
          <a:xfrm>
            <a:off x="7620000" y="2245271"/>
            <a:ext cx="3871976"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The canvas button sends the prompt with session.send: it shows up as just another message.</a:t>
            </a:r>
            <a:endParaRPr lang="en-US" sz="1500" dirty="0"/>
          </a:p>
        </p:txBody>
      </p:sp>
      <p:sp>
        <p:nvSpPr>
          <p:cNvPr id="8" name="Text 5"/>
          <p:cNvSpPr/>
          <p:nvPr/>
        </p:nvSpPr>
        <p:spPr>
          <a:xfrm>
            <a:off x="7620000" y="3197771"/>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The agent runs each case in the real app and marks it with set_status and a note.</a:t>
            </a:r>
            <a:endParaRPr lang="en-US" sz="1500" dirty="0"/>
          </a:p>
        </p:txBody>
      </p:sp>
      <p:sp>
        <p:nvSpPr>
          <p:cNvPr id="9" name="Text 6"/>
          <p:cNvSpPr/>
          <p:nvPr/>
        </p:nvSpPr>
        <p:spPr>
          <a:xfrm>
            <a:off x="7620000" y="3883571"/>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Result: 3 cases, 3 passed, with what was observed in each.</a:t>
            </a:r>
            <a:endParaRPr lang="en-US" sz="1500" dirty="0"/>
          </a:p>
        </p:txBody>
      </p:sp>
      <p:sp>
        <p:nvSpPr>
          <p:cNvPr id="10" name="Text 7"/>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1" name="Text 8"/>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34</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8 · CANVAS · A REAL EXAMPLE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Four lessons for your own canvas</a:t>
            </a:r>
            <a:endParaRPr lang="en-US" sz="3200" dirty="0"/>
          </a:p>
        </p:txBody>
      </p:sp>
      <p:sp>
        <p:nvSpPr>
          <p:cNvPr id="4" name="Shape 2"/>
          <p:cNvSpPr/>
          <p:nvPr/>
        </p:nvSpPr>
        <p:spPr>
          <a:xfrm>
            <a:off x="815975" y="1882725"/>
            <a:ext cx="5175250" cy="1428750"/>
          </a:xfrm>
          <a:prstGeom prst="roundRect">
            <a:avLst>
              <a:gd name="adj" fmla="val 6889"/>
            </a:avLst>
          </a:prstGeom>
          <a:solidFill>
            <a:srgbClr val="1A2133"/>
          </a:solidFill>
          <a:ln w="6350">
            <a:solidFill>
              <a:srgbClr val="2B3550"/>
            </a:solidFill>
            <a:prstDash val="solid"/>
          </a:ln>
        </p:spPr>
        <p:txBody>
          <a:bodyPr/>
          <a:p/>
        </p:txBody>
      </p:sp>
      <p:sp>
        <p:nvSpPr>
          <p:cNvPr id="5" name="Text 3"/>
          <p:cNvSpPr/>
          <p:nvPr/>
        </p:nvSpPr>
        <p:spPr>
          <a:xfrm>
            <a:off x="1073150" y="21399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Shared control</a:t>
            </a:r>
            <a:endParaRPr lang="en-US" sz="2000" dirty="0"/>
          </a:p>
        </p:txBody>
      </p:sp>
      <p:sp>
        <p:nvSpPr>
          <p:cNvPr id="6" name="Text 4"/>
          <p:cNvSpPr/>
          <p:nvPr/>
        </p:nvSpPr>
        <p:spPr>
          <a:xfrm>
            <a:off x="1073150" y="2520900"/>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 agent asks for control with a reason and an expiry. The person takes it back whenever they want.</a:t>
            </a:r>
            <a:endParaRPr lang="en-US" sz="1500" dirty="0"/>
          </a:p>
        </p:txBody>
      </p:sp>
      <p:sp>
        <p:nvSpPr>
          <p:cNvPr id="7" name="Shape 5"/>
          <p:cNvSpPr/>
          <p:nvPr/>
        </p:nvSpPr>
        <p:spPr>
          <a:xfrm>
            <a:off x="6200775" y="1882725"/>
            <a:ext cx="5175250" cy="1428750"/>
          </a:xfrm>
          <a:prstGeom prst="roundRect">
            <a:avLst>
              <a:gd name="adj" fmla="val 6889"/>
            </a:avLst>
          </a:prstGeom>
          <a:solidFill>
            <a:srgbClr val="1A2133"/>
          </a:solidFill>
          <a:ln w="6350">
            <a:solidFill>
              <a:srgbClr val="2B3550"/>
            </a:solidFill>
            <a:prstDash val="solid"/>
          </a:ln>
        </p:spPr>
        <p:txBody>
          <a:bodyPr/>
          <a:p/>
        </p:txBody>
      </p:sp>
      <p:sp>
        <p:nvSpPr>
          <p:cNvPr id="8" name="Text 6"/>
          <p:cNvSpPr/>
          <p:nvPr/>
        </p:nvSpPr>
        <p:spPr>
          <a:xfrm>
            <a:off x="6457950" y="21399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Verify, don't assume</a:t>
            </a:r>
            <a:endParaRPr lang="en-US" sz="2000" dirty="0"/>
          </a:p>
        </p:txBody>
      </p:sp>
      <p:sp>
        <p:nvSpPr>
          <p:cNvPr id="9" name="Text 7"/>
          <p:cNvSpPr/>
          <p:nvPr/>
        </p:nvSpPr>
        <p:spPr>
          <a:xfrm>
            <a:off x="6457950" y="2520900"/>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Sending input doesn't prove the result. Every action returns state you can check.</a:t>
            </a:r>
            <a:endParaRPr lang="en-US" sz="1500" dirty="0"/>
          </a:p>
        </p:txBody>
      </p:sp>
      <p:sp>
        <p:nvSpPr>
          <p:cNvPr id="10" name="Shape 8"/>
          <p:cNvSpPr/>
          <p:nvPr/>
        </p:nvSpPr>
        <p:spPr>
          <a:xfrm>
            <a:off x="815975" y="3521025"/>
            <a:ext cx="5175250" cy="1695450"/>
          </a:xfrm>
          <a:prstGeom prst="roundRect">
            <a:avLst>
              <a:gd name="adj" fmla="val 5805"/>
            </a:avLst>
          </a:prstGeom>
          <a:solidFill>
            <a:srgbClr val="1A2133"/>
          </a:solidFill>
          <a:ln w="6350">
            <a:solidFill>
              <a:srgbClr val="2B3550"/>
            </a:solidFill>
            <a:prstDash val="solid"/>
          </a:ln>
        </p:spPr>
        <p:txBody>
          <a:bodyPr/>
          <a:p/>
        </p:txBody>
      </p:sp>
      <p:sp>
        <p:nvSpPr>
          <p:cNvPr id="11" name="Text 9"/>
          <p:cNvSpPr/>
          <p:nvPr/>
        </p:nvSpPr>
        <p:spPr>
          <a:xfrm>
            <a:off x="1073150" y="3778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Limit everything</a:t>
            </a:r>
            <a:endParaRPr lang="en-US" sz="2000" dirty="0"/>
          </a:p>
        </p:txBody>
      </p:sp>
      <p:sp>
        <p:nvSpPr>
          <p:cNvPr id="12" name="Text 10"/>
          <p:cNvSpPr/>
          <p:nvPr/>
        </p:nvSpPr>
        <p:spPr>
          <a:xfrm>
            <a:off x="1073150" y="4159200"/>
            <a:ext cx="4800727"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Responses capped at 64 KiB, text paginated. The model's context is a resource too.</a:t>
            </a:r>
            <a:endParaRPr lang="en-US" sz="1500" dirty="0"/>
          </a:p>
        </p:txBody>
      </p:sp>
      <p:sp>
        <p:nvSpPr>
          <p:cNvPr id="13" name="Shape 11"/>
          <p:cNvSpPr/>
          <p:nvPr/>
        </p:nvSpPr>
        <p:spPr>
          <a:xfrm>
            <a:off x="6200775" y="3521025"/>
            <a:ext cx="5175250" cy="1695450"/>
          </a:xfrm>
          <a:prstGeom prst="roundRect">
            <a:avLst>
              <a:gd name="adj" fmla="val 5805"/>
            </a:avLst>
          </a:prstGeom>
          <a:solidFill>
            <a:srgbClr val="1A2133"/>
          </a:solidFill>
          <a:ln w="6350">
            <a:solidFill>
              <a:srgbClr val="2B3550"/>
            </a:solidFill>
            <a:prstDash val="solid"/>
          </a:ln>
        </p:spPr>
        <p:txBody>
          <a:bodyPr/>
          <a:p/>
        </p:txBody>
      </p:sp>
      <p:sp>
        <p:nvSpPr>
          <p:cNvPr id="14" name="Text 12"/>
          <p:cNvSpPr/>
          <p:nvPr/>
        </p:nvSpPr>
        <p:spPr>
          <a:xfrm>
            <a:off x="6457950" y="3778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What it reads is data</a:t>
            </a:r>
            <a:endParaRPr lang="en-US" sz="2000" dirty="0"/>
          </a:p>
        </p:txBody>
      </p:sp>
      <p:sp>
        <p:nvSpPr>
          <p:cNvPr id="15" name="Text 13"/>
          <p:cNvSpPr/>
          <p:nvPr/>
        </p:nvSpPr>
        <p:spPr>
          <a:xfrm>
            <a:off x="6457950" y="4159200"/>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UI text and logs are not instructions. Say so in the canvas description.</a:t>
            </a:r>
            <a:endParaRPr lang="en-US" sz="1500" dirty="0"/>
          </a:p>
        </p:txBody>
      </p:sp>
      <p:sp>
        <p:nvSpPr>
          <p:cNvPr id="16" name="Text 14"/>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7" name="Text 15"/>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35</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9 · PLUGINS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Package and distribute with one command</a:t>
            </a:r>
            <a:endParaRPr lang="en-US" sz="3200" dirty="0"/>
          </a:p>
        </p:txBody>
      </p:sp>
      <p:sp>
        <p:nvSpPr>
          <p:cNvPr id="4" name="Text 2"/>
          <p:cNvSpPr/>
          <p:nvPr/>
        </p:nvSpPr>
        <p:spPr>
          <a:xfrm>
            <a:off x="812800" y="1879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 plugin isn't a new piece: it's a package of skills, agents, hooks, MCP and LSP servers, and extensions.</a:t>
            </a:r>
            <a:endParaRPr lang="en-US" sz="1500" dirty="0"/>
          </a:p>
        </p:txBody>
      </p:sp>
      <p:sp>
        <p:nvSpPr>
          <p:cNvPr id="5" name="Text 3"/>
          <p:cNvSpPr/>
          <p:nvPr/>
        </p:nvSpPr>
        <p:spPr>
          <a:xfrm>
            <a:off x="812800" y="28320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plugin.json describes the contents. marketplace.json turns a repo into a catalog.</a:t>
            </a:r>
            <a:endParaRPr lang="en-US" sz="1500" dirty="0"/>
          </a:p>
        </p:txBody>
      </p:sp>
      <p:sp>
        <p:nvSpPr>
          <p:cNvPr id="6" name="Text 4"/>
          <p:cNvSpPr/>
          <p:nvPr/>
        </p:nvSpPr>
        <p:spPr>
          <a:xfrm>
            <a:off x="812800" y="35178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Install with copilot plugin install name@marketplace; updates are versioned.</a:t>
            </a:r>
            <a:endParaRPr lang="en-US" sz="1500" dirty="0"/>
          </a:p>
        </p:txBody>
      </p:sp>
      <p:sp>
        <p:nvSpPr>
          <p:cNvPr id="7" name="Shape 5"/>
          <p:cNvSpPr/>
          <p:nvPr/>
        </p:nvSpPr>
        <p:spPr>
          <a:xfrm>
            <a:off x="5221833" y="1882725"/>
            <a:ext cx="6154192" cy="3658791"/>
          </a:xfrm>
          <a:prstGeom prst="roundRect">
            <a:avLst>
              <a:gd name="adj" fmla="val 2690"/>
            </a:avLst>
          </a:prstGeom>
          <a:solidFill>
            <a:srgbClr val="1A2133"/>
          </a:solidFill>
          <a:ln w="6350">
            <a:solidFill>
              <a:srgbClr val="2B3550"/>
            </a:solidFill>
            <a:prstDash val="solid"/>
          </a:ln>
        </p:spPr>
        <p:txBody>
          <a:bodyPr/>
          <a:p/>
        </p:txBody>
      </p:sp>
      <p:sp>
        <p:nvSpPr>
          <p:cNvPr id="8" name="Text 6"/>
          <p:cNvSpPr/>
          <p:nvPr/>
        </p:nvSpPr>
        <p:spPr>
          <a:xfrm>
            <a:off x="5428208" y="20891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plugin.json</a:t>
            </a:r>
            <a:endParaRPr lang="en-US" sz="1200" dirty="0"/>
          </a:p>
        </p:txBody>
      </p:sp>
      <p:sp>
        <p:nvSpPr>
          <p:cNvPr id="9" name="Text 7"/>
          <p:cNvSpPr/>
          <p:nvPr/>
        </p:nvSpPr>
        <p:spPr>
          <a:xfrm>
            <a:off x="5428208" y="2404021"/>
            <a:ext cx="5913685" cy="2082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"name": </a:t>
            </a:r>
            <a:r>
              <a:rPr lang="en-US" sz="1200" dirty="0">
                <a:solidFill>
                  <a:srgbClr val="F2B84B"/>
                </a:solidFill>
                <a:latin typeface="JetBrains Mono" pitchFamily="49" charset="0"/>
                <a:ea typeface="JetBrains Mono" pitchFamily="49" charset="-122"/>
                <a:cs typeface="JetBrains Mono" pitchFamily="49" charset="-120"/>
              </a:rPr>
              <a:t>"my-plugin"</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"version": "0.1.0",</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"agents": "agents/",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"skills": "skills/",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"hooks": "hooks.json",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"mcpServers": ".mcp.json",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"lspServers": "lsp.json"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10" name="Text 8"/>
          <p:cNvSpPr/>
          <p:nvPr/>
        </p:nvSpPr>
        <p:spPr>
          <a:xfrm>
            <a:off x="5428208" y="4563021"/>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Install from a marketplace</a:t>
            </a:r>
            <a:endParaRPr lang="en-US" sz="1200" dirty="0"/>
          </a:p>
        </p:txBody>
      </p:sp>
      <p:sp>
        <p:nvSpPr>
          <p:cNvPr id="11" name="Text 9"/>
          <p:cNvSpPr/>
          <p:nvPr/>
        </p:nvSpPr>
        <p:spPr>
          <a:xfrm>
            <a:off x="5428208" y="4877941"/>
            <a:ext cx="5913685"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copilot plugin marketplace add jsuarezruiz/copilot-avalonia</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copilot plugin install copilot-avalonia@copilot-avalonia</a:t>
            </a:r>
            <a:endParaRPr lang="en-US" sz="1200" dirty="0"/>
          </a:p>
        </p:txBody>
      </p:sp>
      <p:sp>
        <p:nvSpPr>
          <p:cNvPr id="12"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991295"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10</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Install a plugin in another project</a:t>
            </a:r>
            <a:endParaRPr lang="en-US" sz="3200" dirty="0"/>
          </a:p>
        </p:txBody>
      </p:sp>
      <p:sp>
        <p:nvSpPr>
          <p:cNvPr id="4" name="Shape 2"/>
          <p:cNvSpPr/>
          <p:nvPr/>
        </p:nvSpPr>
        <p:spPr>
          <a:xfrm>
            <a:off x="812800" y="1879550"/>
            <a:ext cx="4546600" cy="2688431"/>
          </a:xfrm>
          <a:prstGeom prst="roundRect">
            <a:avLst>
              <a:gd name="adj" fmla="val 3779"/>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COMMANDS</a:t>
            </a:r>
            <a:endParaRPr lang="en-US" sz="1200" dirty="0"/>
          </a:p>
        </p:txBody>
      </p:sp>
      <p:sp>
        <p:nvSpPr>
          <p:cNvPr id="6" name="Text 4"/>
          <p:cNvSpPr/>
          <p:nvPr/>
        </p:nvSpPr>
        <p:spPr>
          <a:xfrm>
            <a:off x="1066800" y="2448471"/>
            <a:ext cx="4159758"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copilot plugin marketplace add .</a:t>
            </a:r>
            <a:endParaRPr lang="en-US" sz="1200" dirty="0"/>
          </a:p>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copilot plugin install avalonia-kit@devdays-sevilla</a:t>
            </a:r>
            <a:endParaRPr lang="en-US" sz="1200" dirty="0"/>
          </a:p>
        </p:txBody>
      </p:sp>
      <p:pic>
        <p:nvPicPr>
          <p:cNvPr id="7" name="Image 0" descr="line">    </p:cNvPr>
          <p:cNvPicPr>
            <a:picLocks noChangeAspect="1"/>
          </p:cNvPicPr>
          <p:nvPr/>
        </p:nvPicPr>
        <p:blipFill>
          <a:blip r:embed="rId1"/>
          <a:srcRect l="0" r="0" t="0" b="0"/>
          <a:stretch/>
        </p:blipFill>
        <p:spPr>
          <a:xfrm>
            <a:off x="1066800" y="3464471"/>
            <a:ext cx="4038600" cy="6350"/>
          </a:xfrm>
          <a:prstGeom prst="rect">
            <a:avLst/>
          </a:prstGeom>
        </p:spPr>
      </p:pic>
      <p:sp>
        <p:nvSpPr>
          <p:cNvPr id="8" name="Text 5"/>
          <p:cNvSpPr/>
          <p:nvPr/>
        </p:nvSpPr>
        <p:spPr>
          <a:xfrm>
            <a:off x="1066800" y="35724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887341"/>
            <a:ext cx="41597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The skill and the agent available in a repo that has neither: they arrived with the plugin.</a:t>
            </a:r>
            <a:endParaRPr lang="en-US" sz="1200" dirty="0"/>
          </a:p>
        </p:txBody>
      </p:sp>
      <p:sp>
        <p:nvSpPr>
          <p:cNvPr id="10" name="Text 7"/>
          <p:cNvSpPr/>
          <p:nvPr/>
        </p:nvSpPr>
        <p:spPr>
          <a:xfrm>
            <a:off x="812800" y="4720382"/>
            <a:ext cx="46829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00-baseline · afterwards: copilot plugin uninstall avalonia-kit</a:t>
            </a:r>
            <a:endParaRPr lang="en-US" sz="1200" dirty="0"/>
          </a:p>
        </p:txBody>
      </p:sp>
      <p:pic>
        <p:nvPicPr>
          <p:cNvPr id="11" name="Image 1" descr="GitHub Copilot app: the plugin's skill loaded in a repo that has no skills">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the plugin's skill loaded in a repo that has none</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37</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2735312" cy="314920"/>
          </a:xfrm>
          <a:prstGeom prst="roundRect">
            <a:avLst>
              <a:gd name="adj" fmla="val 48393"/>
            </a:avLst>
          </a:prstGeom>
          <a:solidFill>
            <a:srgbClr val="161A26"/>
          </a:solidFill>
          <a:ln/>
        </p:spPr>
        <p:txBody>
          <a:bodyPr wrap="none" lIns="0" tIns="0" rIns="0" bIns="0" rtlCol="0" anchor="ctr">
            <a:normAutofit/>
          </a:bodyPr>
          <a:lstStyle/>
          <a:p>
            <a:pPr algn="ctr" indent="0" marL="0">
              <a:lnSpc>
                <a:spcPts val="1680"/>
              </a:lnSpc>
              <a:buNone/>
            </a:pPr>
            <a:r>
              <a:rPr lang="en-US" sz="1200" b="1" spc="100" kern="0" dirty="0">
                <a:solidFill>
                  <a:srgbClr val="F4F1EA"/>
                </a:solidFill>
                <a:latin typeface="IBM Plex Sans" pitchFamily="34" charset="0"/>
                <a:ea typeface="IBM Plex Sans" pitchFamily="34" charset="-122"/>
                <a:cs typeface="IBM Plex Sans" pitchFamily="34" charset="-120"/>
              </a:rPr>
              <a:t>ALL TOGETHER · REAL CAPTURE</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opening prompt, with everything loaded</a:t>
            </a:r>
            <a:endParaRPr lang="en-US" sz="3200" dirty="0"/>
          </a:p>
        </p:txBody>
      </p:sp>
      <p:pic>
        <p:nvPicPr>
          <p:cNvPr id="4" name="Image 0" descr="Sesión con el prompt de añadir un botón Clear a SampleApp. El agente responde que añadió el botón con Name y AutomationId coherentes y que lo comprobó en la app. A la derecha, el canvas muestra la app con el botón Clear nuevo">    </p:cNvPr>
          <p:cNvPicPr>
            <a:picLocks noChangeAspect="1"/>
          </p:cNvPicPr>
          <p:nvPr/>
        </p:nvPicPr>
        <p:blipFill>
          <a:blip r:embed="rId1"/>
          <a:srcRect l="-42" r="-42" t="0" b="0"/>
          <a:stretch/>
        </p:blipFill>
        <p:spPr>
          <a:xfrm>
            <a:off x="819150" y="1885900"/>
            <a:ext cx="6489700" cy="3898900"/>
          </a:xfrm>
          <a:prstGeom prst="roundRect">
            <a:avLst>
              <a:gd name="adj" fmla="val 1792"/>
            </a:avLst>
          </a:prstGeom>
        </p:spPr>
      </p:pic>
      <p:sp>
        <p:nvSpPr>
          <p:cNvPr id="5" name="Shape 2"/>
          <p:cNvSpPr/>
          <p:nvPr/>
        </p:nvSpPr>
        <p:spPr>
          <a:xfrm>
            <a:off x="815975" y="1882725"/>
            <a:ext cx="6496050" cy="3905250"/>
          </a:xfrm>
          <a:prstGeom prst="roundRect">
            <a:avLst>
              <a:gd name="adj" fmla="val 1870"/>
            </a:avLst>
          </a:prstGeom>
          <a:noFill/>
          <a:ln w="6350">
            <a:solidFill>
              <a:srgbClr val="D5D0C4"/>
            </a:solidFill>
            <a:prstDash val="solid"/>
          </a:ln>
        </p:spPr>
        <p:txBody>
          <a:bodyPr/>
          <a:p/>
        </p:txBody>
      </p:sp>
      <p:sp>
        <p:nvSpPr>
          <p:cNvPr id="6" name="Text 3"/>
          <p:cNvSpPr/>
          <p:nvPr/>
        </p:nvSpPr>
        <p:spPr>
          <a:xfrm>
            <a:off x="7620000" y="1879550"/>
            <a:ext cx="387197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B46E0"/>
                </a:solidFill>
                <a:latin typeface="IBM Plex Sans" pitchFamily="34" charset="0"/>
                <a:ea typeface="IBM Plex Sans" pitchFamily="34" charset="-122"/>
                <a:cs typeface="IBM Plex Sans" pitchFamily="34" charset="-120"/>
              </a:rPr>
              <a:t>WHAT TO LOOK FOR</a:t>
            </a:r>
            <a:endParaRPr lang="en-US" sz="1200" dirty="0"/>
          </a:p>
        </p:txBody>
      </p:sp>
      <p:sp>
        <p:nvSpPr>
          <p:cNvPr id="7" name="Text 4"/>
          <p:cNvSpPr/>
          <p:nvPr/>
        </p:nvSpPr>
        <p:spPr>
          <a:xfrm>
            <a:off x="7620000" y="2245271"/>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It's the optional Demo 0 prompt: add a Clear button and check that it works.</a:t>
            </a:r>
            <a:endParaRPr lang="en-US" sz="1500" dirty="0"/>
          </a:p>
        </p:txBody>
      </p:sp>
      <p:sp>
        <p:nvSpPr>
          <p:cNvPr id="8" name="Text 5"/>
          <p:cNvSpPr/>
          <p:nvPr/>
        </p:nvSpPr>
        <p:spPr>
          <a:xfrm>
            <a:off x="7620000" y="2931071"/>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The button has a consistent Name and AutomationId, as the instructions require.</a:t>
            </a:r>
            <a:endParaRPr lang="en-US" sz="1500" dirty="0"/>
          </a:p>
        </p:txBody>
      </p:sp>
      <p:sp>
        <p:nvSpPr>
          <p:cNvPr id="9" name="Text 6"/>
          <p:cNvSpPr/>
          <p:nvPr/>
        </p:nvSpPr>
        <p:spPr>
          <a:xfrm>
            <a:off x="7620000" y="3616871"/>
            <a:ext cx="3871976"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And it really checks: it opens the app in the canvas, types, clicks Clear and sees the fields empty.</a:t>
            </a:r>
            <a:endParaRPr lang="en-US" sz="1500" dirty="0"/>
          </a:p>
        </p:txBody>
      </p:sp>
      <p:sp>
        <p:nvSpPr>
          <p:cNvPr id="10" name="Text 7"/>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1" name="Text 8"/>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38</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AND ALSO</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Three more pieces to complete the map</a:t>
            </a:r>
            <a:endParaRPr lang="en-US" sz="3200" dirty="0"/>
          </a:p>
        </p:txBody>
      </p:sp>
      <p:sp>
        <p:nvSpPr>
          <p:cNvPr id="4" name="Shape 2"/>
          <p:cNvSpPr/>
          <p:nvPr/>
        </p:nvSpPr>
        <p:spPr>
          <a:xfrm>
            <a:off x="815975" y="1882725"/>
            <a:ext cx="3380284" cy="1987550"/>
          </a:xfrm>
          <a:prstGeom prst="roundRect">
            <a:avLst>
              <a:gd name="adj" fmla="val 4952"/>
            </a:avLst>
          </a:prstGeom>
          <a:solidFill>
            <a:srgbClr val="1A2133"/>
          </a:solidFill>
          <a:ln w="6350">
            <a:solidFill>
              <a:srgbClr val="2B3550"/>
            </a:solidFill>
            <a:prstDash val="solid"/>
          </a:ln>
        </p:spPr>
        <p:txBody>
          <a:bodyPr/>
          <a:p/>
        </p:txBody>
      </p:sp>
      <p:sp>
        <p:nvSpPr>
          <p:cNvPr id="5" name="Text 3"/>
          <p:cNvSpPr/>
          <p:nvPr/>
        </p:nvSpPr>
        <p:spPr>
          <a:xfrm>
            <a:off x="1073150" y="2139900"/>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Automations</a:t>
            </a:r>
            <a:endParaRPr lang="en-US" sz="2000" dirty="0"/>
          </a:p>
        </p:txBody>
      </p:sp>
      <p:sp>
        <p:nvSpPr>
          <p:cNvPr id="6" name="Text 4"/>
          <p:cNvSpPr/>
          <p:nvPr/>
        </p:nvSpPr>
        <p:spPr>
          <a:xfrm>
            <a:off x="1073150" y="2546300"/>
            <a:ext cx="2951912"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Scheduled agent tasks that run in the cloud, without needing your machine to be on.</a:t>
            </a:r>
            <a:endParaRPr lang="en-US" sz="1500" dirty="0"/>
          </a:p>
        </p:txBody>
      </p:sp>
      <p:sp>
        <p:nvSpPr>
          <p:cNvPr id="7" name="Shape 5"/>
          <p:cNvSpPr/>
          <p:nvPr/>
        </p:nvSpPr>
        <p:spPr>
          <a:xfrm>
            <a:off x="4405809" y="1882725"/>
            <a:ext cx="3380333" cy="1987550"/>
          </a:xfrm>
          <a:prstGeom prst="roundRect">
            <a:avLst>
              <a:gd name="adj" fmla="val 4952"/>
            </a:avLst>
          </a:prstGeom>
          <a:solidFill>
            <a:srgbClr val="1A2133"/>
          </a:solidFill>
          <a:ln w="6350">
            <a:solidFill>
              <a:srgbClr val="2B3550"/>
            </a:solidFill>
            <a:prstDash val="solid"/>
          </a:ln>
        </p:spPr>
        <p:txBody>
          <a:bodyPr/>
          <a:p/>
        </p:txBody>
      </p:sp>
      <p:sp>
        <p:nvSpPr>
          <p:cNvPr id="8" name="Text 6"/>
          <p:cNvSpPr/>
          <p:nvPr/>
        </p:nvSpPr>
        <p:spPr>
          <a:xfrm>
            <a:off x="4662984" y="2139900"/>
            <a:ext cx="29519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Copilot SDK</a:t>
            </a:r>
            <a:endParaRPr lang="en-US" sz="2000" dirty="0"/>
          </a:p>
        </p:txBody>
      </p:sp>
      <p:sp>
        <p:nvSpPr>
          <p:cNvPr id="9" name="Text 7"/>
          <p:cNvSpPr/>
          <p:nvPr/>
        </p:nvSpPr>
        <p:spPr>
          <a:xfrm>
            <a:off x="4662984" y="2546300"/>
            <a:ext cx="2951963"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 reverse path: the agent runtime inside your own app or service, driven from your code.</a:t>
            </a:r>
            <a:endParaRPr lang="en-US" sz="1500" dirty="0"/>
          </a:p>
        </p:txBody>
      </p:sp>
      <p:sp>
        <p:nvSpPr>
          <p:cNvPr id="10" name="Shape 8"/>
          <p:cNvSpPr/>
          <p:nvPr/>
        </p:nvSpPr>
        <p:spPr>
          <a:xfrm>
            <a:off x="7995692" y="1882725"/>
            <a:ext cx="3380333" cy="1987550"/>
          </a:xfrm>
          <a:prstGeom prst="roundRect">
            <a:avLst>
              <a:gd name="adj" fmla="val 4952"/>
            </a:avLst>
          </a:prstGeom>
          <a:solidFill>
            <a:srgbClr val="1A2133"/>
          </a:solidFill>
          <a:ln w="6350">
            <a:solidFill>
              <a:srgbClr val="2B3550"/>
            </a:solidFill>
            <a:prstDash val="solid"/>
          </a:ln>
        </p:spPr>
        <p:txBody>
          <a:bodyPr/>
          <a:p/>
        </p:txBody>
      </p:sp>
      <p:sp>
        <p:nvSpPr>
          <p:cNvPr id="11" name="Text 9"/>
          <p:cNvSpPr/>
          <p:nvPr/>
        </p:nvSpPr>
        <p:spPr>
          <a:xfrm>
            <a:off x="8252867" y="2139900"/>
            <a:ext cx="29519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Policies</a:t>
            </a:r>
            <a:endParaRPr lang="en-US" sz="2000" dirty="0"/>
          </a:p>
        </p:txBody>
      </p:sp>
      <p:sp>
        <p:nvSpPr>
          <p:cNvPr id="12" name="Text 10"/>
          <p:cNvSpPr/>
          <p:nvPr/>
        </p:nvSpPr>
        <p:spPr>
          <a:xfrm>
            <a:off x="8252867" y="2546300"/>
            <a:ext cx="2951963"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Administrators decide what can be used and installed through policies and a managed-settings.json.</a:t>
            </a:r>
            <a:endParaRPr lang="en-US" sz="1500" dirty="0"/>
          </a:p>
        </p:txBody>
      </p:sp>
      <p:sp>
        <p:nvSpPr>
          <p:cNvPr id="13" name="Text 11"/>
          <p:cNvSpPr/>
          <p:nvPr/>
        </p:nvSpPr>
        <p:spPr>
          <a:xfrm>
            <a:off x="812800" y="417825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And the engine is a choice too: per session, per agent as in step 3, or per phase as in step 7.</a:t>
            </a:r>
            <a:endParaRPr lang="en-US" sz="1500" dirty="0"/>
          </a:p>
        </p:txBody>
      </p:sp>
      <p:sp>
        <p:nvSpPr>
          <p:cNvPr id="14" name="Text 12"/>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3"/>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39</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WRAP-UP</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Which piece to use for each need</a:t>
            </a:r>
            <a:endParaRPr lang="en-US" sz="3200" dirty="0"/>
          </a:p>
        </p:txBody>
      </p:sp>
      <p:sp>
        <p:nvSpPr>
          <p:cNvPr id="4" name="Shape 2"/>
          <p:cNvSpPr/>
          <p:nvPr/>
        </p:nvSpPr>
        <p:spPr>
          <a:xfrm>
            <a:off x="11376025" y="1828750"/>
            <a:ext cx="0" cy="3345855"/>
          </a:xfrm>
          <a:prstGeom prst="line">
            <a:avLst/>
          </a:prstGeom>
          <a:noFill/>
          <a:ln w="6350">
            <a:solidFill>
              <a:srgbClr val="2B3550"/>
            </a:solidFill>
            <a:prstDash val="solid"/>
          </a:ln>
        </p:spPr>
        <p:txBody>
          <a:bodyPr/>
          <a:p/>
        </p:txBody>
      </p:sp>
      <p:sp>
        <p:nvSpPr>
          <p:cNvPr id="5" name="Shape 3"/>
          <p:cNvSpPr/>
          <p:nvPr/>
        </p:nvSpPr>
        <p:spPr>
          <a:xfrm>
            <a:off x="812800" y="5171430"/>
            <a:ext cx="10566400" cy="0"/>
          </a:xfrm>
          <a:prstGeom prst="line">
            <a:avLst/>
          </a:prstGeom>
          <a:noFill/>
          <a:ln w="6350">
            <a:solidFill>
              <a:srgbClr val="2B3550"/>
            </a:solidFill>
            <a:prstDash val="solid"/>
          </a:ln>
        </p:spPr>
        <p:txBody>
          <a:bodyPr/>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841450"/>
          <a:ext cx="10547350" cy="3326805"/>
        </p:xfrm>
        <a:graphic>
          <a:graphicData uri="http://schemas.openxmlformats.org/drawingml/2006/table">
            <a:tbl>
              <a:tblPr/>
              <a:tblGrid>
                <a:gridCol w="6961251"/>
                <a:gridCol w="3586099"/>
              </a:tblGrid>
              <a:tr h="332680">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If you need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Use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Rules that apply in every session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Instructions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repeatable procedure, only when needed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Skill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specialist with scoped permissions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Custom agent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Data or actions from an external system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MCP server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Exact definitions, references and renames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LSP server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Block or audit without relying on the model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Hook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Stateful logic inside the session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Extension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An interface for both the person and the agent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Canvas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Distribute it to other repos and teams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Plugin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bl>
          </a:graphicData>
        </a:graphic>
      </p:graphicFrame>
      <p:sp>
        <p:nvSpPr>
          <p:cNvPr id="7" name="Text 4"/>
          <p:cNvSpPr/>
          <p:nvPr/>
        </p:nvSpPr>
        <p:spPr>
          <a:xfrm>
            <a:off x="812800" y="5428605"/>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Start at the top and go down only when the row above falls short.</a:t>
            </a:r>
            <a:endParaRPr lang="en-US" sz="1500" dirty="0"/>
          </a:p>
        </p:txBody>
      </p:sp>
      <p:sp>
        <p:nvSpPr>
          <p:cNvPr id="8" name="Text 5"/>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9" name="Text 6"/>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40</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WRAP-UP</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More extension, more attack surface</a:t>
            </a:r>
            <a:endParaRPr lang="en-US" sz="3200" dirty="0"/>
          </a:p>
        </p:txBody>
      </p:sp>
      <p:sp>
        <p:nvSpPr>
          <p:cNvPr id="4" name="Shape 2"/>
          <p:cNvSpPr/>
          <p:nvPr/>
        </p:nvSpPr>
        <p:spPr>
          <a:xfrm>
            <a:off x="815975" y="1882725"/>
            <a:ext cx="3380284" cy="2025650"/>
          </a:xfrm>
          <a:prstGeom prst="roundRect">
            <a:avLst>
              <a:gd name="adj" fmla="val 4859"/>
            </a:avLst>
          </a:prstGeom>
          <a:solidFill>
            <a:srgbClr val="1A2133"/>
          </a:solidFill>
          <a:ln w="6350">
            <a:solidFill>
              <a:srgbClr val="2B3550"/>
            </a:solidFill>
            <a:prstDash val="solid"/>
          </a:ln>
        </p:spPr>
        <p:txBody>
          <a:bodyPr/>
          <a:p/>
        </p:txBody>
      </p:sp>
      <p:sp>
        <p:nvSpPr>
          <p:cNvPr id="5" name="Text 3"/>
          <p:cNvSpPr/>
          <p:nvPr/>
        </p:nvSpPr>
        <p:spPr>
          <a:xfrm>
            <a:off x="1073150" y="2139900"/>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The repo runs code</a:t>
            </a:r>
            <a:endParaRPr lang="en-US" sz="2000" dirty="0"/>
          </a:p>
        </p:txBody>
      </p:sp>
      <p:sp>
        <p:nvSpPr>
          <p:cNvPr id="6" name="Text 4"/>
          <p:cNvSpPr/>
          <p:nvPr/>
        </p:nvSpPr>
        <p:spPr>
          <a:xfrm>
            <a:off x="1073150" y="2546300"/>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A project's extensions load when you open it. Review someone else's repo before opening it in the app.</a:t>
            </a:r>
            <a:endParaRPr lang="en-US" sz="1500" dirty="0"/>
          </a:p>
        </p:txBody>
      </p:sp>
      <p:sp>
        <p:nvSpPr>
          <p:cNvPr id="7" name="Shape 5"/>
          <p:cNvSpPr/>
          <p:nvPr/>
        </p:nvSpPr>
        <p:spPr>
          <a:xfrm>
            <a:off x="4405809" y="1882725"/>
            <a:ext cx="3380333" cy="2025650"/>
          </a:xfrm>
          <a:prstGeom prst="roundRect">
            <a:avLst>
              <a:gd name="adj" fmla="val 4859"/>
            </a:avLst>
          </a:prstGeom>
          <a:solidFill>
            <a:srgbClr val="1A2133"/>
          </a:solidFill>
          <a:ln w="6350">
            <a:solidFill>
              <a:srgbClr val="2B3550"/>
            </a:solidFill>
            <a:prstDash val="solid"/>
          </a:ln>
        </p:spPr>
        <p:txBody>
          <a:bodyPr/>
          <a:p/>
        </p:txBody>
      </p:sp>
      <p:sp>
        <p:nvSpPr>
          <p:cNvPr id="8" name="Text 6"/>
          <p:cNvSpPr/>
          <p:nvPr/>
        </p:nvSpPr>
        <p:spPr>
          <a:xfrm>
            <a:off x="4662984" y="2139900"/>
            <a:ext cx="2951963"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What you install is a dependency</a:t>
            </a:r>
            <a:endParaRPr lang="en-US" sz="2000" dirty="0"/>
          </a:p>
        </p:txBody>
      </p:sp>
      <p:sp>
        <p:nvSpPr>
          <p:cNvPr id="9" name="Text 7"/>
          <p:cNvSpPr/>
          <p:nvPr/>
        </p:nvSpPr>
        <p:spPr>
          <a:xfrm>
            <a:off x="4662984" y="2851100"/>
            <a:ext cx="2951963"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GitHub doesn't verify third-party skills or plugins. Read them as you would a new library.</a:t>
            </a:r>
            <a:endParaRPr lang="en-US" sz="1500" dirty="0"/>
          </a:p>
        </p:txBody>
      </p:sp>
      <p:sp>
        <p:nvSpPr>
          <p:cNvPr id="10" name="Shape 8"/>
          <p:cNvSpPr/>
          <p:nvPr/>
        </p:nvSpPr>
        <p:spPr>
          <a:xfrm>
            <a:off x="7995692" y="1882725"/>
            <a:ext cx="3380333" cy="2025650"/>
          </a:xfrm>
          <a:prstGeom prst="roundRect">
            <a:avLst>
              <a:gd name="adj" fmla="val 4859"/>
            </a:avLst>
          </a:prstGeom>
          <a:solidFill>
            <a:srgbClr val="1A2133"/>
          </a:solidFill>
          <a:ln w="6350">
            <a:solidFill>
              <a:srgbClr val="2B3550"/>
            </a:solidFill>
            <a:prstDash val="solid"/>
          </a:ln>
        </p:spPr>
        <p:txBody>
          <a:bodyPr/>
          <a:p/>
        </p:txBody>
      </p:sp>
      <p:sp>
        <p:nvSpPr>
          <p:cNvPr id="11" name="Text 9"/>
          <p:cNvSpPr/>
          <p:nvPr/>
        </p:nvSpPr>
        <p:spPr>
          <a:xfrm>
            <a:off x="8252867" y="2139900"/>
            <a:ext cx="29519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Least privilege</a:t>
            </a:r>
            <a:endParaRPr lang="en-US" sz="2000" dirty="0"/>
          </a:p>
        </p:txBody>
      </p:sp>
      <p:sp>
        <p:nvSpPr>
          <p:cNvPr id="12" name="Text 10"/>
          <p:cNvSpPr/>
          <p:nvPr/>
        </p:nvSpPr>
        <p:spPr>
          <a:xfrm>
            <a:off x="8252867" y="2546300"/>
            <a:ext cx="2951963"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Scoped tools in agents, servers on loopback only, and secrets requested by name.</a:t>
            </a:r>
            <a:endParaRPr lang="en-US" sz="1500" dirty="0"/>
          </a:p>
        </p:txBody>
      </p:sp>
      <p:sp>
        <p:nvSpPr>
          <p:cNvPr id="13" name="Text 11"/>
          <p:cNvSpPr/>
          <p:nvPr/>
        </p:nvSpPr>
        <p:spPr>
          <a:xfrm>
            <a:off x="812800" y="421635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Everything you've seen is files in a repo: they go through code review like any other change.</a:t>
            </a:r>
            <a:endParaRPr lang="en-US" sz="1500" dirty="0"/>
          </a:p>
        </p:txBody>
      </p:sp>
      <p:sp>
        <p:nvSpPr>
          <p:cNvPr id="14" name="Text 12"/>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3"/>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41</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0141F"/>
        </a:solidFill>
      </p:bgPr>
    </p:bg>
    <p:spTree>
      <p:nvGrpSpPr>
        <p:cNvPr id="1" name=""/>
        <p:cNvGrpSpPr/>
        <p:nvPr/>
      </p:nvGrpSpPr>
      <p:grpSpPr>
        <a:xfrm>
          <a:off x="0" y="0"/>
          <a:ext cx="0" cy="0"/>
          <a:chOff x="0" y="0"/>
          <a:chExt cx="0" cy="0"/>
        </a:xfrm>
      </p:grpSpPr>
      <p:sp>
        <p:nvSpPr>
          <p:cNvPr id="2" name="Text 0"/>
          <p:cNvSpPr/>
          <p:nvPr>
            <p:ph type="title"/>
          </p:nvPr>
        </p:nvSpPr>
        <p:spPr>
          <a:xfrm>
            <a:off x="812800" y="1715790"/>
            <a:ext cx="4859592" cy="772120"/>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EEF0F4"/>
                </a:solidFill>
                <a:latin typeface="Space Grotesk" pitchFamily="34" charset="0"/>
                <a:ea typeface="Space Grotesk" pitchFamily="34" charset="-122"/>
                <a:cs typeface="Space Grotesk" pitchFamily="34" charset="-120"/>
              </a:rPr>
              <a:t>Thank you</a:t>
            </a:r>
            <a:endParaRPr lang="en-US" sz="5600" dirty="0"/>
          </a:p>
        </p:txBody>
      </p:sp>
      <p:sp>
        <p:nvSpPr>
          <p:cNvPr id="3" name="Text 1"/>
          <p:cNvSpPr/>
          <p:nvPr/>
        </p:nvSpPr>
        <p:spPr>
          <a:xfrm>
            <a:off x="812800" y="2665710"/>
            <a:ext cx="4859592" cy="10160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A9B4C6"/>
                </a:solidFill>
                <a:latin typeface="IBM Plex Sans" pitchFamily="34" charset="0"/>
                <a:ea typeface="IBM Plex Sans" pitchFamily="34" charset="-122"/>
                <a:cs typeface="IBM Plex Sans" pitchFamily="34" charset="-120"/>
              </a:rPr>
              <a:t>Start with an instructions file. Move up a step only when the previous one falls short.</a:t>
            </a:r>
            <a:endParaRPr lang="en-US" sz="2000" dirty="0"/>
          </a:p>
        </p:txBody>
      </p:sp>
      <p:sp>
        <p:nvSpPr>
          <p:cNvPr id="4" name="Text 2"/>
          <p:cNvSpPr/>
          <p:nvPr/>
        </p:nvSpPr>
        <p:spPr>
          <a:xfrm>
            <a:off x="812800" y="3859510"/>
            <a:ext cx="4859592"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Questions?</a:t>
            </a:r>
            <a:endParaRPr lang="en-US" sz="2000" dirty="0"/>
          </a:p>
          <a:p>
            <a:pPr algn="l" indent="0" marL="0">
              <a:lnSpc>
                <a:spcPts val="2400"/>
              </a:lnSpc>
              <a:buNone/>
            </a:pPr>
            <a:r>
              <a:rPr lang="en-US" sz="2000" b="1" dirty="0">
                <a:solidFill>
                  <a:srgbClr val="9D8CFF"/>
                </a:solidFill>
                <a:latin typeface="Space Grotesk" pitchFamily="34" charset="0"/>
                <a:ea typeface="Space Grotesk" pitchFamily="34" charset="-122"/>
                <a:cs typeface="Space Grotesk" pitchFamily="34" charset="-120"/>
              </a:rPr>
              <a:t>I'll pass the hard ones to Copilot.</a:t>
            </a:r>
            <a:endParaRPr lang="en-US" sz="2000" dirty="0"/>
          </a:p>
        </p:txBody>
      </p:sp>
      <p:sp>
        <p:nvSpPr>
          <p:cNvPr id="5" name="Text 3"/>
          <p:cNvSpPr/>
          <p:nvPr/>
        </p:nvSpPr>
        <p:spPr>
          <a:xfrm>
            <a:off x="812800" y="4672310"/>
            <a:ext cx="48595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Javier Suárez Ruiz</a:t>
            </a:r>
            <a:endParaRPr lang="en-US" sz="1500" dirty="0"/>
          </a:p>
        </p:txBody>
      </p:sp>
      <p:sp>
        <p:nvSpPr>
          <p:cNvPr id="6" name="Shape 4"/>
          <p:cNvSpPr/>
          <p:nvPr/>
        </p:nvSpPr>
        <p:spPr>
          <a:xfrm>
            <a:off x="6143625" y="1642765"/>
            <a:ext cx="5232400" cy="3369270"/>
          </a:xfrm>
          <a:prstGeom prst="roundRect">
            <a:avLst>
              <a:gd name="adj" fmla="val 2921"/>
            </a:avLst>
          </a:prstGeom>
          <a:solidFill>
            <a:srgbClr val="1A2133"/>
          </a:solidFill>
          <a:ln w="6350">
            <a:solidFill>
              <a:srgbClr val="2B3550"/>
            </a:solidFill>
            <a:prstDash val="solid"/>
          </a:ln>
        </p:spPr>
        <p:txBody>
          <a:bodyPr/>
          <a:p/>
        </p:txBody>
      </p:sp>
      <p:sp>
        <p:nvSpPr>
          <p:cNvPr id="7" name="Text 5"/>
          <p:cNvSpPr/>
          <p:nvPr/>
        </p:nvSpPr>
        <p:spPr>
          <a:xfrm>
            <a:off x="6400800" y="1899940"/>
            <a:ext cx="48595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WHERE TO GO NEXT</a:t>
            </a:r>
            <a:endParaRPr lang="en-US" sz="1200" dirty="0"/>
          </a:p>
        </p:txBody>
      </p:sp>
      <p:sp>
        <p:nvSpPr>
          <p:cNvPr id="8" name="Text 6"/>
          <p:cNvSpPr/>
          <p:nvPr/>
        </p:nvSpPr>
        <p:spPr>
          <a:xfrm>
            <a:off x="6400800" y="2240260"/>
            <a:ext cx="4859592"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Documentation</a:t>
            </a:r>
            <a:endParaRPr lang="en-US" sz="1500" dirty="0"/>
          </a:p>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docs.github.com/copilot, GitHub Copilot app section</a:t>
            </a:r>
            <a:endParaRPr lang="en-US" sz="1500" dirty="0"/>
          </a:p>
        </p:txBody>
      </p:sp>
      <p:sp>
        <p:nvSpPr>
          <p:cNvPr id="9" name="Text 7"/>
          <p:cNvSpPr/>
          <p:nvPr/>
        </p:nvSpPr>
        <p:spPr>
          <a:xfrm>
            <a:off x="6400800" y="2900660"/>
            <a:ext cx="4859592"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Community catalog</a:t>
            </a:r>
            <a:endParaRPr lang="en-US" sz="1500" dirty="0"/>
          </a:p>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awesome-copilot.github.com</a:t>
            </a:r>
            <a:endParaRPr lang="en-US" sz="1500" dirty="0"/>
          </a:p>
        </p:txBody>
      </p:sp>
      <p:sp>
        <p:nvSpPr>
          <p:cNvPr id="10" name="Text 8"/>
          <p:cNvSpPr/>
          <p:nvPr/>
        </p:nvSpPr>
        <p:spPr>
          <a:xfrm>
            <a:off x="6400800" y="3561060"/>
            <a:ext cx="4859592"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Extensions SDK</a:t>
            </a:r>
            <a:endParaRPr lang="en-US" sz="1500" dirty="0"/>
          </a:p>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@github/copilot-sdk package on npm</a:t>
            </a:r>
            <a:endParaRPr lang="en-US" sz="1500" dirty="0"/>
          </a:p>
        </p:txBody>
      </p:sp>
      <p:sp>
        <p:nvSpPr>
          <p:cNvPr id="11" name="Text 9"/>
          <p:cNvSpPr/>
          <p:nvPr/>
        </p:nvSpPr>
        <p:spPr>
          <a:xfrm>
            <a:off x="6400800" y="4221460"/>
            <a:ext cx="4859592"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The canvas example</a:t>
            </a:r>
            <a:endParaRPr lang="en-US" sz="1500" dirty="0"/>
          </a:p>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github.com/jsuarezruiz/copilot-avalonia</a:t>
            </a:r>
            <a:endParaRPr lang="en-US" sz="1500" dirty="0"/>
          </a:p>
        </p:txBody>
      </p:sp>
      <p:sp>
        <p:nvSpPr>
          <p:cNvPr id="12"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42</a:t>
            </a:r>
            <a:endParaRPr lang="en-US" sz="1200" dirty="0"/>
          </a:p>
        </p:txBody>
      </p:sp>
    </p:spTree>
  </p:cSld>
  <p:clrMapOvr>
    <a:masterClrMapping/>
  </p:clrMapOvr>
</p:sld>
</file>

<file path=ppt/theme/theme1.xml><?xml version="1.0" encoding="utf-8"?>
<a:theme xmlns:a="http://schemas.openxmlformats.org/drawingml/2006/main" name="Extensibilidad de GitHub Copilot App">
  <a:themeElements>
    <a:clrScheme name="Extensibilidad de GitHub Copilot App">
      <a:dk1>
        <a:srgbClr val="10141F"/>
      </a:dk1>
      <a:lt1>
        <a:srgbClr val="EEF0F4"/>
      </a:lt1>
      <a:dk2>
        <a:srgbClr val="262A34"/>
      </a:dk2>
      <a:lt2>
        <a:srgbClr val="B7B9BF"/>
      </a:lt2>
      <a:accent1>
        <a:srgbClr val="F2B84B"/>
      </a:accent1>
      <a:accent2>
        <a:srgbClr val="9D8CFF"/>
      </a:accent2>
      <a:accent3>
        <a:srgbClr val="DCD6FF"/>
      </a:accent3>
      <a:accent4>
        <a:srgbClr val="5B46E0"/>
      </a:accent4>
      <a:accent5>
        <a:srgbClr val="6FD3B8"/>
      </a:accent5>
      <a:accent6>
        <a:srgbClr val="7F8BA3"/>
      </a:accent6>
      <a:hlink>
        <a:srgbClr val="0563C1"/>
      </a:hlink>
      <a:folHlink>
        <a:srgbClr val="954F72"/>
      </a:folHlink>
    </a:clrScheme>
    <a:fontScheme name="Extensibilidad de GitHub Copilot App">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App extensibility</dc:title>
  <dc:subject/>
  <dc:creator/>
  <cp:lastModifiedBy/>
  <cp:revision>1</cp:revision>
  <dcterms:created xsi:type="dcterms:W3CDTF">2026-10-15T16:51:55Z</dcterms:created>
  <dcterms:modified xsi:type="dcterms:W3CDTF">2026-10-15T16:51:55Z</dcterms:modified>
  <dc:language>en-US</dc:language>
</cp:coreProperties>
</file>